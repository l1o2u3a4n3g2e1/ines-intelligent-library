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1b2ce042354c60" /><Relationship Type="http://schemas.openxmlformats.org/officeDocument/2006/relationships/extended-properties" Target="/docProps/app.xml" Id="Rf927718ffa5a42f4" /><Relationship Type="http://schemas.openxmlformats.org/officeDocument/2006/relationships/officeDocument" Target="/ppt/presentation.xml" Id="R5055112e5101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6ac65cddef4f2a"/>
  </p:sldMasterIdLst>
  <p:notesMasterIdLst>
    <p:notesMasterId xmlns:r="http://schemas.openxmlformats.org/officeDocument/2006/relationships" r:id="R20f913a8dd434afc"/>
  </p:notesMasterIdLst>
  <p:sldIdLst>
    <p:sldId xmlns:r="http://schemas.openxmlformats.org/officeDocument/2006/relationships" id="256" r:id="R2ddc4efa76c345c2"/>
    <p:sldId xmlns:r="http://schemas.openxmlformats.org/officeDocument/2006/relationships" id="257" r:id="R9125959b1c834325"/>
    <p:sldId xmlns:r="http://schemas.openxmlformats.org/officeDocument/2006/relationships" id="258" r:id="R9a2725d009d544eb"/>
    <p:sldId xmlns:r="http://schemas.openxmlformats.org/officeDocument/2006/relationships" id="259" r:id="R95a35b39b6fe4999"/>
    <p:sldId xmlns:r="http://schemas.openxmlformats.org/officeDocument/2006/relationships" id="260" r:id="R1be27afdfb864ba8"/>
    <p:sldId xmlns:r="http://schemas.openxmlformats.org/officeDocument/2006/relationships" id="261" r:id="R2d73c0b3640346f4"/>
    <p:sldId xmlns:r="http://schemas.openxmlformats.org/officeDocument/2006/relationships" id="262" r:id="R5d3b2f43338b4b8f"/>
    <p:sldId xmlns:r="http://schemas.openxmlformats.org/officeDocument/2006/relationships" id="263" r:id="Rcfdc58f6954847e7"/>
    <p:sldId xmlns:r="http://schemas.openxmlformats.org/officeDocument/2006/relationships" id="264" r:id="Rd6c638eab7504e08"/>
    <p:sldId xmlns:r="http://schemas.openxmlformats.org/officeDocument/2006/relationships" id="265" r:id="Reeab900a61e740c2"/>
    <p:sldId xmlns:r="http://schemas.openxmlformats.org/officeDocument/2006/relationships" id="266" r:id="R8fb0819d470745a5"/>
    <p:sldId xmlns:r="http://schemas.openxmlformats.org/officeDocument/2006/relationships" id="267" r:id="Rb9b549e8e21349ba"/>
    <p:sldId xmlns:r="http://schemas.openxmlformats.org/officeDocument/2006/relationships" id="268" r:id="R199d903378c747b4"/>
    <p:sldId xmlns:r="http://schemas.openxmlformats.org/officeDocument/2006/relationships" id="269" r:id="R07621f52a92344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d81024e4d49df" /><Relationship Type="http://schemas.openxmlformats.org/officeDocument/2006/relationships/slideMaster" Target="/ppt/slideMasters/slideMaster1.xml" Id="R306ac65cddef4f2a" /><Relationship Type="http://schemas.openxmlformats.org/officeDocument/2006/relationships/notesMaster" Target="/ppt/notesMasters/notesMaster1.xml" Id="R20f913a8dd434afc" /><Relationship Type="http://schemas.openxmlformats.org/officeDocument/2006/relationships/presProps" Target="/ppt/presProps.xml" Id="R3dce12c2b78e40bb" /><Relationship Type="http://schemas.openxmlformats.org/officeDocument/2006/relationships/tableStyles" Target="/ppt/tableStyles.xml" Id="R9b64fe82fbbd4ed1" /><Relationship Type="http://schemas.openxmlformats.org/officeDocument/2006/relationships/slide" Target="/ppt/slides/slide1.xml" Id="R2ddc4efa76c345c2" /><Relationship Type="http://schemas.openxmlformats.org/officeDocument/2006/relationships/slide" Target="/ppt/slides/slide2.xml" Id="R9125959b1c834325" /><Relationship Type="http://schemas.openxmlformats.org/officeDocument/2006/relationships/slide" Target="/ppt/slides/slide3.xml" Id="R9a2725d009d544eb" /><Relationship Type="http://schemas.openxmlformats.org/officeDocument/2006/relationships/slide" Target="/ppt/slides/slide4.xml" Id="R95a35b39b6fe4999" /><Relationship Type="http://schemas.openxmlformats.org/officeDocument/2006/relationships/slide" Target="/ppt/slides/slide5.xml" Id="R1be27afdfb864ba8" /><Relationship Type="http://schemas.openxmlformats.org/officeDocument/2006/relationships/slide" Target="/ppt/slides/slide6.xml" Id="R2d73c0b3640346f4" /><Relationship Type="http://schemas.openxmlformats.org/officeDocument/2006/relationships/slide" Target="/ppt/slides/slide7.xml" Id="R5d3b2f43338b4b8f" /><Relationship Type="http://schemas.openxmlformats.org/officeDocument/2006/relationships/slide" Target="/ppt/slides/slide8.xml" Id="Rcfdc58f6954847e7" /><Relationship Type="http://schemas.openxmlformats.org/officeDocument/2006/relationships/slide" Target="/ppt/slides/slide9.xml" Id="Rd6c638eab7504e08" /><Relationship Type="http://schemas.openxmlformats.org/officeDocument/2006/relationships/slide" Target="/ppt/slides/slide10.xml" Id="Reeab900a61e740c2" /><Relationship Type="http://schemas.openxmlformats.org/officeDocument/2006/relationships/slide" Target="/ppt/slides/slide11.xml" Id="R8fb0819d470745a5" /><Relationship Type="http://schemas.openxmlformats.org/officeDocument/2006/relationships/slide" Target="/ppt/slides/slide12.xml" Id="Rb9b549e8e21349ba" /><Relationship Type="http://schemas.openxmlformats.org/officeDocument/2006/relationships/slide" Target="/ppt/slides/slide13.xml" Id="R199d903378c747b4" /><Relationship Type="http://schemas.openxmlformats.org/officeDocument/2006/relationships/slide" Target="/ppt/slides/slide14.xml" Id="R07621f52a92344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0e425f647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fd95f08db4646" /><Relationship Type="http://schemas.openxmlformats.org/officeDocument/2006/relationships/notesMaster" Target="/ppt/notesMasters/notesMaster1.xml" Id="R5c1104949ff040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a072810044f5e" /><Relationship Type="http://schemas.openxmlformats.org/officeDocument/2006/relationships/notesMaster" Target="/ppt/notesMasters/notesMaster1.xml" Id="R0eb3dc3f3d8c46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15f76ee3d4b1c" /><Relationship Type="http://schemas.openxmlformats.org/officeDocument/2006/relationships/notesMaster" Target="/ppt/notesMasters/notesMaster1.xml" Id="R588a90dc321542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036de67179427a" /><Relationship Type="http://schemas.openxmlformats.org/officeDocument/2006/relationships/notesMaster" Target="/ppt/notesMasters/notesMaster1.xml" Id="R0fee5b57bdcf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cd7a7fa3844b77" /><Relationship Type="http://schemas.openxmlformats.org/officeDocument/2006/relationships/notesMaster" Target="/ppt/notesMasters/notesMaster1.xml" Id="R51bbc4a0ca1f4e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b2d64b3a3446c" /><Relationship Type="http://schemas.openxmlformats.org/officeDocument/2006/relationships/notesMaster" Target="/ppt/notesMasters/notesMaster1.xml" Id="Rc4c34865ef5a4d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58adf0607420f" /><Relationship Type="http://schemas.openxmlformats.org/officeDocument/2006/relationships/notesMaster" Target="/ppt/notesMasters/notesMaster1.xml" Id="R4f733fb5a77943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7a134edafd42b2" /><Relationship Type="http://schemas.openxmlformats.org/officeDocument/2006/relationships/notesMaster" Target="/ppt/notesMasters/notesMaster1.xml" Id="R9da4406a1004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b77a797110420f" /><Relationship Type="http://schemas.openxmlformats.org/officeDocument/2006/relationships/notesMaster" Target="/ppt/notesMasters/notesMaster1.xml" Id="R7b20aa22ff2b4c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54f4e26f464033" /><Relationship Type="http://schemas.openxmlformats.org/officeDocument/2006/relationships/notesMaster" Target="/ppt/notesMasters/notesMaster1.xml" Id="R50042ab78d534c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299367753e49fa" /><Relationship Type="http://schemas.openxmlformats.org/officeDocument/2006/relationships/notesMaster" Target="/ppt/notesMasters/notesMaster1.xml" Id="R03f9a3ddc0574a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24c0ac737e40a3" /><Relationship Type="http://schemas.openxmlformats.org/officeDocument/2006/relationships/notesMaster" Target="/ppt/notesMasters/notesMaster1.xml" Id="R5a64c8d5898e42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40325ab5ea4032" /><Relationship Type="http://schemas.openxmlformats.org/officeDocument/2006/relationships/notesMaster" Target="/ppt/notesMasters/notesMaster1.xml" Id="Rb7e751452b4040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c7d042452d4e3d" /><Relationship Type="http://schemas.openxmlformats.org/officeDocument/2006/relationships/notesMaster" Target="/ppt/notesMasters/notesMaster1.xml" Id="Rc8f1a215b13b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final dissertation title and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follows Chapter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problem aligned with the final 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use the dissertation wording, shortened for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HealthBridge's proposed solution style with your system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Combine architecture and methodology as in HealthBridge.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transition before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slide mirrors HealthBridge's status table but uses your verified project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accurate and aligned with the dissertation.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adapts the HealthBridge impact slide to the INES library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match Chapter One delimitation and Chapter Five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follows Chapter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match Chapter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confidently.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e6d52f22049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53b4cd8f647c7" /><Relationship Type="http://schemas.openxmlformats.org/officeDocument/2006/relationships/slideLayout" Target="/ppt/slideLayouts/slideLayout1.xml" Id="R1f36458ae20e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36458ae20e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4fabbb97c4fa5" /><Relationship Type="http://schemas.openxmlformats.org/officeDocument/2006/relationships/image" Target="/ppt/media/image.png" Id="Rd0d73583269b4133" /><Relationship Type="http://schemas.openxmlformats.org/officeDocument/2006/relationships/notesSlide" Target="/ppt/notesSlides/notesSlide1.xml" Id="Rea268a6e3bdc41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441e9db544a73" /><Relationship Type="http://schemas.openxmlformats.org/officeDocument/2006/relationships/image" Target="/ppt/media/image2.png" Id="R49389c1a7f2941a6" /><Relationship Type="http://schemas.openxmlformats.org/officeDocument/2006/relationships/notesSlide" Target="/ppt/notesSlides/notesSlide2.xml" Id="R1a2bfa52f5424c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57e5ce7c41a5" /><Relationship Type="http://schemas.openxmlformats.org/officeDocument/2006/relationships/image" Target="/ppt/media/image3.png" Id="R6f0d7c09d8504d6b" /><Relationship Type="http://schemas.openxmlformats.org/officeDocument/2006/relationships/notesSlide" Target="/ppt/notesSlides/notesSlide3.xml" Id="R04be6695dcb142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e02bcb82e40c3" /><Relationship Type="http://schemas.openxmlformats.org/officeDocument/2006/relationships/image" Target="/ppt/media/image4.png" Id="R6a9c4d3659724591" /><Relationship Type="http://schemas.openxmlformats.org/officeDocument/2006/relationships/notesSlide" Target="/ppt/notesSlides/notesSlide4.xml" Id="Rbd5dcfa0301648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ecb043fda49c1" /><Relationship Type="http://schemas.openxmlformats.org/officeDocument/2006/relationships/image" Target="/ppt/media/image5.png" Id="R310b3e04ebaf4a2b" /><Relationship Type="http://schemas.openxmlformats.org/officeDocument/2006/relationships/notesSlide" Target="/ppt/notesSlides/notesSlide5.xml" Id="R548e4f1f4b1841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d4b851f10470b" /><Relationship Type="http://schemas.openxmlformats.org/officeDocument/2006/relationships/image" Target="/ppt/media/image6.png" Id="Ra7853a76d6be4408" /><Relationship Type="http://schemas.openxmlformats.org/officeDocument/2006/relationships/notesSlide" Target="/ppt/notesSlides/notesSlide6.xml" Id="R2bee4fa042b9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d5427f57c4560" /><Relationship Type="http://schemas.openxmlformats.org/officeDocument/2006/relationships/image" Target="/ppt/media/image7.png" Id="R64e9933df87a470c" /><Relationship Type="http://schemas.openxmlformats.org/officeDocument/2006/relationships/notesSlide" Target="/ppt/notesSlides/notesSlide7.xml" Id="R15461773244041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500d7290843d0" /><Relationship Type="http://schemas.openxmlformats.org/officeDocument/2006/relationships/image" Target="/ppt/media/image8.png" Id="R7be44588cb6249bf" /><Relationship Type="http://schemas.openxmlformats.org/officeDocument/2006/relationships/notesSlide" Target="/ppt/notesSlides/notesSlide8.xml" Id="R046a0022997d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41bbfa65f4801" /><Relationship Type="http://schemas.openxmlformats.org/officeDocument/2006/relationships/image" Target="/ppt/media/image9.png" Id="R34eff58569b24659" /><Relationship Type="http://schemas.openxmlformats.org/officeDocument/2006/relationships/notesSlide" Target="/ppt/notesSlides/notesSlide9.xml" Id="Ra5ed4916cf0741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8d27aa5b84eb2" /><Relationship Type="http://schemas.openxmlformats.org/officeDocument/2006/relationships/image" Target="/ppt/media/image10.png" Id="Rd2678f65480c4b99" /><Relationship Type="http://schemas.openxmlformats.org/officeDocument/2006/relationships/notesSlide" Target="/ppt/notesSlides/notesSlide10.xml" Id="R94cc0bc2f05d48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0cd1730874084" /><Relationship Type="http://schemas.openxmlformats.org/officeDocument/2006/relationships/image" Target="/ppt/media/image11.png" Id="Rf1c6188e4ca04e0c" /><Relationship Type="http://schemas.openxmlformats.org/officeDocument/2006/relationships/notesSlide" Target="/ppt/notesSlides/notesSlide11.xml" Id="R8dbbbba69fac4f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34677c7624ca8" /><Relationship Type="http://schemas.openxmlformats.org/officeDocument/2006/relationships/image" Target="/ppt/media/image12.png" Id="R489c460b79374bb0" /><Relationship Type="http://schemas.openxmlformats.org/officeDocument/2006/relationships/notesSlide" Target="/ppt/notesSlides/notesSlide12.xml" Id="R60898be41ca442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be50ff9f24b67" /><Relationship Type="http://schemas.openxmlformats.org/officeDocument/2006/relationships/image" Target="/ppt/media/image13.png" Id="R180f9d57c662423a" /><Relationship Type="http://schemas.openxmlformats.org/officeDocument/2006/relationships/notesSlide" Target="/ppt/notesSlides/notesSlide13.xml" Id="Re298d7ef946742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14eb331543a3" /><Relationship Type="http://schemas.openxmlformats.org/officeDocument/2006/relationships/image" Target="/ppt/media/image14.png" Id="Rbf8559e4994a497f" /><Relationship Type="http://schemas.openxmlformats.org/officeDocument/2006/relationships/notesSlide" Target="/ppt/notesSlides/notesSlide14.xml" Id="Rb02148e37902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CF665D-89DA-466F-8361-7D4F9CC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73583269b4133"/>
          <a:stretch xmlns:a="http://schemas.openxmlformats.org/drawingml/2006/main"/>
        </p:blipFill>
        <p:spPr>
          <a:xfrm xmlns:a="http://schemas.openxmlformats.org/drawingml/2006/main">
            <a:off x="801522" y="552450"/>
            <a:ext cx="873457" cy="91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A98F-B840-42F1-8539-7A68B02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A044"/>
                </a:solidFill>
              </a:defRPr>
            </a:pPr>
            <a:r>
              <a:rPr sz="2100" b="1">
                <a:solidFill>
                  <a:srgbClr val="C7A044"/>
                </a:solidFill>
              </a:rPr>
              <a:t>DESIGN AND IMPLEMENTATION OF A TRANSFORMER-BASED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1EBFF-E29F-4F61-AE07-86060128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VOICE-INTERACTIVE DIGITAL LIBRARY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4A7F0-0EC0-4A22-803B-0C13C47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</a:defRPr>
            </a:pPr>
            <a:r>
              <a:rPr sz="1800" b="0">
                <a:solidFill>
                  <a:srgbClr val="DDEEE6"/>
                </a:solidFill>
              </a:rPr>
              <a:t>Book Retrieval and Audio-Reading at INES Ruhengeri 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D55B8-F810-4868-B374-C5F4D5F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By: Anne Louange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Option: Software Engineering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INES-Ruhengeri, June 2026</a:t>
            </a:r>
          </a:p>
        </p:txBody>
      </p:sp>
    </p:spTree>
    <p:extLst>
      <p:ext uri="{BB962C8B-B14F-4D97-AF65-F5344CB8AC3E}">
        <p14:creationId xmlns:p14="http://schemas.microsoft.com/office/powerpoint/2010/main" val="653589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5AE10-FC8C-4728-A3B0-C97AA757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964BA-32BA-43AA-905F-38B2FA86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8B176-525E-421F-9DAD-C959436B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A168-5B43-4079-A8C5-BB719FE9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E13C9-6BDF-41F4-B08E-6C2B045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89c1a7f2941a6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77477-0B13-48CA-8DA7-63A377C5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19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BE29C-C582-4D92-A1BC-704EB24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</a:defRPr>
            </a:pPr>
            <a:r>
              <a:rPr sz="1725" b="1">
                <a:solidFill>
                  <a:srgbClr val="C7A044"/>
                </a:solidFill>
              </a:rPr>
              <a:t>Digital Libraries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36E42-10BA-4250-9A08-7BBE2C4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Support teaching, learning, and research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5CEFC-C983-4429-ADFF-7B643342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419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3F045-DFCA-4FE7-BA37-D51E471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AI Speech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8FF30-ED44-4B6F-86EB-EAB97C88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Enables natural human-computer interaction.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C41BE-D994-4D16-B5CD-FD55B628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19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50D4B-FA8A-4BC8-BA9E-2348A72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Accessibility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57308-50A9-4508-A08A-93C8C17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Voice and audio support inclusive learning.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51EF5-2CE1-4A11-AC11-88C26DE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4191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7B4CC-A1FB-4FF3-B787-E7C5059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INES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534DB-0897-4EBE-89B1-365DF20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Users need faster resource discovery.</a:t>
            </a:r>
          </a:p>
        </p:txBody>
      </p:sp>
    </p:spTree>
    <p:extLst>
      <p:ext uri="{BB962C8B-B14F-4D97-AF65-F5344CB8AC3E}">
        <p14:creationId xmlns:p14="http://schemas.microsoft.com/office/powerpoint/2010/main" val="813489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38119-066A-46F6-B38F-7020615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26479-2F7C-4CEA-8AE4-5C8CC370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42ABD-8AEA-4339-9886-67F0D93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54E22-F225-4236-A0B8-5F3E801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B7481-D4F3-47BA-A821-C467321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d7c09d8504d6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A3459-E4FC-4AEF-A846-82E4805F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19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8836C-E6F1-4D91-BD26-54B3528A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33550"/>
            <a:ext cx="815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Resource discovery is time-consuming.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882AD-DFE6-4BA0-A87D-EB30CF8A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788C9-6A24-4F3D-A5EB-25FC1808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815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Current access depends mainly on text-based search.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5F704-A043-4270-A49D-625951D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C07A7-5B4E-42F4-8735-7C04BB9D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815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Physical library schedules limit flexible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F166F-DF6D-4F7A-BC79-A84EA689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7E91-98E5-4EEA-BA3D-7C97EC65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815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Voice search and audio reading are missing.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78846-1785-4D8A-A8F1-EBF65BFA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8868E-96B6-49F3-B362-5BA86385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815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Some users need more accessible reading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B5AA0-CF5D-470C-B85C-28024827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000250" cy="2286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04D48-406D-4DE8-BCF9-965A839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A044"/>
                </a:solidFill>
              </a:defRPr>
            </a:pPr>
            <a:r>
              <a:rPr sz="1875" b="1">
                <a:solidFill>
                  <a:srgbClr val="C7A044"/>
                </a:solidFill>
              </a:rPr>
              <a:t>Need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EE036-4716-4078-8995-DE810429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28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 voice-interactive digital library for retrieval and audio reading.</a:t>
            </a:r>
          </a:p>
        </p:txBody>
      </p:sp>
    </p:spTree>
    <p:extLst>
      <p:ext uri="{BB962C8B-B14F-4D97-AF65-F5344CB8AC3E}">
        <p14:creationId xmlns:p14="http://schemas.microsoft.com/office/powerpoint/2010/main" val="2113959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1E343-5614-4DD9-BA4A-C26AE2AA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0D0E1-E975-41B4-84BF-17793F2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27DD8-8934-41FE-9133-46CEA334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02263-79E8-4555-A558-9A9132B6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Research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90586-46B1-4416-B1DE-F700EFB5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c4d3659724591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78FEA-1BB1-40BC-B6E2-7887D8D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General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AE9F2-7E99-4E91-90B8-30116490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11F"/>
                </a:solidFill>
              </a:defRPr>
            </a:pPr>
            <a:r>
              <a:rPr sz="1575" b="0">
                <a:solidFill>
                  <a:srgbClr val="18211F"/>
                </a:solidFill>
              </a:rPr>
              <a:t>Design and develop a Transformer-Based Voice-Interactive System for Book Retrieval and Audio-Reading at INES Ruhengeri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0F9DA-045C-402C-98F4-8166EA72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Specific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8A1DA-B8B7-4D19-9811-6FF6E7E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EF229-5175-44F3-A2D1-26121887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867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Analyze educational resource accessibility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88DFC-B9FB-4832-9C78-E5A6DEE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A15E1-2767-494A-9E1D-EF837E25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7867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Implement STT, TTS, authentication, and role-based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14066-1037-48EC-9A23-DC5A794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5DD6F-BFC7-4EFF-ADB1-B7EC578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867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Evaluate performance, usability, and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1511410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14B03-C0C4-4CAC-B2E2-B504001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C5A69-CCDF-4426-98B6-81A5C42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D8BB1-F988-4AEF-929A-A3BE29C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571C2-1642-4529-8E9A-3850D547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Proposed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E3262-B4B7-4F72-943B-B8611DC3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b3e04ebaf4a2b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5F728-BEA1-42F1-AD26-D5B7683D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191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61C22-A641-42B3-A22A-BF212F16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A044"/>
                </a:solidFill>
              </a:defRPr>
            </a:pPr>
            <a:r>
              <a:rPr sz="2100" b="1">
                <a:solidFill>
                  <a:srgbClr val="C7A044"/>
                </a:solidFill>
              </a:rPr>
              <a:t>INES Digital 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D6400-9C89-4191-A6F0-7C2D0DD5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 web-based library system combining catalogue management, voice search, and audio reading.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156E4-42DC-4A71-BDC7-AF016DE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0879A-03C8-4451-8297-A842239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Voice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93AAA-4A48-443B-9852-5BFD6589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Spoken queries become catalogue searches.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273AC-C746-4372-8E20-079EA95C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C9513-74FD-44B7-80A8-1E30305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Audio 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0BF3C-704F-4DA5-A774-5B8F8F18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Book/page text becomes narration.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B39A5-9916-423A-BA86-A76C686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916AC-4FC8-426D-AEAC-2D4A7578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Role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3A23D-443C-45D8-B462-8B4A98D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Student, lecturer, librarian/admin workflows.</a:t>
            </a:r>
          </a:p>
        </p:txBody>
      </p:sp>
    </p:spTree>
    <p:extLst>
      <p:ext uri="{BB962C8B-B14F-4D97-AF65-F5344CB8AC3E}">
        <p14:creationId xmlns:p14="http://schemas.microsoft.com/office/powerpoint/2010/main" val="119664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B26F7-016B-4693-BA89-5D808DC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BA7A4-4B01-4ECB-988D-25784D8F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58A7C-D8C6-405B-8ECA-18567D69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F30D4-4F36-41B2-95D5-78557E89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System Architecture and 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25A0C-47EB-457D-9B69-BDD8501F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53a76d6be4408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3CF45-9461-4BA1-8043-1FDABDC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78EBA-C530-4955-8315-3F16D55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React/Vite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815DF-1877-4398-8CFE-A8094DE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A3AA-5D92-482D-9363-D5EB19D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4A67B-F405-4563-BE4A-DE6530A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A044"/>
                </a:solidFill>
              </a:defRPr>
            </a:pPr>
            <a:r>
              <a:rPr sz="1500" b="1">
                <a:solidFill>
                  <a:srgbClr val="C7A044"/>
                </a:solidFill>
              </a:rPr>
              <a:t>PHP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763D6-2C67-4AC1-9D8C-B3013DA5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19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6EA8B-21CD-46D3-B374-4480FB87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0E973-5201-45FA-BF4D-6EBA61F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MySQL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F7223-C307-4029-9F62-02BE376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376A8-72E2-4EA4-A65C-9C37CEBB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11877-B1DF-43BB-818C-AD5AC7C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Python STT/TTS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4472B-0A93-4784-B3F2-920EFD1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476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1B188-F739-4388-B64B-6BDEB49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Methodology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A0A8A-3FD2-4BFE-A523-F5D9EA3B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Agile development with requirement gathering through interviews and observation.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6B2A2-FD4D-409F-9113-60F215C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476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251DD-7768-4739-A975-05B318A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18F61-5586-4DD5-B5C5-4873DFD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System flowchart, use-case diagram, database structure, and speech-service integration.</a:t>
            </a:r>
          </a:p>
        </p:txBody>
      </p:sp>
    </p:spTree>
    <p:extLst>
      <p:ext uri="{BB962C8B-B14F-4D97-AF65-F5344CB8AC3E}">
        <p14:creationId xmlns:p14="http://schemas.microsoft.com/office/powerpoint/2010/main" val="19699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7CBAF-A57A-4F50-9B45-C00ADFB1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9933df87a470c"/>
          <a:stretch xmlns:a="http://schemas.openxmlformats.org/drawingml/2006/main"/>
        </p:blipFill>
        <p:spPr>
          <a:xfrm xmlns:a="http://schemas.openxmlformats.org/drawingml/2006/main">
            <a:off x="858672" y="609600"/>
            <a:ext cx="873457" cy="91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EA07-6C2E-4CAE-B877-C144AEB1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4616-3863-4D60-AAA8-96676FE5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</a:defRPr>
            </a:pPr>
            <a:r>
              <a:rPr sz="1800" b="0">
                <a:solidFill>
                  <a:srgbClr val="DDEEE6"/>
                </a:solidFill>
              </a:rPr>
              <a:t>Login → Dashboard → Search → Reader → Voice Search → Narration</a:t>
            </a:r>
          </a:p>
        </p:txBody>
      </p:sp>
    </p:spTree>
    <p:extLst>
      <p:ext uri="{BB962C8B-B14F-4D97-AF65-F5344CB8AC3E}">
        <p14:creationId xmlns:p14="http://schemas.microsoft.com/office/powerpoint/2010/main" val="1776463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108FD-96CB-4209-A31A-97F39165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22917-448D-4C2B-86A7-7CAC738F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67230-D587-482A-801B-3E1618F8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7A79B-C914-45E2-BDDE-7B3479C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System Testing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559A2-1C31-4506-AA5F-0EC5C9A5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44588cb6249bf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19BF7-8622-49A4-97EE-8BE5D5E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954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E6716-13E7-47DD-9086-65DA7CA1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A044"/>
                </a:solidFill>
              </a:defRPr>
            </a:pPr>
            <a:r>
              <a:rPr sz="1275" b="1">
                <a:solidFill>
                  <a:srgbClr val="C7A044"/>
                </a:solidFill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30028-9433-45FC-8D48-8A3A71F1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A044"/>
                </a:solidFill>
              </a:defRPr>
            </a:pPr>
            <a:r>
              <a:rPr sz="1275" b="1">
                <a:solidFill>
                  <a:srgbClr val="C7A044"/>
                </a:solidFill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480A0-3031-4665-A7E7-31FA0F3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64C13-5978-4DB2-86BC-E68C382B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Frontend production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92377-8372-42DC-B676-0C5DE548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3D2D"/>
                </a:solidFill>
              </a:defRPr>
            </a:pPr>
            <a:r>
              <a:rPr sz="1275" b="0">
                <a:solidFill>
                  <a:srgbClr val="0D3D2D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79090-C5C4-4AA4-A086-A3E16AB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8376C-88FE-4D3A-9D0E-F7ADFC76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PHP backend syntax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F049D-B95B-4E8C-AD08-9E52E1BC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3D2D"/>
                </a:solidFill>
              </a:defRPr>
            </a:pPr>
            <a:r>
              <a:rPr sz="1275" b="0">
                <a:solidFill>
                  <a:srgbClr val="0D3D2D"/>
                </a:solidFill>
              </a:rPr>
              <a:t>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D8A5B-25AB-490A-A2FD-9A0D9392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B0DE7-8358-40F7-B181-DCAA2B0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MySQL database connection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0EDC3-739A-409F-BAF7-DFB8744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3D2D"/>
                </a:solidFill>
              </a:defRPr>
            </a:pPr>
            <a:r>
              <a:rPr sz="1275" b="0">
                <a:solidFill>
                  <a:srgbClr val="0D3D2D"/>
                </a:solidFill>
              </a:rPr>
              <a:t>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0BBB7-916D-4C7F-B9E4-CE3B9B39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77FBF-583E-44AB-8706-3ADDCC73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Lecturer login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25E85-C3FD-4368-AD76-CB1127D6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3D2D"/>
                </a:solidFill>
              </a:defRPr>
            </a:pPr>
            <a:r>
              <a:rPr sz="1275" b="0">
                <a:solidFill>
                  <a:srgbClr val="0D3D2D"/>
                </a:solidFill>
              </a:rPr>
              <a:t>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1C0D9-EA37-4772-94E3-45E75161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CF34C-BC5A-4B3E-9F5A-62996291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Book catalogue loading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07702-1F8C-4F70-9496-7B82569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3D2D"/>
                </a:solidFill>
              </a:defRPr>
            </a:pPr>
            <a:r>
              <a:rPr sz="1275" b="0">
                <a:solidFill>
                  <a:srgbClr val="0D3D2D"/>
                </a:solidFill>
              </a:rPr>
              <a:t>Passed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A44C1-5127-4332-9FDB-A3452B5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4A1C9-2143-4FB4-AF01-61ABAB65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SpeechT5 service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B3628-06FC-468D-9667-1FC9AEE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3D2D"/>
                </a:solidFill>
              </a:defRPr>
            </a:pPr>
            <a:r>
              <a:rPr sz="1275" b="0">
                <a:solidFill>
                  <a:srgbClr val="0D3D2D"/>
                </a:solidFill>
              </a:rPr>
              <a:t>Requires service running</a:t>
            </a:r>
          </a:p>
        </p:txBody>
      </p:sp>
    </p:spTree>
    <p:extLst>
      <p:ext uri="{BB962C8B-B14F-4D97-AF65-F5344CB8AC3E}">
        <p14:creationId xmlns:p14="http://schemas.microsoft.com/office/powerpoint/2010/main" val="790934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1F011-50D6-4BCD-AFB0-9AC2E0A7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1409A-2E2B-46B8-9DFA-37C76E2B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A6FD0-88CD-4C3E-A1B3-0464EDD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B421E-38ED-41DF-923F-73EF05B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ASR Evaluation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B86CA-F394-4B4E-A877-86ABB987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ff58569b24659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BC77B-9DE3-4F2B-B5A6-318560B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5EA5-E4AA-49E4-8A47-5E3463D2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7A044"/>
                </a:solidFill>
              </a:defRPr>
            </a:pPr>
            <a:r>
              <a:rPr sz="2850" b="1">
                <a:solidFill>
                  <a:srgbClr val="C7A044"/>
                </a:solidFill>
              </a:rPr>
              <a:t>90.88%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9F7A1-3B98-4437-A41D-34969D9C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Mean word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7AB98-5943-4ACC-8D7B-F42DA48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F6220-052C-4B32-ACE4-0D938DE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D2D"/>
                </a:solidFill>
              </a:defRPr>
            </a:pPr>
            <a:r>
              <a:rPr sz="2850" b="1">
                <a:solidFill>
                  <a:srgbClr val="0D3D2D"/>
                </a:solidFill>
              </a:rPr>
              <a:t>9.12%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79EE4-EB69-4F8D-AB07-F5E710B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Mean 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4D091-848E-4003-958E-83FE36DF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515E-6CDC-4C07-B819-5231B587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D2D"/>
                </a:solidFill>
              </a:defRPr>
            </a:pPr>
            <a:r>
              <a:rPr sz="2850" b="1">
                <a:solidFill>
                  <a:srgbClr val="0D3D2D"/>
                </a:solidFill>
              </a:rPr>
              <a:t>58.33%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7799E-328F-49C9-A91A-5C49308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Exact sentence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05504-2E39-4B97-8C5E-F3F82C7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DEDBD-56DE-45A0-A43C-61309BC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D2D"/>
                </a:solidFill>
              </a:defRPr>
            </a:pPr>
            <a:r>
              <a:rPr sz="2850" b="1">
                <a:solidFill>
                  <a:srgbClr val="0D3D2D"/>
                </a:solidFill>
              </a:rPr>
              <a:t>93.94%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7884F-FF22-4056-B218-15C4360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Average F1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76F86-8E58-403F-ACAF-5A5672FF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96FD0-C428-4351-A0E5-110FCAC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815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WER and CER are the primary ASR measures.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35313-6BC6-4E84-9091-B075D093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8875E-6AD2-4812-B394-F5FD4BB6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815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Wav2Vec2-CTC was fine-tuned only at the CTC head.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4A26A-6D54-4687-A380-C9DEE53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F71DF-7E6F-4C22-9AA9-30856BA6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815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SpeechT5/gTTS are integrated TTS services, not trained models.</a:t>
            </a:r>
          </a:p>
        </p:txBody>
      </p:sp>
    </p:spTree>
    <p:extLst>
      <p:ext uri="{BB962C8B-B14F-4D97-AF65-F5344CB8AC3E}">
        <p14:creationId xmlns:p14="http://schemas.microsoft.com/office/powerpoint/2010/main" val="1353246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AA805-2C43-4853-A730-3F1FBB26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D85D5-B367-4919-BE73-29D13731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129C0-A91F-4C15-A1BA-F8707EE0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48620-D081-4CAF-B3CD-FC10CD8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Impact to INES Community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EFBC3-415D-4A6A-AAE2-4915D455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78f65480c4b99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510FD-9784-4513-9D5B-99A2233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0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592BF-D368-4705-AD06-B3B3696C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Faster book discovery through voice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C477C-4327-40A9-A27A-D11AE188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92E79-B82E-48FC-A2CD-9D9098C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2885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Improved accessibility through audio reading.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0D706-8412-4F0B-B7D4-00AC3276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01FF3-D668-4663-AA8F-3A71B43C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Better role-based management of library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2909D-10D3-425C-A597-2A921444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44040-32C0-426B-911C-7080FE38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Support for students with diverse learning preferences.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F83E4-CADC-4E19-AE48-D7ADF948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DF6A1-AE41-4EF4-9538-ACA422F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Foundation for future multilingual and mobile access.</a:t>
            </a:r>
          </a:p>
        </p:txBody>
      </p:sp>
    </p:spTree>
    <p:extLst>
      <p:ext uri="{BB962C8B-B14F-4D97-AF65-F5344CB8AC3E}">
        <p14:creationId xmlns:p14="http://schemas.microsoft.com/office/powerpoint/2010/main" val="394308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DA580-73A1-4450-9578-E2F5AA6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11736-C0D6-4278-8639-62C9764C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5E87F-868D-411A-942E-B841EC05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2506D-B112-4EE0-AAFF-19ADEC3E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Study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C3D40-0627-4885-8A99-213C4D43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6188e4ca04e0c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51157-922D-4766-97AB-993A2CD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572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D3E0E-8CC2-4897-BDCC-87F1F0C1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</a:defRPr>
            </a:pPr>
            <a:r>
              <a:rPr sz="1650" b="1">
                <a:solidFill>
                  <a:srgbClr val="C7A044"/>
                </a:solidFill>
              </a:rPr>
              <a:t>Prototype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8E55D-4A62-4057-A722-B4DA6C2F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Not yet deployed at large institutional scale.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037AC-E2E6-4620-91EC-0F63932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572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F40F3-3CA8-4F9C-AE5F-51228EC5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Language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DDC6C-016F-40B4-A978-2C25B1E9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Focused mainly on English speech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423FB-39A4-45D5-BE51-C16969A2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572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FDCDD-AD84-4F6C-B5BC-D9E6266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Speech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0A84E-6FE4-46F4-A1CC-0183EE81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Local accents and noisy audio need future adaptation.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EBC85-C05F-40C5-A146-FBF19A8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572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C7818-0110-4085-97E6-F7F4056C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TTS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A2B0C-5D6F-4A49-8F09-6187FDE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OCR errors or long text can affect narration.</a:t>
            </a:r>
          </a:p>
        </p:txBody>
      </p:sp>
    </p:spTree>
    <p:extLst>
      <p:ext uri="{BB962C8B-B14F-4D97-AF65-F5344CB8AC3E}">
        <p14:creationId xmlns:p14="http://schemas.microsoft.com/office/powerpoint/2010/main" val="1409333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8B8CF-6FB1-47C0-9784-1759A0D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E21A8-9E7B-40C4-AC12-9DA6FE3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D71E4-05E3-4D50-9D82-1E95B73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496B3-0135-4B88-83E2-06F6C0B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569BD-9BB3-4EC0-B009-2B840B1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c460b79374bb0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30B7B-6EEF-439A-8026-1437594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3D2D"/>
                </a:solidFill>
              </a:defRPr>
            </a:pPr>
            <a:r>
              <a:rPr sz="1875" b="1">
                <a:solidFill>
                  <a:srgbClr val="0D3D2D"/>
                </a:solidFill>
              </a:rPr>
              <a:t>The study successfully designed and developed a Transformer-Based Voice-Interactive System for Book Retrieval and Audio-Reading at INES Ruhengeri Library.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56271-7CF1-437C-B207-1DE4F7ED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DAA1D-E2BE-475F-92BC-3A9E6B3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834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The system integrates voice search, audio narration, authentication, and digital resource management.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ACF9-9906-4332-AF7E-A047B7D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321F0-CE51-4CE0-AF81-533F7CA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834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The prototype addresses slow search, limited accessibility, and lack of voice interaction.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6854A-311B-4468-94DE-120C122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DB3C3-540A-4F00-A2B0-1A0E4F42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8343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The results show that voice-interactive technologies can support inclusive academic access.</a:t>
            </a:r>
          </a:p>
        </p:txBody>
      </p:sp>
    </p:spTree>
    <p:extLst>
      <p:ext uri="{BB962C8B-B14F-4D97-AF65-F5344CB8AC3E}">
        <p14:creationId xmlns:p14="http://schemas.microsoft.com/office/powerpoint/2010/main" val="1332338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CC625-12C4-430D-8995-03AB2809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8DB10-C1E2-4D99-9713-29E2BBE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D915-CA2C-4542-A319-853A70D7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408E3-B14C-48A0-9120-AD1FFCA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Recommendations and Future Improvements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30850-F311-4244-899A-BC4CCFCD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f9d57c662423a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AEF2D-1FC6-4572-A82D-50B8A4A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476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227E0-0B7D-4DC3-9DEE-0341C4A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3D2D"/>
                </a:solidFill>
              </a:defRPr>
            </a:pPr>
            <a:r>
              <a:rPr sz="1950" b="1">
                <a:solidFill>
                  <a:srgbClr val="0D3D2D"/>
                </a:solidFill>
              </a:rPr>
              <a:t>Recommendations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D36DE-6F4F-408E-8574-20EAB21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02B85-5C00-4C0A-A053-988DDA45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Deploy at larger scale.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5FF2D-570F-49A6-B587-5F5FB55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E100D-A428-4EFE-B02C-2E24E5B1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Conduct user usability evaluation.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A4DF1-45CB-46E8-9148-711EE6EE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236BB-DF9F-4D82-A5D7-DB675A3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Train users and library staff.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CFBD2-F2E5-4571-BFBD-DC3AE30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476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9A17D-B05C-4C26-B855-DF9F316D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D3D2D"/>
                </a:solidFill>
              </a:defRPr>
            </a:pPr>
            <a:r>
              <a:rPr sz="1950" b="1">
                <a:solidFill>
                  <a:srgbClr val="0D3D2D"/>
                </a:solidFill>
              </a:rPr>
              <a:t>Future improvements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BA621-DF17-4FF6-B6A6-8F92B59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5057E-EB74-4585-960B-A95CB43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Support multiple languages.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92C11-A6A7-46B0-8915-73542CA4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C48C3-B002-46DD-972E-5B6D7102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Improve local accent recognition.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D817C-89FE-432C-8AC6-921C492D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1D616-D4A1-4DB1-9652-17642DED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320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Add OCR and mobile access.</a:t>
            </a:r>
          </a:p>
        </p:txBody>
      </p:sp>
    </p:spTree>
    <p:extLst>
      <p:ext uri="{BB962C8B-B14F-4D97-AF65-F5344CB8AC3E}">
        <p14:creationId xmlns:p14="http://schemas.microsoft.com/office/powerpoint/2010/main" val="636634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F63443-C379-4BD0-A6EC-BD06F5EC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559e4994a497f"/>
          <a:stretch xmlns:a="http://schemas.openxmlformats.org/drawingml/2006/main"/>
        </p:blipFill>
        <p:spPr>
          <a:xfrm xmlns:a="http://schemas.openxmlformats.org/drawingml/2006/main">
            <a:off x="858672" y="590550"/>
            <a:ext cx="873457" cy="91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6C3D9-3C9F-458E-9DDC-F9A8BA6B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THANK YOU FOR YOUR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4EC9F-B754-427B-BBB7-4540140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EEE6"/>
                </a:solidFill>
              </a:defRPr>
            </a:pPr>
            <a:r>
              <a:rPr sz="1950" b="0">
                <a:solidFill>
                  <a:srgbClr val="DDEEE6"/>
                </a:solidFill>
              </a:rPr>
              <a:t>Open for Questions and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210BD-3FE2-40CF-9B4F-807673A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Anne Louange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INES-Ruhengeri, June 2026</a:t>
            </a:r>
          </a:p>
        </p:txBody>
      </p:sp>
    </p:spTree>
    <p:extLst>
      <p:ext uri="{BB962C8B-B14F-4D97-AF65-F5344CB8AC3E}">
        <p14:creationId xmlns:p14="http://schemas.microsoft.com/office/powerpoint/2010/main" val="1330827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2026-06-18T17:37:59.7240000Z</dcterms:created>
  <dcterms:modified xsi:type="dcterms:W3CDTF">2026-06-18T17:37:59.7240000Z</dcterms:modified>
</coreProperties>
</file>