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fab10432ab4815" /><Relationship Type="http://schemas.openxmlformats.org/officeDocument/2006/relationships/extended-properties" Target="/docProps/app.xml" Id="Rf336273698464c30" /><Relationship Type="http://schemas.openxmlformats.org/officeDocument/2006/relationships/officeDocument" Target="/ppt/presentation.xml" Id="Rf3840f272d4649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e97d12647d4c07"/>
  </p:sldMasterIdLst>
  <p:notesMasterIdLst>
    <p:notesMasterId xmlns:r="http://schemas.openxmlformats.org/officeDocument/2006/relationships" r:id="Rd5bbdecb6d6a41fd"/>
  </p:notesMasterIdLst>
  <p:sldIdLst>
    <p:sldId xmlns:r="http://schemas.openxmlformats.org/officeDocument/2006/relationships" id="256" r:id="R7bb8d71acafe4591"/>
    <p:sldId xmlns:r="http://schemas.openxmlformats.org/officeDocument/2006/relationships" id="257" r:id="R2fbe91ec487c4211"/>
    <p:sldId xmlns:r="http://schemas.openxmlformats.org/officeDocument/2006/relationships" id="258" r:id="R81dd40873ca041fe"/>
    <p:sldId xmlns:r="http://schemas.openxmlformats.org/officeDocument/2006/relationships" id="259" r:id="R320263fe5e8f4baa"/>
    <p:sldId xmlns:r="http://schemas.openxmlformats.org/officeDocument/2006/relationships" id="260" r:id="R4f8b8ce9c4c14c9c"/>
    <p:sldId xmlns:r="http://schemas.openxmlformats.org/officeDocument/2006/relationships" id="261" r:id="R45e26fa337cf4977"/>
    <p:sldId xmlns:r="http://schemas.openxmlformats.org/officeDocument/2006/relationships" id="262" r:id="R20b09498bf4844ee"/>
    <p:sldId xmlns:r="http://schemas.openxmlformats.org/officeDocument/2006/relationships" id="263" r:id="R925bf5b1405b461a"/>
    <p:sldId xmlns:r="http://schemas.openxmlformats.org/officeDocument/2006/relationships" id="264" r:id="R46083f3028294029"/>
    <p:sldId xmlns:r="http://schemas.openxmlformats.org/officeDocument/2006/relationships" id="265" r:id="R029579132f1041a1"/>
    <p:sldId xmlns:r="http://schemas.openxmlformats.org/officeDocument/2006/relationships" id="266" r:id="R5545245c175e4df2"/>
    <p:sldId xmlns:r="http://schemas.openxmlformats.org/officeDocument/2006/relationships" id="267" r:id="R070458412d344229"/>
    <p:sldId xmlns:r="http://schemas.openxmlformats.org/officeDocument/2006/relationships" id="268" r:id="R2c8c6247b232441e"/>
    <p:sldId xmlns:r="http://schemas.openxmlformats.org/officeDocument/2006/relationships" id="269" r:id="R45dda8a1e0c64117"/>
    <p:sldId xmlns:r="http://schemas.openxmlformats.org/officeDocument/2006/relationships" id="270" r:id="Rbee8630a7f8c49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00cf0d2e184453" /><Relationship Type="http://schemas.openxmlformats.org/officeDocument/2006/relationships/slideMaster" Target="/ppt/slideMasters/slideMaster1.xml" Id="R72e97d12647d4c07" /><Relationship Type="http://schemas.openxmlformats.org/officeDocument/2006/relationships/notesMaster" Target="/ppt/notesMasters/notesMaster1.xml" Id="Rd5bbdecb6d6a41fd" /><Relationship Type="http://schemas.openxmlformats.org/officeDocument/2006/relationships/presProps" Target="/ppt/presProps.xml" Id="R390062af28234d9f" /><Relationship Type="http://schemas.openxmlformats.org/officeDocument/2006/relationships/tableStyles" Target="/ppt/tableStyles.xml" Id="Rda16780da85e4f30" /><Relationship Type="http://schemas.openxmlformats.org/officeDocument/2006/relationships/slide" Target="/ppt/slides/slide1.xml" Id="R7bb8d71acafe4591" /><Relationship Type="http://schemas.openxmlformats.org/officeDocument/2006/relationships/slide" Target="/ppt/slides/slide2.xml" Id="R2fbe91ec487c4211" /><Relationship Type="http://schemas.openxmlformats.org/officeDocument/2006/relationships/slide" Target="/ppt/slides/slide3.xml" Id="R81dd40873ca041fe" /><Relationship Type="http://schemas.openxmlformats.org/officeDocument/2006/relationships/slide" Target="/ppt/slides/slide4.xml" Id="R320263fe5e8f4baa" /><Relationship Type="http://schemas.openxmlformats.org/officeDocument/2006/relationships/slide" Target="/ppt/slides/slide5.xml" Id="R4f8b8ce9c4c14c9c" /><Relationship Type="http://schemas.openxmlformats.org/officeDocument/2006/relationships/slide" Target="/ppt/slides/slide6.xml" Id="R45e26fa337cf4977" /><Relationship Type="http://schemas.openxmlformats.org/officeDocument/2006/relationships/slide" Target="/ppt/slides/slide7.xml" Id="R20b09498bf4844ee" /><Relationship Type="http://schemas.openxmlformats.org/officeDocument/2006/relationships/slide" Target="/ppt/slides/slide8.xml" Id="R925bf5b1405b461a" /><Relationship Type="http://schemas.openxmlformats.org/officeDocument/2006/relationships/slide" Target="/ppt/slides/slide9.xml" Id="R46083f3028294029" /><Relationship Type="http://schemas.openxmlformats.org/officeDocument/2006/relationships/slide" Target="/ppt/slides/slide10.xml" Id="R029579132f1041a1" /><Relationship Type="http://schemas.openxmlformats.org/officeDocument/2006/relationships/slide" Target="/ppt/slides/slide11.xml" Id="R5545245c175e4df2" /><Relationship Type="http://schemas.openxmlformats.org/officeDocument/2006/relationships/slide" Target="/ppt/slides/slide12.xml" Id="R070458412d344229" /><Relationship Type="http://schemas.openxmlformats.org/officeDocument/2006/relationships/slide" Target="/ppt/slides/slide13.xml" Id="R2c8c6247b232441e" /><Relationship Type="http://schemas.openxmlformats.org/officeDocument/2006/relationships/slide" Target="/ppt/slides/slide14.xml" Id="R45dda8a1e0c64117" /><Relationship Type="http://schemas.openxmlformats.org/officeDocument/2006/relationships/slide" Target="/ppt/slides/slide15.xml" Id="Rbee8630a7f8c49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fb967c540a42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ca2520e47644f4" /><Relationship Type="http://schemas.openxmlformats.org/officeDocument/2006/relationships/notesMaster" Target="/ppt/notesMasters/notesMaster1.xml" Id="R954a3adb3f684d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1989d940b5485c" /><Relationship Type="http://schemas.openxmlformats.org/officeDocument/2006/relationships/notesMaster" Target="/ppt/notesMasters/notesMaster1.xml" Id="R8fcebec7325e41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bc480cf2d943ba" /><Relationship Type="http://schemas.openxmlformats.org/officeDocument/2006/relationships/notesMaster" Target="/ppt/notesMasters/notesMaster1.xml" Id="Rddc5c2364d6b4b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e286d64f014e08" /><Relationship Type="http://schemas.openxmlformats.org/officeDocument/2006/relationships/notesMaster" Target="/ppt/notesMasters/notesMaster1.xml" Id="R6c42a3892ab54b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78d70bac186474a" /><Relationship Type="http://schemas.openxmlformats.org/officeDocument/2006/relationships/notesMaster" Target="/ppt/notesMasters/notesMaster1.xml" Id="R8811680ba96f45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7ae69c17b14320" /><Relationship Type="http://schemas.openxmlformats.org/officeDocument/2006/relationships/notesMaster" Target="/ppt/notesMasters/notesMaster1.xml" Id="R76596646428349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a424496611444d" /><Relationship Type="http://schemas.openxmlformats.org/officeDocument/2006/relationships/notesMaster" Target="/ppt/notesMasters/notesMaster1.xml" Id="R672c974545b445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3e0d97f79d483a" /><Relationship Type="http://schemas.openxmlformats.org/officeDocument/2006/relationships/notesMaster" Target="/ppt/notesMasters/notesMaster1.xml" Id="R44cff913adc943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2e7dd4321f47f9" /><Relationship Type="http://schemas.openxmlformats.org/officeDocument/2006/relationships/notesMaster" Target="/ppt/notesMasters/notesMaster1.xml" Id="R4188141c5b4347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6ebd6adc264964" /><Relationship Type="http://schemas.openxmlformats.org/officeDocument/2006/relationships/notesMaster" Target="/ppt/notesMasters/notesMaster1.xml" Id="Rbf3b1a2a770c40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9d45401c7a466b" /><Relationship Type="http://schemas.openxmlformats.org/officeDocument/2006/relationships/notesMaster" Target="/ppt/notesMasters/notesMaster1.xml" Id="R321882919f3349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abfcd439c04b2f" /><Relationship Type="http://schemas.openxmlformats.org/officeDocument/2006/relationships/notesMaster" Target="/ppt/notesMasters/notesMaster1.xml" Id="R805b8c46674c45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a398b5a7e54a00" /><Relationship Type="http://schemas.openxmlformats.org/officeDocument/2006/relationships/notesMaster" Target="/ppt/notesMasters/notesMaster1.xml" Id="R64e8c8a156404c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024ecc68b9b402b" /><Relationship Type="http://schemas.openxmlformats.org/officeDocument/2006/relationships/notesMaster" Target="/ppt/notesMasters/notesMaster1.xml" Id="Rda8e6875ca044e6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f8994c3b094d97" /><Relationship Type="http://schemas.openxmlformats.org/officeDocument/2006/relationships/notesMaster" Target="/ppt/notesMasters/notesMaster1.xml" Id="Ra9f3f0a3eba745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project name and explain that the system is a practical digital library plus voice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old/current situation clearly before showing the improved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problem to a feature in the new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mirrors the reference deck section break. Use it to transition from problem to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frontend never connects directly to MySQL or Python. It goes through the backend.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objectives aligned with what the system really implements.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 panel asks about research validation, be clear whether it is system testing, survey validation, or both.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the important files: AuthContext, api/client.js, api.php, auth.php, role.php.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where STT/TTS connects to backend and frontend.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prepared document for deeper dependency explanations.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Vite is the frontend build and dev server tool. PDO is PHP Data Objects, used for safe MySQL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exact demonstration path. Keep it short and reliable.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achievements without overclaiming model training or survey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Recommendations should sound practical and connected to known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ef033c1004e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d7dd935f5b4fd9" /><Relationship Type="http://schemas.openxmlformats.org/officeDocument/2006/relationships/slideLayout" Target="/ppt/slideLayouts/slideLayout1.xml" Id="R65e4fdaae6914b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4fdaae6914b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e55bad02043b9" /><Relationship Type="http://schemas.openxmlformats.org/officeDocument/2006/relationships/image" Target="/ppt/media/image.png" Id="R95fad524588247ea" /><Relationship Type="http://schemas.openxmlformats.org/officeDocument/2006/relationships/notesSlide" Target="/ppt/notesSlides/notesSlide1.xml" Id="Rf0c2dc5051334d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09d1175b14416" /><Relationship Type="http://schemas.openxmlformats.org/officeDocument/2006/relationships/image" Target="/ppt/media/image2.png" Id="Re597bb81b2f5492a" /><Relationship Type="http://schemas.openxmlformats.org/officeDocument/2006/relationships/notesSlide" Target="/ppt/notesSlides/notesSlide2.xml" Id="R4ddc5638f46642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2acd561644e9e" /><Relationship Type="http://schemas.openxmlformats.org/officeDocument/2006/relationships/image" Target="/ppt/media/image3.png" Id="Rb88e19ebd8c74f9e" /><Relationship Type="http://schemas.openxmlformats.org/officeDocument/2006/relationships/notesSlide" Target="/ppt/notesSlides/notesSlide3.xml" Id="Rf447bdaaa92e4c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c8a88940746d2" /><Relationship Type="http://schemas.openxmlformats.org/officeDocument/2006/relationships/image" Target="/ppt/media/image4.png" Id="R99fced31756d4eb3" /><Relationship Type="http://schemas.openxmlformats.org/officeDocument/2006/relationships/notesSlide" Target="/ppt/notesSlides/notesSlide4.xml" Id="Rae4a5125094d4e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1f34657294ffc" /><Relationship Type="http://schemas.openxmlformats.org/officeDocument/2006/relationships/image" Target="/ppt/media/image5.png" Id="R0ed44984667241ba" /><Relationship Type="http://schemas.openxmlformats.org/officeDocument/2006/relationships/notesSlide" Target="/ppt/notesSlides/notesSlide5.xml" Id="R35a487f630f646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2e912932a47e1" /><Relationship Type="http://schemas.openxmlformats.org/officeDocument/2006/relationships/image" Target="/ppt/media/image6.png" Id="Re5ead1f723c04851" /><Relationship Type="http://schemas.openxmlformats.org/officeDocument/2006/relationships/notesSlide" Target="/ppt/notesSlides/notesSlide6.xml" Id="Re992f3011f3a43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df9864e05435a" /><Relationship Type="http://schemas.openxmlformats.org/officeDocument/2006/relationships/image" Target="/ppt/media/image7.png" Id="R69e2d9f0778b4e57" /><Relationship Type="http://schemas.openxmlformats.org/officeDocument/2006/relationships/notesSlide" Target="/ppt/notesSlides/notesSlide7.xml" Id="R9489926efd914c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2a1bac54d4373" /><Relationship Type="http://schemas.openxmlformats.org/officeDocument/2006/relationships/image" Target="/ppt/media/image8.png" Id="R280e0b96cb424a36" /><Relationship Type="http://schemas.openxmlformats.org/officeDocument/2006/relationships/notesSlide" Target="/ppt/notesSlides/notesSlide8.xml" Id="Rf59cfa63c2f146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e26ced6a444d4" /><Relationship Type="http://schemas.openxmlformats.org/officeDocument/2006/relationships/image" Target="/ppt/media/image9.png" Id="R026013f6129443ad" /><Relationship Type="http://schemas.openxmlformats.org/officeDocument/2006/relationships/notesSlide" Target="/ppt/notesSlides/notesSlide9.xml" Id="Rb437c58f6f7640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aafc341a14cf7" /><Relationship Type="http://schemas.openxmlformats.org/officeDocument/2006/relationships/image" Target="/ppt/media/image10.png" Id="R3ba3de3c705344af" /><Relationship Type="http://schemas.openxmlformats.org/officeDocument/2006/relationships/notesSlide" Target="/ppt/notesSlides/notesSlide10.xml" Id="R8c1c7f5a32d647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0cc98d37045d1" /><Relationship Type="http://schemas.openxmlformats.org/officeDocument/2006/relationships/image" Target="/ppt/media/image11.png" Id="Re4f6b1da48cf4805" /><Relationship Type="http://schemas.openxmlformats.org/officeDocument/2006/relationships/notesSlide" Target="/ppt/notesSlides/notesSlide11.xml" Id="Rd428821c50954e8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ac9127f124077" /><Relationship Type="http://schemas.openxmlformats.org/officeDocument/2006/relationships/image" Target="/ppt/media/image12.png" Id="Rb8f86f257094407c" /><Relationship Type="http://schemas.openxmlformats.org/officeDocument/2006/relationships/notesSlide" Target="/ppt/notesSlides/notesSlide12.xml" Id="R734155d1591f44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dfcd227124549" /><Relationship Type="http://schemas.openxmlformats.org/officeDocument/2006/relationships/image" Target="/ppt/media/image13.png" Id="R63adadf5902a4262" /><Relationship Type="http://schemas.openxmlformats.org/officeDocument/2006/relationships/notesSlide" Target="/ppt/notesSlides/notesSlide13.xml" Id="Rbe5c7b3654d043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66e12ce4a4853" /><Relationship Type="http://schemas.openxmlformats.org/officeDocument/2006/relationships/image" Target="/ppt/media/image14.png" Id="Rfb4daaecf0df446f" /><Relationship Type="http://schemas.openxmlformats.org/officeDocument/2006/relationships/notesSlide" Target="/ppt/notesSlides/notesSlide14.xml" Id="Rd82f9577f1cc45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1f004b744413b" /><Relationship Type="http://schemas.openxmlformats.org/officeDocument/2006/relationships/image" Target="/ppt/media/image15.png" Id="Rc30cef73c9a1432f" /><Relationship Type="http://schemas.openxmlformats.org/officeDocument/2006/relationships/notesSlide" Target="/ppt/notesSlides/notesSlide15.xml" Id="R3d265f1685d24f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EB49DD-9CC1-4E69-A210-4265CB21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ad524588247ea"/>
          <a:stretch xmlns:a="http://schemas.openxmlformats.org/drawingml/2006/main"/>
        </p:blipFill>
        <p:spPr>
          <a:xfrm xmlns:a="http://schemas.openxmlformats.org/drawingml/2006/main">
            <a:off x="801522" y="552450"/>
            <a:ext cx="873457" cy="914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F469B-1ED8-4DBC-B855-A5D9417C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WELCOME TO MY THESIS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EFD86-18FB-4494-8E53-E83AAEAD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</a:defRPr>
            </a:pPr>
            <a:r>
              <a:rPr sz="1800" b="0">
                <a:solidFill>
                  <a:srgbClr val="DDEEE6"/>
                </a:solidFill>
              </a:rPr>
              <a:t>INES Digital Library with Voice Search and Audio Narration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85A17-9988-4F6D-BE76-70CDBDCC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5334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4BA41-3A6C-4ACB-A2AC-C18F49C1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7A044"/>
                </a:solidFill>
              </a:defRPr>
            </a:pPr>
            <a:r>
              <a:rPr sz="1125" b="1">
                <a:solidFill>
                  <a:srgbClr val="C7A044"/>
                </a:solidFill>
              </a:rPr>
              <a:t>System 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C3209-3E3B-4DB3-BBCA-4B55F6F4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A role-based digital library connected to MySQL, PHP APIs, React/Vite, and Python AI speech services.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F3FB6-26FA-40A8-8D9E-147B8EE0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00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Presenter: Anne Louange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Institution: INES-Ruhengeri</a:t>
            </a:r>
          </a:p>
        </p:txBody>
      </p:sp>
    </p:spTree>
    <p:extLst>
      <p:ext uri="{BB962C8B-B14F-4D97-AF65-F5344CB8AC3E}">
        <p14:creationId xmlns:p14="http://schemas.microsoft.com/office/powerpoint/2010/main" val="48687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4B0C1C-B5DD-4AC9-B2D1-37B8437E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63E59-0415-4959-9F43-0AA033AB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FB872-C1A3-4312-AF5C-AF171F40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8CC29-05F6-422F-9139-77095048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Current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697FB-F6DA-4741-AAA3-C0813205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7bb81b2f5492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198BA-07D7-47F2-936D-A925AE06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6B99DE-A9E0-4B52-8438-F40D2293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0CD21-7814-45B2-8B21-48898460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5C734-12EF-4A43-A19C-A5BDD5C0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Manual 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DC25F-BCE2-494E-AD09-A4964040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Users may depend on shelves, manual records, or typed searching only.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B9DB3-4D6C-4ECB-AB25-2061A2F7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Limited audio access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B2D4E2-28C9-4A29-991C-76E17D39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Reading support is mostly visual and not voice-assisted.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D3C90-E3DF-48EB-BC84-A8A4820B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Separated tracking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86F33E-7881-4907-9B99-2C08D8F9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Borrowing, progress, reviews, and reports need centralized control.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9FD1C-9DFC-43FB-A76B-36AC9BB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866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11F"/>
                </a:solidFill>
              </a:defRPr>
            </a:pPr>
            <a:r>
              <a:rPr sz="1575" b="0">
                <a:solidFill>
                  <a:srgbClr val="18211F"/>
                </a:solidFill>
              </a:rPr>
              <a:t>This project improves the current approach by combining catalog, users, database records, and AI speech features in one system.</a:t>
            </a:r>
          </a:p>
        </p:txBody>
      </p:sp>
    </p:spTree>
    <p:extLst>
      <p:ext uri="{BB962C8B-B14F-4D97-AF65-F5344CB8AC3E}">
        <p14:creationId xmlns:p14="http://schemas.microsoft.com/office/powerpoint/2010/main" val="13458534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3246FD-2878-485F-A3F5-54124A5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55A1F-0F5F-497F-B1DF-FA641628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622A6-383C-4572-8EF4-497D8EA1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C94F4-2575-45E0-B77D-DB074C4B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Problems Identified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5EA83-A449-4DDE-A191-A8A0172B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e19ebd8c74f9e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4E045-54E7-4768-8A34-5FA8F1A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C6E52-D024-4629-AB0C-9DD18CB8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7A044"/>
                </a:solidFill>
              </a:defRPr>
            </a:pPr>
            <a:r>
              <a:rPr sz="1800" b="1">
                <a:solidFill>
                  <a:srgbClr val="C7A044"/>
                </a:solidFill>
              </a:rPr>
              <a:t>Slow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EBC74-CBE7-4943-8047-FEA5F694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Finding resources can take time when searching is manual or only typed.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5A91C-67CB-4C92-BC39-A9A995CE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09CA4-6E51-45F2-A002-635BF3AC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Accessibility gap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AAA4C-93CD-41AA-8B6B-9BF1EB34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241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Users who prefer listening need audio narration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87406-68B9-45D4-9CB5-1903E46E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85F8B-19CE-46D4-9CA1-B6442D57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24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Weak monitoring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B87AA-D333-46BC-A986-9A16BB6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Activities such as borrowing, reviews, and reports need proper logs.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2F3C4-8392-460D-9686-AFCD9B2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766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9AB1B5-B898-49E1-9551-D8BEE644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24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AI reliability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86529-B647-4B2C-ABC1-55634DE6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434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Speech services must be preloaded and tested before live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8473389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40C8DF-E1B6-45C2-A82A-35E3AF1E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ced31756d4eb3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5754E-DB6E-4C26-8C2D-8ECDAF4A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TRANSFORMER-BASED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A77FD-7ECC-4CAC-B594-C8FFDD7A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</a:defRPr>
            </a:pPr>
            <a:r>
              <a:rPr sz="1800" b="0">
                <a:solidFill>
                  <a:srgbClr val="DDEEE6"/>
                </a:solidFill>
              </a:rPr>
              <a:t>New system with speech-to-text and text-to-speech support</a:t>
            </a:r>
          </a:p>
        </p:txBody>
      </p:sp>
    </p:spTree>
    <p:extLst>
      <p:ext uri="{BB962C8B-B14F-4D97-AF65-F5344CB8AC3E}">
        <p14:creationId xmlns:p14="http://schemas.microsoft.com/office/powerpoint/2010/main" val="10905884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34C3B4-A79B-450A-9939-598BD736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F5113-26F3-4501-BAB8-F12D9702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204F8-F0C9-4068-94F9-DC243297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88408-0B23-4E56-8ED5-A4469F87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New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244DD-D80C-45E3-B117-5FF4903A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44984667241b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CE123-9839-4DB1-9FB3-654E628A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AFE70-0C54-4FFE-8C14-206F1438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27F8E-2248-4545-9498-C7B5E276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 + Vite user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02E40-7CE9-4118-AA23-60771127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0352C-A3A0-4B1C-B1C1-BA500411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CFFA8-F1C1-4C51-9F20-8DE55CAB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PHP API controls business logic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B5178A-962E-4778-A0EE-2048AF60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60D1D-B4D2-42F4-A135-C9C67CB5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FC9C1-DF76-48D6-BF74-D4A808E8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MySQL stores users, books,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5409-5CFC-4A51-B1EB-36FB13D3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57507-1E52-4DF9-A5F4-71866E58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</a:defRPr>
            </a:pPr>
            <a:r>
              <a:rPr sz="1725" b="1">
                <a:solidFill>
                  <a:srgbClr val="C7A044"/>
                </a:solidFill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B48349-F9FA-4719-A156-3968D5E3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FastAPI + PyTorch speech 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2A1B5A-6546-4DD3-A7BE-6D8CED11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6CCA9-CE1C-4929-9B90-8A84576D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E0EB84-3F9A-4930-AAC5-CF82EA35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Token authentication and role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A1AD64-FFD6-4A9F-BE91-243C8D5C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1A29D-8963-47B1-817E-0D8FE957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Demo safety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DC51BA-6E7D-4C91-892D-92774560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Health checks and model preload</a:t>
            </a:r>
          </a:p>
        </p:txBody>
      </p:sp>
    </p:spTree>
    <p:extLst>
      <p:ext uri="{BB962C8B-B14F-4D97-AF65-F5344CB8AC3E}">
        <p14:creationId xmlns:p14="http://schemas.microsoft.com/office/powerpoint/2010/main" val="17219837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6F2B9B-D6FC-4B1E-BFBF-A0A25B3F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5C223F-3E40-4EE9-ACA4-B4923DF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54597-24E9-456A-99E9-4CF69F70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DFA7D-C720-47FA-B11F-F30D678E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Research Objectives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54F34-CF5A-42F3-A0D6-BBC2D10D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ad1f723c04851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4E881-8A8E-4637-866D-0BE0A743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General objective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BE08E-24CB-4C5B-9CBE-96475D75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11F"/>
                </a:solidFill>
              </a:defRPr>
            </a:pPr>
            <a:r>
              <a:rPr sz="1575" b="0">
                <a:solidFill>
                  <a:srgbClr val="18211F"/>
                </a:solidFill>
              </a:rPr>
              <a:t>To design and implement a digital library system that improves access, management, search, and reading support for academic resources.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F093D-2AB9-4AC7-88AB-489B1D73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Specific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A09B9-2702-4AA4-AAC4-9D0859C1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A290E-1E50-4D92-9C41-2884BD3C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Implement secure login and role-based dashboards.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D57BA-6E54-4496-8B00-2722760F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89965-4613-4E8C-B6F3-228FF81C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Manage books, borrowing, reading progress, reviews, and reports.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DF67A-5E1A-4B7D-AC71-2A2ED78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900BE-CDAD-405B-97EB-D845EEB8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767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Connect STT voice search and TTS narration to backend APIs.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46797-C95E-4B0E-B505-93F90DDF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F9538-2F3B-455A-A49B-82718CB6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Test the full flow before live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10364460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0FD171-A458-413F-AA48-A39824DC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6A65F-FE2F-4066-BB83-13442DE7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D3F7A-2E77-44C8-A3D6-AA218F2B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FAD54-0537-4F34-A508-B72E3257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Methodology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9FDEA-FB16-4A46-BC04-43B4BE27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2d9f0778b4e57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62781-CBBD-4F1A-9B44-F1963BD4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Agile development 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FB6E1-DB8E-4CF3-BD82-8A6A7FDE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B8F0D-D978-4B65-9A8B-5D302995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93E37D-063C-4C57-9ACD-BB4DE88E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CC827-9DA5-4642-B152-258887D0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53651B-DE62-41FB-AA60-E61533A4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1C2FCB-46B1-4F01-8609-875F5C19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30279-4D13-42A2-8FC4-6622FEF1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D7EAA5-47F0-4F1A-B6A8-91254929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1231BD-025E-4EE1-8C06-ECEE5BAE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AAE40-E956-46E4-B57E-3696A73E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C7A044"/>
                </a:solidFill>
              </a:defRPr>
            </a:pPr>
            <a:r>
              <a:rPr sz="2325" b="1">
                <a:solidFill>
                  <a:srgbClr val="C7A04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F46B4-654D-4235-B756-D9025C22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Develop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47A976-D751-4DF5-943D-8C2D3609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49037-D63C-4174-8785-BF820201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EB88B-C029-4DFA-9C9A-41EE7448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CF140-5A4D-4632-B7E1-F2BF259B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E2E20F-D2AF-41CD-A994-2EC25B1F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8D66F-2160-4A87-AE82-74914339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47A2FB-C285-4161-9F35-A2E8927B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F951BC-DC17-42B2-B810-80B725FF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Improve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BF9D92-F8DE-4582-B76C-B7F254DB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94D43"/>
                </a:solidFill>
              </a:defRPr>
            </a:pPr>
            <a:r>
              <a:rPr sz="1800" b="1">
                <a:solidFill>
                  <a:srgbClr val="A94D43"/>
                </a:solidFill>
              </a:rPr>
              <a:t>Validation scope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450979-B913-40A2-BE61-4FB6F35B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The documented validation should be system testing and live acceptance testing unless questionnaire/interview results are added as appendices.</a:t>
            </a:r>
          </a:p>
        </p:txBody>
      </p:sp>
    </p:spTree>
    <p:extLst>
      <p:ext uri="{BB962C8B-B14F-4D97-AF65-F5344CB8AC3E}">
        <p14:creationId xmlns:p14="http://schemas.microsoft.com/office/powerpoint/2010/main" val="1740095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11C064-D715-42C5-A206-70E80E1E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35BEF-E823-412C-ACF1-013E0AD8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89340-2A38-467F-BD61-9C0BC57B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3DC5A-2F27-4762-9846-9F63815E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Authentication and User Access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C480C-6C5D-4148-94D5-90676AA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0e0b96cb424a36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35E09-1113-41C8-8E40-4A72E8F2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A48D9-8B4A-4E76-B498-D7743F6D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764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Login is submitted from React through frontend/src/api/auth.js.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E3A95-3389-4CF5-B3B4-056681C2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95831-9628-4A01-8AA3-BCC42ECF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The PHP backend verifies the password using password_verify().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1E453-EB7A-41F5-A024-1999C471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B2D8E-B707-4F8F-939D-07628CD2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A random token is generated, hashed, and stored in users.api_token_hash.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990577-3127-41E9-B74C-0484DB38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D93AD-73DF-4360-9A56-94546C1E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480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 stores the raw token as ines_token and sends it as a Bearer token.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753DB-928B-49F3-BCBD-99B0C308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8B13C-8862-4A04-90D3-42B4E86D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ProtectedRoute and PHP role middleware restrict student, lecturer, and admin pages.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C7BA56-A8DE-4788-A63F-630DCC9F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81200"/>
            <a:ext cx="2000250" cy="233362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E05323-0D81-42B9-BD11-14340A0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</a:defRPr>
            </a:pPr>
            <a:r>
              <a:rPr sz="1725" b="1">
                <a:solidFill>
                  <a:srgbClr val="C7A044"/>
                </a:solidFill>
              </a:rPr>
              <a:t>Key point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C21EF7-0F2C-4BC9-98C0-E810FF04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The database stores the hashed token, not the raw session token.</a:t>
            </a:r>
          </a:p>
        </p:txBody>
      </p:sp>
    </p:spTree>
    <p:extLst>
      <p:ext uri="{BB962C8B-B14F-4D97-AF65-F5344CB8AC3E}">
        <p14:creationId xmlns:p14="http://schemas.microsoft.com/office/powerpoint/2010/main" val="230155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485FAF-780D-480E-B747-4DF764AC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CCD51-9E6E-4E50-AD49-468F3899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201A7-A131-440D-88EE-38C04943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06EDC-B27F-4428-9637-4EC3E9E7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Speech Connection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6D4FC-D682-4BD6-8B34-C69F9695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013f6129443ad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0F6A5-ED30-4606-8327-C5A67BA0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9D275-4979-4001-91FB-05ABD33A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F57949-D9E4-4A57-B354-09D72AD1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Microphone or play button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8178B-E988-400E-B1AC-0105FBA5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20975-3CFF-47A8-B976-CEEC7F56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544DAA-4A0A-4622-A26D-29CD8225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PHP backend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5FBFFE-F897-4846-9ACE-666053F6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Validates request and calls speech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11F6E9-D500-4B34-BF5C-B0E91999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03D2CE-0C40-4AE8-A870-8F01150C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C7C5C6-6175-4967-8CAA-FA28ADD0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FastAPI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B467D-0A34-4061-AF7A-8C83B180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Receives audio/text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183F3-E23F-4259-9A2B-55FAC4FF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15274-0603-4ACB-BBF0-782DC3BF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6032B0-C216-4994-8881-43B08451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C7A044"/>
                </a:solidFill>
              </a:defRPr>
            </a:pPr>
            <a:r>
              <a:rPr sz="1575" b="1">
                <a:solidFill>
                  <a:srgbClr val="C7A044"/>
                </a:solidFill>
              </a:rPr>
              <a:t>PyTorch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1481D-EB22-44F8-B7F1-CF5A0A7A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</a:defRPr>
            </a:pPr>
            <a:r>
              <a:rPr sz="1200" b="0">
                <a:solidFill>
                  <a:srgbClr val="FFFFFF"/>
                </a:solidFill>
              </a:rPr>
              <a:t>Runs Wav2Vec2, SpeechT5, or gTTS 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A724BF-055F-40DC-9C11-EDA45EFB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87A5C1-6F27-47A4-93EA-8505A128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241D24-8369-46B9-AAB3-24B53BDA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89D02-D1BE-4168-A8CC-ED6EB21A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Shows text or plays audio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28009-F5DE-471A-A615-9E7F3D4A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Why it can delay: first model load, CPU speed, long page text, audio conversion, network for gTTS, or Python service not already warm.</a:t>
            </a:r>
          </a:p>
        </p:txBody>
      </p:sp>
    </p:spTree>
    <p:extLst>
      <p:ext uri="{BB962C8B-B14F-4D97-AF65-F5344CB8AC3E}">
        <p14:creationId xmlns:p14="http://schemas.microsoft.com/office/powerpoint/2010/main" val="1148553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529D04-BCE9-4A43-ADBC-724B4AF0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A3EF2-05B8-4245-A362-5BF16BEE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CB043-39AB-45C5-A165-AB23ADA0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72F8B-1C34-406E-900B-72312C07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Python Libraries and PyTorch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E19DE-5191-4A11-9213-061E40AC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3de3c705344af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3F1A3-8CE1-4FBE-AE6D-1F06EFB7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51146C-678F-4758-9D84-CFC109DF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PyTorch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0D5C5-18C8-4A41-8E88-5293FD56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954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Runs transformer neural networks for STT/TTS inference and testing.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2B03B7-5D05-431C-A0F0-AA021445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DBD1C-ADCA-46C2-A311-71BAC533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Transformers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EF68B-31AB-47E3-BAF5-46797B29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Loads Wav2Vec2, SpeechT5, processors, and vocoder models.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CD1B9-307C-4FB5-B210-08D7443A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EFB1B-AC88-4DA5-BE4A-16586F08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FastAPI + Uvicorn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EDDBB3-59B2-4932-B2D4-2A3CA648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Expose Python speech models as HTTP services.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CA0BFD-1CEB-4C3D-B2B0-7B94497D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D702FA-6AEC-4716-A9F8-2C4DB7CF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671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Librosa, NumPy, SoundFile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2E687-3B10-40DB-9EDE-8EA903FB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Prepare audio: load, resample, normalize, and save waveforms.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ACB9C2-A4D8-4557-82E0-24700A6E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194E8C-AEBE-46FB-9AB4-674DBBF0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gTTS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1FAD3-DA26-44D2-B567-09971759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910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Provides clearer Google text-to-speech fallback when internet is available.</a:t>
            </a:r>
          </a:p>
        </p:txBody>
      </p:sp>
    </p:spTree>
    <p:extLst>
      <p:ext uri="{BB962C8B-B14F-4D97-AF65-F5344CB8AC3E}">
        <p14:creationId xmlns:p14="http://schemas.microsoft.com/office/powerpoint/2010/main" val="19395649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EE48A6-A172-4EB5-99D4-8902CE63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476F39-65E9-4E9C-B5A6-8E8DC6B5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5DBE0-5DB4-4287-ABC6-DB3A4D0D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DC822-1E22-4640-B7B3-A129B856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Technologies Used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262FA-3E4F-413F-BA41-E5D7DE9B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6b1da48cf4805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0ACFA-FE13-4F3E-B3A4-1E958608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AF173-BC79-4E74-8349-FE6806A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4B7E4-798C-43E1-8440-AF2DFF23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React, Vite, CSS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CF23E-A973-46FA-9194-F471E209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A6A4B-EE0F-41F1-8A75-F925DDA2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</a:defRPr>
            </a:pPr>
            <a:r>
              <a:rPr sz="1650" b="1">
                <a:solidFill>
                  <a:srgbClr val="C7A044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AE736-6F16-4A70-8A7B-6B9FF314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PHP API, PDO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026FC-E37B-4E5E-9760-730CFA62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17C16-A455-4EBC-84C5-2FF7AC37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3D543D-8AAB-420C-ACBE-3AAD0438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MySQL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7C433-0B9B-4486-95A8-1E9F2212B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012887-2EC5-47C5-BE25-18FD194D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661181-6882-48F6-8262-79D4926D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Python, FastAPI, PyTorch, Transformers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3FD78-C8A1-452E-9005-D5F99A77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04143F-F9CC-4184-B405-6FD45E46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Speech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8D839B-F189-4A62-B3DB-0E59FD5E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Wav2Vec2, SpeechT5, gTTS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162D19-439F-46FC-ADEC-F56D40D4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53431F-118B-4AB5-B567-EF734944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Local server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775F9A-1E35-4619-8E49-1DA0083F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XAMPP</a:t>
            </a:r>
          </a:p>
        </p:txBody>
      </p:sp>
    </p:spTree>
    <p:extLst>
      <p:ext uri="{BB962C8B-B14F-4D97-AF65-F5344CB8AC3E}">
        <p14:creationId xmlns:p14="http://schemas.microsoft.com/office/powerpoint/2010/main" val="12550028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41E682-C0BD-40A9-873A-9BDE5D96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01ECE-E217-4D16-B009-6C83836D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6B9E5-BD32-4BCA-B3E4-321B564F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40BCA-9E5A-46E4-97E0-B40A48B3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Live Demo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D3145-3242-42BB-B84C-743EF27F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86f257094407c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5E69F-AE40-4EFD-9050-4DC400DE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EC7F7-ECD4-4682-AA35-04BD8E56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EAA64-4AE4-404A-908F-4C95479A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Login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841E1-7D6B-4CCD-921C-115153A6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A72F3-DAD1-455F-B746-40A12BAD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72000-F1C5-4171-A54E-D9653D5A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Open dashboard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04A82-27C8-487C-BA2A-CFC0FFA6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9A8F8-6B98-4F29-B830-A484C5A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A84C74-B135-478A-A077-2E5B596E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Search book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E4D1F4-AA59-4DAE-8DE9-2387DA00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B785B4-99AA-4E03-9112-EC3AD7B2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713E8-837C-4139-918D-0F333718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Voice 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016FE8-534F-42BA-BC56-3136618A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A7AA1-7FBF-41A4-ADE3-BEE80653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C7A044"/>
                </a:solidFill>
              </a:defRPr>
            </a:pPr>
            <a:r>
              <a:rPr sz="2250" b="1">
                <a:solidFill>
                  <a:srgbClr val="C7A044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119A48-D918-4671-87CF-5714CA52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Play narration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9C4C82-D5E3-4F3B-AAAF-34413C9A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F70702-9C7C-472C-B60E-DFA42B1A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A40D71-BF6D-479F-81EF-82043347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Check admin/report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A62E28-5571-48AB-852C-6538A707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Before defense: start XAMPP, run backend checks, make sure Python speech services are ready, then open the React/Vite frontend.</a:t>
            </a:r>
          </a:p>
        </p:txBody>
      </p:sp>
    </p:spTree>
    <p:extLst>
      <p:ext uri="{BB962C8B-B14F-4D97-AF65-F5344CB8AC3E}">
        <p14:creationId xmlns:p14="http://schemas.microsoft.com/office/powerpoint/2010/main" val="6246188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ECBF84-BD6E-4977-BF82-09FE619B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A67EF-AAA9-47B3-8CFB-D30B3290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9DCB-BF66-4443-83E7-C595D25A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F73B-3747-4F96-B267-2332C156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D786A-3219-4F45-8242-CFAAC439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dadf5902a4262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5A228-ACE2-4320-8190-5ADDA788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34F97-303D-40F0-88F5-D4BE8A48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The project implements a working digital library for academic resource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43641-B5C9-4586-B056-0AFB710E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524B52-8DF5-4AC9-88CE-7A18F550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Authentication connects frontend users to backend permissions and database records.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4E534-A26C-4D11-BA84-76C18CED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50B15-38A0-4117-885F-B7DF9C8E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STT and TTS are connected through backend-controlled Python AI services.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B31734-645C-40FD-B948-F1A7A81D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1A1DD4-82EA-424E-A5CD-94924F03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6707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Testing must cover login, database, search, reader, STT, TTS, and health checks.</a:t>
            </a:r>
          </a:p>
        </p:txBody>
      </p:sp>
    </p:spTree>
    <p:extLst>
      <p:ext uri="{BB962C8B-B14F-4D97-AF65-F5344CB8AC3E}">
        <p14:creationId xmlns:p14="http://schemas.microsoft.com/office/powerpoint/2010/main" val="14255540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03D380-D527-418D-969F-CC7DA89C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0C18F-992B-4B52-9974-D36AC369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F3A47-4854-41EE-A921-52CA54E4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2EFC1-28E0-49CC-96AC-2E062964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Recommendations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01649-036B-402A-AC7B-B48515B5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daaecf0df446f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C9F48-7D69-4229-9260-EEC3D333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8BAEC-25AA-4896-9A68-231C5A09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Deploy on a server that supports PHP, MySQL, and persistent Python FastAPI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B2B31-1CF1-4E6D-BD33-9E759014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1DBA6-6A53-462E-832C-CF744BC4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Improve TTS quality with better text cleaning, chunking, and a stronger production voice.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49968A-A741-45B5-A193-40FE9D48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57A218-6D3E-40E0-A2C4-CE82828D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622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Add full questionnaire/interview appendices if user validation is claimed.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2F1B6-DA52-4480-8048-D6097B4C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53D22-7B0C-4BC5-8C2C-22F58FEE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Add mobile support and multilingual speech support in future work.</a:t>
            </a:r>
          </a:p>
        </p:txBody>
      </p:sp>
    </p:spTree>
    <p:extLst>
      <p:ext uri="{BB962C8B-B14F-4D97-AF65-F5344CB8AC3E}">
        <p14:creationId xmlns:p14="http://schemas.microsoft.com/office/powerpoint/2010/main" val="19154283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E7BBA3-EE54-4DC1-BE1D-9C163EAD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cef73c9a1432f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529D7-DFB6-4D8B-A310-9A9BE4C1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6DBF5-37B8-4781-9B98-959748F4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DEEE6"/>
                </a:solidFill>
              </a:defRPr>
            </a:pPr>
            <a:r>
              <a:rPr sz="1950" b="0">
                <a:solidFill>
                  <a:srgbClr val="DDEEE6"/>
                </a:solidFill>
              </a:rPr>
              <a:t>Questions and answers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BA887-B0DE-4391-9523-9A2E01AB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28575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74A94-A661-4F9D-80E7-2BABDBB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381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</a:defRPr>
            </a:pPr>
            <a:r>
              <a:rPr sz="1650" b="1">
                <a:solidFill>
                  <a:srgbClr val="C7A044"/>
                </a:solidFill>
              </a:rPr>
              <a:t>Defense reminder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2B286-A9B9-4EBC-B0B8-17B4BB2C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876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Answer using real project files, real services, and tested behavior.</a:t>
            </a:r>
          </a:p>
        </p:txBody>
      </p:sp>
    </p:spTree>
    <p:extLst>
      <p:ext uri="{BB962C8B-B14F-4D97-AF65-F5344CB8AC3E}">
        <p14:creationId xmlns:p14="http://schemas.microsoft.com/office/powerpoint/2010/main" val="5842754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2026-06-18T08:47:15.7950000Z</dcterms:created>
  <dcterms:modified xsi:type="dcterms:W3CDTF">2026-06-18T08:47:15.7950000Z</dcterms:modified>
</coreProperties>
</file>