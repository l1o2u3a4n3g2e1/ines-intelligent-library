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a7906a99864b47" /><Relationship Type="http://schemas.openxmlformats.org/officeDocument/2006/relationships/extended-properties" Target="/docProps/app.xml" Id="R888ab740be72451f" /><Relationship Type="http://schemas.openxmlformats.org/officeDocument/2006/relationships/officeDocument" Target="/ppt/presentation.xml" Id="R76af75ad578b40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067df8836042c1"/>
  </p:sldMasterIdLst>
  <p:notesMasterIdLst>
    <p:notesMasterId xmlns:r="http://schemas.openxmlformats.org/officeDocument/2006/relationships" r:id="Rb7cd229f504f440c"/>
  </p:notesMasterIdLst>
  <p:sldIdLst>
    <p:sldId xmlns:r="http://schemas.openxmlformats.org/officeDocument/2006/relationships" id="256" r:id="R35ee21d12e964cf9"/>
    <p:sldId xmlns:r="http://schemas.openxmlformats.org/officeDocument/2006/relationships" id="257" r:id="R534a18a229104085"/>
    <p:sldId xmlns:r="http://schemas.openxmlformats.org/officeDocument/2006/relationships" id="258" r:id="Re96cfcdb12cd4413"/>
    <p:sldId xmlns:r="http://schemas.openxmlformats.org/officeDocument/2006/relationships" id="259" r:id="Rb4ba14448e8d4e05"/>
    <p:sldId xmlns:r="http://schemas.openxmlformats.org/officeDocument/2006/relationships" id="260" r:id="Re064d7169d464d1f"/>
    <p:sldId xmlns:r="http://schemas.openxmlformats.org/officeDocument/2006/relationships" id="261" r:id="R1750ff48039643e9"/>
    <p:sldId xmlns:r="http://schemas.openxmlformats.org/officeDocument/2006/relationships" id="262" r:id="R94e9d645e30f45ac"/>
    <p:sldId xmlns:r="http://schemas.openxmlformats.org/officeDocument/2006/relationships" id="263" r:id="R9c67120bbc364f18"/>
    <p:sldId xmlns:r="http://schemas.openxmlformats.org/officeDocument/2006/relationships" id="264" r:id="Rcf4e7d64497b4cf7"/>
    <p:sldId xmlns:r="http://schemas.openxmlformats.org/officeDocument/2006/relationships" id="265" r:id="Rcc895c7e942848bc"/>
    <p:sldId xmlns:r="http://schemas.openxmlformats.org/officeDocument/2006/relationships" id="266" r:id="Rcb2963bd4daf464f"/>
    <p:sldId xmlns:r="http://schemas.openxmlformats.org/officeDocument/2006/relationships" id="267" r:id="R167d768e6f304c1e"/>
    <p:sldId xmlns:r="http://schemas.openxmlformats.org/officeDocument/2006/relationships" id="268" r:id="Re7174f180e9249e4"/>
    <p:sldId xmlns:r="http://schemas.openxmlformats.org/officeDocument/2006/relationships" id="269" r:id="R65cde4503d51494e"/>
    <p:sldId xmlns:r="http://schemas.openxmlformats.org/officeDocument/2006/relationships" id="270" r:id="R6148f09d1f9b47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47d302e8384729" /><Relationship Type="http://schemas.openxmlformats.org/officeDocument/2006/relationships/slideMaster" Target="/ppt/slideMasters/slideMaster1.xml" Id="R6d067df8836042c1" /><Relationship Type="http://schemas.openxmlformats.org/officeDocument/2006/relationships/notesMaster" Target="/ppt/notesMasters/notesMaster1.xml" Id="Rb7cd229f504f440c" /><Relationship Type="http://schemas.openxmlformats.org/officeDocument/2006/relationships/presProps" Target="/ppt/presProps.xml" Id="R2796a6b52c14447a" /><Relationship Type="http://schemas.openxmlformats.org/officeDocument/2006/relationships/tableStyles" Target="/ppt/tableStyles.xml" Id="Rf819ec1f74c84ac5" /><Relationship Type="http://schemas.openxmlformats.org/officeDocument/2006/relationships/slide" Target="/ppt/slides/slide1.xml" Id="R35ee21d12e964cf9" /><Relationship Type="http://schemas.openxmlformats.org/officeDocument/2006/relationships/slide" Target="/ppt/slides/slide2.xml" Id="R534a18a229104085" /><Relationship Type="http://schemas.openxmlformats.org/officeDocument/2006/relationships/slide" Target="/ppt/slides/slide3.xml" Id="Re96cfcdb12cd4413" /><Relationship Type="http://schemas.openxmlformats.org/officeDocument/2006/relationships/slide" Target="/ppt/slides/slide4.xml" Id="Rb4ba14448e8d4e05" /><Relationship Type="http://schemas.openxmlformats.org/officeDocument/2006/relationships/slide" Target="/ppt/slides/slide5.xml" Id="Re064d7169d464d1f" /><Relationship Type="http://schemas.openxmlformats.org/officeDocument/2006/relationships/slide" Target="/ppt/slides/slide6.xml" Id="R1750ff48039643e9" /><Relationship Type="http://schemas.openxmlformats.org/officeDocument/2006/relationships/slide" Target="/ppt/slides/slide7.xml" Id="R94e9d645e30f45ac" /><Relationship Type="http://schemas.openxmlformats.org/officeDocument/2006/relationships/slide" Target="/ppt/slides/slide8.xml" Id="R9c67120bbc364f18" /><Relationship Type="http://schemas.openxmlformats.org/officeDocument/2006/relationships/slide" Target="/ppt/slides/slide9.xml" Id="Rcf4e7d64497b4cf7" /><Relationship Type="http://schemas.openxmlformats.org/officeDocument/2006/relationships/slide" Target="/ppt/slides/slide10.xml" Id="Rcc895c7e942848bc" /><Relationship Type="http://schemas.openxmlformats.org/officeDocument/2006/relationships/slide" Target="/ppt/slides/slide11.xml" Id="Rcb2963bd4daf464f" /><Relationship Type="http://schemas.openxmlformats.org/officeDocument/2006/relationships/slide" Target="/ppt/slides/slide12.xml" Id="R167d768e6f304c1e" /><Relationship Type="http://schemas.openxmlformats.org/officeDocument/2006/relationships/slide" Target="/ppt/slides/slide13.xml" Id="Re7174f180e9249e4" /><Relationship Type="http://schemas.openxmlformats.org/officeDocument/2006/relationships/slide" Target="/ppt/slides/slide14.xml" Id="R65cde4503d51494e" /><Relationship Type="http://schemas.openxmlformats.org/officeDocument/2006/relationships/slide" Target="/ppt/slides/slide15.xml" Id="R6148f09d1f9b47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e3394e2d8e40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863b7a13bd4119" /><Relationship Type="http://schemas.openxmlformats.org/officeDocument/2006/relationships/notesMaster" Target="/ppt/notesMasters/notesMaster1.xml" Id="Rfc21e8b2f76049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a8f08ff51f456d" /><Relationship Type="http://schemas.openxmlformats.org/officeDocument/2006/relationships/notesMaster" Target="/ppt/notesMasters/notesMaster1.xml" Id="Rda81b7bd5fc247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b3425370cb4cd0" /><Relationship Type="http://schemas.openxmlformats.org/officeDocument/2006/relationships/notesMaster" Target="/ppt/notesMasters/notesMaster1.xml" Id="R35d1e42f2f3b48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f9556775f64fec" /><Relationship Type="http://schemas.openxmlformats.org/officeDocument/2006/relationships/notesMaster" Target="/ppt/notesMasters/notesMaster1.xml" Id="R4930e3e1d79b4b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5d7edc60ee415a" /><Relationship Type="http://schemas.openxmlformats.org/officeDocument/2006/relationships/notesMaster" Target="/ppt/notesMasters/notesMaster1.xml" Id="R217caf7ba51943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2322cd00504a3f" /><Relationship Type="http://schemas.openxmlformats.org/officeDocument/2006/relationships/notesMaster" Target="/ppt/notesMasters/notesMaster1.xml" Id="Rf640e4406e3944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992c21d0ab40f8" /><Relationship Type="http://schemas.openxmlformats.org/officeDocument/2006/relationships/notesMaster" Target="/ppt/notesMasters/notesMaster1.xml" Id="R6ec09feab51b43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af29d33cff45be" /><Relationship Type="http://schemas.openxmlformats.org/officeDocument/2006/relationships/notesMaster" Target="/ppt/notesMasters/notesMaster1.xml" Id="Rf3281a894f5b42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86aacdd7234908" /><Relationship Type="http://schemas.openxmlformats.org/officeDocument/2006/relationships/notesMaster" Target="/ppt/notesMasters/notesMaster1.xml" Id="R45743221e74442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488f20ce314301" /><Relationship Type="http://schemas.openxmlformats.org/officeDocument/2006/relationships/notesMaster" Target="/ppt/notesMasters/notesMaster1.xml" Id="Rc32a5b3d32f644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4f9435d6dd24db3" /><Relationship Type="http://schemas.openxmlformats.org/officeDocument/2006/relationships/notesMaster" Target="/ppt/notesMasters/notesMaster1.xml" Id="R816b50b5ad554a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fcc2df0c714a18" /><Relationship Type="http://schemas.openxmlformats.org/officeDocument/2006/relationships/notesMaster" Target="/ppt/notesMasters/notesMaster1.xml" Id="Rc1b623f7947e47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29e3c84ff646c5" /><Relationship Type="http://schemas.openxmlformats.org/officeDocument/2006/relationships/notesMaster" Target="/ppt/notesMasters/notesMaster1.xml" Id="R3543652b7b6642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00042a9d63476b" /><Relationship Type="http://schemas.openxmlformats.org/officeDocument/2006/relationships/notesMaster" Target="/ppt/notesMasters/notesMaster1.xml" Id="Rd4e2ab15937b44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b89374728114da9" /><Relationship Type="http://schemas.openxmlformats.org/officeDocument/2006/relationships/notesMaster" Target="/ppt/notesMasters/notesMaster1.xml" Id="Rb444c2a16cb846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project name and explain that the system is a practical digital library plus voice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old/current situation clearly before showing the improved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each problem to a feature in the new system.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mirrors the reference deck section break. Use it to transition from problem to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frontend never connects directly to MySQL or Python. It goes through the backend.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objectives aligned with what the system really implements.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 panel asks about research validation, be clear whether it is system testing, survey validation, or both.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the important files: AuthContext, api/client.js, api.php, auth.php, role.php.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where STT/TTS connects to backend and frontend.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prepared document for deeper dependency explanations.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Vite is the frontend build and dev server tool. PDO is PHP Data Objects, used for safe MySQL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exact demonstration path. Keep it short and reliable.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achievements without overclaiming model training or survey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Recommendations should sound practical and connected to known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823d3f5f3049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68e28114aa4db5" /><Relationship Type="http://schemas.openxmlformats.org/officeDocument/2006/relationships/slideLayout" Target="/ppt/slideLayouts/slideLayout1.xml" Id="Rfa81e6a5b12d48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81e6a5b12d48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16d2e56094880" /><Relationship Type="http://schemas.openxmlformats.org/officeDocument/2006/relationships/image" Target="/ppt/media/image.png" Id="Reec68a5277e144b5" /><Relationship Type="http://schemas.openxmlformats.org/officeDocument/2006/relationships/notesSlide" Target="/ppt/notesSlides/notesSlide1.xml" Id="R534d1141bf4843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7f893039744ffb" /><Relationship Type="http://schemas.openxmlformats.org/officeDocument/2006/relationships/image" Target="/ppt/media/image2.png" Id="Ra96fc661b9a540dd" /><Relationship Type="http://schemas.openxmlformats.org/officeDocument/2006/relationships/notesSlide" Target="/ppt/notesSlides/notesSlide2.xml" Id="Reb02d3a4610843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741e3ccd84e4e" /><Relationship Type="http://schemas.openxmlformats.org/officeDocument/2006/relationships/image" Target="/ppt/media/image3.png" Id="R842eba8766324b67" /><Relationship Type="http://schemas.openxmlformats.org/officeDocument/2006/relationships/notesSlide" Target="/ppt/notesSlides/notesSlide3.xml" Id="Rb69378593d4c43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e0f39c14a41b2" /><Relationship Type="http://schemas.openxmlformats.org/officeDocument/2006/relationships/image" Target="/ppt/media/image4.png" Id="R11462957faf34ba1" /><Relationship Type="http://schemas.openxmlformats.org/officeDocument/2006/relationships/notesSlide" Target="/ppt/notesSlides/notesSlide4.xml" Id="Re6db7ff2045448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e77b8759244d6" /><Relationship Type="http://schemas.openxmlformats.org/officeDocument/2006/relationships/image" Target="/ppt/media/image5.png" Id="Ree951b098b32470b" /><Relationship Type="http://schemas.openxmlformats.org/officeDocument/2006/relationships/notesSlide" Target="/ppt/notesSlides/notesSlide5.xml" Id="R1f728f62a8cd42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704f676f940b2" /><Relationship Type="http://schemas.openxmlformats.org/officeDocument/2006/relationships/image" Target="/ppt/media/image6.png" Id="Rda3900e42b144627" /><Relationship Type="http://schemas.openxmlformats.org/officeDocument/2006/relationships/notesSlide" Target="/ppt/notesSlides/notesSlide6.xml" Id="R4975fdd0b8ff41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e1421c23f4372" /><Relationship Type="http://schemas.openxmlformats.org/officeDocument/2006/relationships/image" Target="/ppt/media/image7.png" Id="R51d92435c6ed4f77" /><Relationship Type="http://schemas.openxmlformats.org/officeDocument/2006/relationships/notesSlide" Target="/ppt/notesSlides/notesSlide7.xml" Id="R178f930f5b2441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6f0034dd842f3" /><Relationship Type="http://schemas.openxmlformats.org/officeDocument/2006/relationships/image" Target="/ppt/media/image8.png" Id="R86b89b5e135142dc" /><Relationship Type="http://schemas.openxmlformats.org/officeDocument/2006/relationships/notesSlide" Target="/ppt/notesSlides/notesSlide8.xml" Id="R09bc8a1f6aa747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a9311aea34434" /><Relationship Type="http://schemas.openxmlformats.org/officeDocument/2006/relationships/image" Target="/ppt/media/image9.png" Id="Rb06d54a2c1254e6a" /><Relationship Type="http://schemas.openxmlformats.org/officeDocument/2006/relationships/notesSlide" Target="/ppt/notesSlides/notesSlide9.xml" Id="Re5f1e0568af34f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af4edbebbd4f16" /><Relationship Type="http://schemas.openxmlformats.org/officeDocument/2006/relationships/image" Target="/ppt/media/image10.png" Id="R90862ede8f764759" /><Relationship Type="http://schemas.openxmlformats.org/officeDocument/2006/relationships/notesSlide" Target="/ppt/notesSlides/notesSlide10.xml" Id="Rbec29e52af3a4e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cb2d410edc4ad9" /><Relationship Type="http://schemas.openxmlformats.org/officeDocument/2006/relationships/image" Target="/ppt/media/image11.png" Id="Rb83dd0b221714cf3" /><Relationship Type="http://schemas.openxmlformats.org/officeDocument/2006/relationships/notesSlide" Target="/ppt/notesSlides/notesSlide11.xml" Id="Ra03796407cac4c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edb9907fb4b4d" /><Relationship Type="http://schemas.openxmlformats.org/officeDocument/2006/relationships/image" Target="/ppt/media/image12.png" Id="R80a1514b6efa4a3a" /><Relationship Type="http://schemas.openxmlformats.org/officeDocument/2006/relationships/notesSlide" Target="/ppt/notesSlides/notesSlide12.xml" Id="Re8324c87817042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5046e26994ba5" /><Relationship Type="http://schemas.openxmlformats.org/officeDocument/2006/relationships/image" Target="/ppt/media/image13.png" Id="Rc8333213268c461f" /><Relationship Type="http://schemas.openxmlformats.org/officeDocument/2006/relationships/notesSlide" Target="/ppt/notesSlides/notesSlide13.xml" Id="R3c6836afb4cb40b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0b4fa28924928" /><Relationship Type="http://schemas.openxmlformats.org/officeDocument/2006/relationships/image" Target="/ppt/media/image14.png" Id="R2af8329074c34854" /><Relationship Type="http://schemas.openxmlformats.org/officeDocument/2006/relationships/notesSlide" Target="/ppt/notesSlides/notesSlide14.xml" Id="Rd8b6dc046a204e1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18157cdbd64a4d" /><Relationship Type="http://schemas.openxmlformats.org/officeDocument/2006/relationships/image" Target="/ppt/media/image15.png" Id="R228d535dfd934bd1" /><Relationship Type="http://schemas.openxmlformats.org/officeDocument/2006/relationships/notesSlide" Target="/ppt/notesSlides/notesSlide15.xml" Id="R666ecdc4b5ff4b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9195A9-B720-4187-B549-4FFC81A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c68a5277e144b5"/>
          <a:stretch xmlns:a="http://schemas.openxmlformats.org/drawingml/2006/main"/>
        </p:blipFill>
        <p:spPr>
          <a:xfrm xmlns:a="http://schemas.openxmlformats.org/drawingml/2006/main">
            <a:off x="801522" y="552450"/>
            <a:ext cx="873457" cy="914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F627A-4DB8-4605-AB54-4EAED98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WELCOME TO MY THESIS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D8C51-2831-4549-8C59-AC660279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</a:defRPr>
            </a:pPr>
            <a:r>
              <a:rPr sz="1800" b="0">
                <a:solidFill>
                  <a:srgbClr val="DDEEE6"/>
                </a:solidFill>
              </a:rPr>
              <a:t>INES Digital Library with Voice Search and Audio Narration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95794-A959-4404-89B1-00BD2716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5334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A60BD-11F8-49CB-9C24-AA626841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7A044"/>
                </a:solidFill>
              </a:defRPr>
            </a:pPr>
            <a:r>
              <a:rPr sz="1125" b="1">
                <a:solidFill>
                  <a:srgbClr val="C7A044"/>
                </a:solidFill>
              </a:rPr>
              <a:t>System 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9664F-619B-46C0-B502-7DD426BF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A role-based digital library connected to MySQL, PHP APIs, React/Vite, and Python AI speech services.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07181-A018-47F6-9965-26712AFD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00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Presenter: Anne Louange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Institution: INES-Ruhengeri</a:t>
            </a:r>
          </a:p>
        </p:txBody>
      </p:sp>
    </p:spTree>
    <p:extLst>
      <p:ext uri="{BB962C8B-B14F-4D97-AF65-F5344CB8AC3E}">
        <p14:creationId xmlns:p14="http://schemas.microsoft.com/office/powerpoint/2010/main" val="1112975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93378F-5E9B-4019-9C40-BB1AD1CD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AF5C1-406D-4064-8784-544BC862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77662-47B9-46EC-8AFB-B89DF7EB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9039D-BAEB-4DD0-9D17-29C864B2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Current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8E07C-99B2-490E-94F4-6776DB62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fc661b9a540dd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88B38-F542-498B-B6BC-CD3EAF52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96BC8-5DA7-4B43-A3A7-C82609DB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BFC4C-15D1-4E4B-A4B6-022516A5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62125"/>
            <a:ext cx="2476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5BB85-B5C2-4A7B-A3D1-CA0E8244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95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Manual 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1174D-9F0C-49CA-955A-700F0157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Users may depend on shelves, manual records, or typed searching only.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129FFC-09BC-43BC-BC8F-CB00B51F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Limited audio access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23F40-2015-40C5-B585-3A98FF61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Reading support is mostly visual and not voice-assisted.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3E438-5467-4D3A-8044-A621EC03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Separated tracking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46541-CAF4-413C-811D-0BAC4F8B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7175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Borrowing, progress, reviews, and reports need centralized control.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F07E1-6C20-491B-9CC7-F84867AC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14850"/>
            <a:ext cx="866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11F"/>
                </a:solidFill>
              </a:defRPr>
            </a:pPr>
            <a:r>
              <a:rPr sz="1575" b="0">
                <a:solidFill>
                  <a:srgbClr val="18211F"/>
                </a:solidFill>
              </a:rPr>
              <a:t>This project improves the current approach by combining catalog, users, database records, and AI speech features in one system.</a:t>
            </a:r>
          </a:p>
        </p:txBody>
      </p:sp>
    </p:spTree>
    <p:extLst>
      <p:ext uri="{BB962C8B-B14F-4D97-AF65-F5344CB8AC3E}">
        <p14:creationId xmlns:p14="http://schemas.microsoft.com/office/powerpoint/2010/main" val="2074361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86FD15-615D-4EEB-86A7-C7EDC38F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B7487-2DB5-4AE7-8A59-95F0C017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76998E-4742-4E8E-97C8-D7F2A6D5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6A8EA-E633-48B6-A21E-0090B841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Problems Identified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FA993-8ACF-4685-B759-4AF0D658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eba8766324b67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7A5B0-97BD-4F22-B11E-C5EC3745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A3D0B-54D3-4F8F-B2D7-F9E80659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7A044"/>
                </a:solidFill>
              </a:defRPr>
            </a:pPr>
            <a:r>
              <a:rPr sz="1800" b="1">
                <a:solidFill>
                  <a:srgbClr val="C7A044"/>
                </a:solidFill>
              </a:rPr>
              <a:t>Slow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77E2C-DD38-4DD4-82E0-A290AF42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Finding resources can take time when searching is manual or only typed.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EEA05-4126-4A94-AB13-8D23BB01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C8F2B-C827-4D22-826C-2FD0CFF4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Accessibility gap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37BF7-5301-46D7-B63B-65B5A021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241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Users who prefer listening need audio narration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7715D-4AE1-4B3A-8104-76BBD674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5096F-07DB-4172-8376-726870FB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24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Weak monitoring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C92CA-2E2E-41C2-AB94-4DB8A6E7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Activities such as borrowing, reviews, and reports need proper logs.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2D7887-E91D-462D-A2D6-DB0CC0CB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76650"/>
            <a:ext cx="46196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A84E4-59B8-4F90-A925-7438CA2D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24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AI reliability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207CC7-3F57-400C-ADB0-75FAFEB7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4340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Speech services must be preloaded and tested before live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17958626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48A373-C867-4616-8D36-D29DC192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462957faf34ba1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F113B-F548-4BA0-9626-F68823E4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TRANSFORMER-BASED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A54A6-D218-4EA9-9466-29F7C762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</a:defRPr>
            </a:pPr>
            <a:r>
              <a:rPr sz="1800" b="0">
                <a:solidFill>
                  <a:srgbClr val="DDEEE6"/>
                </a:solidFill>
              </a:rPr>
              <a:t>New system with speech-to-text and text-to-speech support</a:t>
            </a:r>
          </a:p>
        </p:txBody>
      </p:sp>
    </p:spTree>
    <p:extLst>
      <p:ext uri="{BB962C8B-B14F-4D97-AF65-F5344CB8AC3E}">
        <p14:creationId xmlns:p14="http://schemas.microsoft.com/office/powerpoint/2010/main" val="18207285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B98FD7-9EB0-40C8-BCE7-9137A27E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CCF325-35B8-4BEB-BB42-C3A07B4F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CB4E50-9D1D-4E27-8D2D-7B775A36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8F8BD-88AB-4541-9542-BEBC504D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New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66169-FDFA-4362-A128-B8A4FD32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51b098b32470b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C64A7-BA07-489F-B9CF-700F37AD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5F668-23BE-49E1-B98B-DA6FC8CF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54516-290A-4891-92A1-A7DEB769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 + Vite user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17B26-7C61-442D-9279-2C0C21A7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88F41-09E8-424F-BA9E-38BCB7C4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31B76-5283-4C07-9F58-67EE960F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PHP API controls business logic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847CF-FECC-4980-8F3B-2D4F51D2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1C670-9C2C-403B-96F8-C68A9567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06C8E3-940D-4A9F-9F73-006F8B70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MySQL stores users, books,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FDC05-E0CB-4FAA-8642-53E389ED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36036-09E4-434A-9287-2804B0B2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</a:defRPr>
            </a:pPr>
            <a:r>
              <a:rPr sz="1725" b="1">
                <a:solidFill>
                  <a:srgbClr val="C7A044"/>
                </a:solidFill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9BE9A-A6BA-4C3F-92E9-68E641A7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FastAPI + PyTorch speech 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4CB224-8A1C-4579-BE59-D5E10761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F3625D-4A7A-428D-8A87-D5354966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AB0DD-85DD-40C2-8404-6D52FF2B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Token authentication and role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DE5A8A-DC45-4776-A3F2-D0CB225D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C3C218-8994-4925-8C9E-7066DE35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</a:defRPr>
            </a:pPr>
            <a:r>
              <a:rPr sz="1725" b="1">
                <a:solidFill>
                  <a:srgbClr val="0D3D2D"/>
                </a:solidFill>
              </a:rPr>
              <a:t>Demo safety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DB9963-7FB7-4F87-956C-4761F0DD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Health checks and model preload</a:t>
            </a:r>
          </a:p>
        </p:txBody>
      </p:sp>
    </p:spTree>
    <p:extLst>
      <p:ext uri="{BB962C8B-B14F-4D97-AF65-F5344CB8AC3E}">
        <p14:creationId xmlns:p14="http://schemas.microsoft.com/office/powerpoint/2010/main" val="14180115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221435-9430-4DC0-80F2-D2D2F16A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83FCE-33F7-430A-BFC9-D281375C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F6425-FC8C-4EB8-8294-5A9F1704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6BDC9-1094-4A69-A702-14EC342A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Research Objectives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28495-0498-4509-A784-AE08B0EA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900e42b144627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69955-4B0C-47AF-9026-E7A661FA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General objective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4B11E-85E3-4156-8D40-F505E953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11F"/>
                </a:solidFill>
              </a:defRPr>
            </a:pPr>
            <a:r>
              <a:rPr sz="1575" b="0">
                <a:solidFill>
                  <a:srgbClr val="18211F"/>
                </a:solidFill>
              </a:rPr>
              <a:t>To design and implement a digital library system that improves access, management, search, and reading support for academic resources.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578AE7-052E-4D9A-8D7B-FBAD6702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Specific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19CFC-C307-4F7B-B6C3-E1FD8DA1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571243-7FAF-4F3A-B4DC-F5C67742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Implement secure login and role-based dashboards.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56D6F-DA06-43AE-9893-F316040A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F150F-D82E-4115-95F6-E607DB71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Manage books, borrowing, reading progress, reviews, and reports.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75E08-BF70-45E9-BBC9-4C80D317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069194-5A55-4716-8CE7-D27EF045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767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Connect STT voice search and TTS narration to backend APIs.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D14EC-40D1-41E9-9506-C4EBD474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FCE28-2414-447F-88DF-3047C7FF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8248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Test the full flow before live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13301427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A5A7C2-FB1C-4076-AF2E-ABF4D575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2C2E7-090E-4497-B603-103842D0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13C51A-3A94-4851-A425-2260C082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6276A-8991-46A6-9EAE-0AE177DD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Methodology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AE137-650D-4986-80FB-2857CCDB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92435c6ed4f77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91D44-7B4C-465A-84FA-F1A1D245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</a:defRPr>
            </a:pPr>
            <a:r>
              <a:rPr sz="1800" b="1">
                <a:solidFill>
                  <a:srgbClr val="0D3D2D"/>
                </a:solidFill>
              </a:rPr>
              <a:t>Agile development 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510D9-9BA1-4CC6-A114-BB806BFD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BDEF0B-50CD-495C-B100-D104987D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98CCC-F9A2-4CD6-BCFA-9BE9DBF4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B31D8-F177-4734-851A-D2A8D098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D5B21-0A8C-41B7-8733-A72ADB54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13F31-89DF-4F62-86AF-8D3EE3D7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4854F-17D4-41D5-843D-0AB8F1FE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31D654-9E73-4130-BF9E-027ED4BD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C451B-FBAA-468C-BB0C-0443F6F6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2CD3BA-A424-4A9D-90E5-60B97691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C7A044"/>
                </a:solidFill>
              </a:defRPr>
            </a:pPr>
            <a:r>
              <a:rPr sz="2325" b="1">
                <a:solidFill>
                  <a:srgbClr val="C7A04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D13DD-5054-4AD7-A75D-59B0DABC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Develop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317635-55B3-4F9D-B966-EC939CFC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A334BA-6DC5-42C0-A2BD-3FCBF05D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EE8870-4ED1-4759-942D-DE39894F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A3474A-B779-4E57-8EDD-86367D0F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B0DBE-EA4F-4E7E-92DE-D7878E0C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05125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3109E8-E166-4C2C-B96D-81CCD2E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1428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AE1FAD-8D32-4155-B842-7CAB14E3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908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</a:defRPr>
            </a:pPr>
            <a:r>
              <a:rPr sz="2325" b="1">
                <a:solidFill>
                  <a:srgbClr val="0D3D2D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66A466-D3EF-4A31-8ED0-924969D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Improve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EB0BFA-D5D9-4D68-BD76-6F02D185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94D43"/>
                </a:solidFill>
              </a:defRPr>
            </a:pPr>
            <a:r>
              <a:rPr sz="1800" b="1">
                <a:solidFill>
                  <a:srgbClr val="A94D43"/>
                </a:solidFill>
              </a:rPr>
              <a:t>Validation scope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6D5A6F-8A0C-4900-8835-5E337278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The documented validation should be system testing and live acceptance testing unless questionnaire/interview results are added as appendices.</a:t>
            </a:r>
          </a:p>
        </p:txBody>
      </p:sp>
    </p:spTree>
    <p:extLst>
      <p:ext uri="{BB962C8B-B14F-4D97-AF65-F5344CB8AC3E}">
        <p14:creationId xmlns:p14="http://schemas.microsoft.com/office/powerpoint/2010/main" val="17326996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283470-292B-49CD-9CFE-08A58B21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E2E98-CD9F-4E2D-B8AC-2F7078B2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F7EBE-0821-475A-9891-0B263CAD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8C6C0-BF13-4053-84D4-57970E54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Authentication and User Access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D54B2F-E563-4BEB-AF32-21848E94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89b5e135142dc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9347-45BC-4DFA-9C24-D71F83EC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F34749-66F8-46FD-8FDC-6C62206C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764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Login is submitted from React through frontend/src/api/auth.js.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161EC-A850-45D2-AC32-23025396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B4D25-A6AA-4F59-BE52-49441490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The PHP backend verifies the password using password_verify().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143351-0A98-4464-BBD5-8AAB1145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AE85E-1710-4E07-9746-7E265FB9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A random token is generated, hashed, and stored in users.api_token_hash.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129A9E-9C3D-46B5-B8F2-35FC88A0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96AB25-9CED-4944-AA72-3763D2D6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480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 stores the raw token as ines_token and sends it as a Bearer token.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23CE3-ACBB-4C36-8523-78E1DFEC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6A7E-B118-46EB-9EC4-1FDC566B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ProtectedRoute and PHP role middleware restrict student, lecturer, and admin pages.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A07FB-15DB-4DE6-BD7A-12FED557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81200"/>
            <a:ext cx="2000250" cy="233362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68027-A3E4-4225-B01B-2D70F495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</a:defRPr>
            </a:pPr>
            <a:r>
              <a:rPr sz="1725" b="1">
                <a:solidFill>
                  <a:srgbClr val="C7A044"/>
                </a:solidFill>
              </a:rPr>
              <a:t>Key point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FD1000-366C-415F-816B-E0F8096B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The database stores the hashed token, not the raw session token.</a:t>
            </a:r>
          </a:p>
        </p:txBody>
      </p:sp>
    </p:spTree>
    <p:extLst>
      <p:ext uri="{BB962C8B-B14F-4D97-AF65-F5344CB8AC3E}">
        <p14:creationId xmlns:p14="http://schemas.microsoft.com/office/powerpoint/2010/main" val="5976622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ADFBB4-C902-4BA2-B506-72E7C6FE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F480F-1DFD-474A-906B-0DF08336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11561-9383-42AD-B17D-FF0E1E09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F3ECE-94EA-42D5-9410-109268E2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Speech Connection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69240-2AE6-4F10-A31C-FD13FCFD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d54a2c1254e6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2E57A-103F-4620-924B-812412FC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6EA47-F7E8-47E9-A0F2-4BF25366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6EE43-34E5-4519-BCEE-484DFA94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Microphone or play button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D6F53-CC75-4FB8-A1D0-A96F2569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C24AE-E1C9-4F31-B177-22080CE3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E6625-C132-4043-9302-88C84007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PHP backend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60FADD-9BB1-4CD0-BB15-569B1B9C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Validates request and calls speech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29CC3-3205-4F6D-8EC3-0E15AF34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2DA622-9545-47C2-85FB-782F087C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5560DC-FE87-42E4-AF97-29CF5324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FastAPI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50BB66-F55E-41EB-B830-C70E602A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Receives audio/text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1F4B6-5E90-437C-8FE0-1FAC1AAC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B129BB-DA89-4C5B-BC09-C491AFE7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FC3524-44F7-4D0B-AA7A-25EFA56B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C7A044"/>
                </a:solidFill>
              </a:defRPr>
            </a:pPr>
            <a:r>
              <a:rPr sz="1575" b="1">
                <a:solidFill>
                  <a:srgbClr val="C7A044"/>
                </a:solidFill>
              </a:rPr>
              <a:t>PyTorch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9C816B-8591-46C5-9E21-F6172113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</a:defRPr>
            </a:pPr>
            <a:r>
              <a:rPr sz="1200" b="0">
                <a:solidFill>
                  <a:srgbClr val="FFFFFF"/>
                </a:solidFill>
              </a:rPr>
              <a:t>Runs Wav2Vec2, SpeechT5, or gTTS 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86AA26-4709-4D27-8035-B8DB7B9A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17C8D0-1ECA-4C6D-ACBD-2B761BCB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FDDEFA-C47B-4F63-BD82-CFE3B44E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</a:defRPr>
            </a:pPr>
            <a:r>
              <a:rPr sz="1575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1EAD27-7703-4C8E-AD04-8743417D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</a:defRPr>
            </a:pPr>
            <a:r>
              <a:rPr sz="1200" b="0">
                <a:solidFill>
                  <a:srgbClr val="18211F"/>
                </a:solidFill>
              </a:rPr>
              <a:t>Shows text or plays audio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729264-6E97-4F33-85D8-3AD465A1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Why it can delay: first model load, CPU speed, long page text, audio conversion, network for gTTS, or Python service not already warm.</a:t>
            </a:r>
          </a:p>
        </p:txBody>
      </p:sp>
    </p:spTree>
    <p:extLst>
      <p:ext uri="{BB962C8B-B14F-4D97-AF65-F5344CB8AC3E}">
        <p14:creationId xmlns:p14="http://schemas.microsoft.com/office/powerpoint/2010/main" val="11151390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F56120-D446-44C0-9388-528DA199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E96C7-5E61-40D3-A0D8-70B35002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D7903E-98AC-40F0-90EA-923A8C74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BCD30-B724-46EB-BF68-D19FEEF0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Python Libraries and PyTorch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B4435-2319-42D1-9438-72924D91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862ede8f764759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366B7-07E2-47E5-80A0-186C8C91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C9F79-437E-4673-A083-F3DCBDFE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PyTorch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6B808-2EB2-4E60-9DD3-962D9E2C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954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Runs transformer neural networks for STT/TTS inference and testing.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36CFF-72BB-4D4E-B5D6-3F74F949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B7AFB8-DA4A-439B-A978-49F8FA54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Transformers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5C05E9-C446-43B9-8485-9A817F5E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Loads Wav2Vec2, SpeechT5, processors, and vocoder models.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37A2B-466C-4E5F-AD31-E2B4026F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90D04-A812-4B45-BCE5-77A84F4F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FastAPI + Uvicorn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2E8D4D-22BE-46D7-8D52-E5F90818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Expose Python speech models as HTTP services.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E68CB3-9AA0-4538-B107-D234C7DB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D08284-3106-462A-AD54-AE4F4D61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671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Librosa, NumPy, SoundFile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90D69-533A-4253-BF8F-EE580C15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Prepare audio: load, resample, normalize, and save waveforms.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4FC28-E6AA-4419-A40D-1ADE2465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E287F9-9200-44C7-915E-5EAA5621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</a:defRPr>
            </a:pPr>
            <a:r>
              <a:rPr sz="1350" b="1">
                <a:solidFill>
                  <a:srgbClr val="0D3D2D"/>
                </a:solidFill>
              </a:rPr>
              <a:t>gTTS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F4A9C-FB67-40A7-A40A-06BAB05C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910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</a:defRPr>
            </a:pPr>
            <a:r>
              <a:rPr sz="1275" b="0">
                <a:solidFill>
                  <a:srgbClr val="18211F"/>
                </a:solidFill>
              </a:rPr>
              <a:t>Provides clearer Google text-to-speech fallback when internet is available.</a:t>
            </a:r>
          </a:p>
        </p:txBody>
      </p:sp>
    </p:spTree>
    <p:extLst>
      <p:ext uri="{BB962C8B-B14F-4D97-AF65-F5344CB8AC3E}">
        <p14:creationId xmlns:p14="http://schemas.microsoft.com/office/powerpoint/2010/main" val="13241495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F9F3D1-F820-42F1-8321-CC02B4B7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6D27C-6CCE-4EBF-BF65-422281FD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F72E28-0E26-4C99-87B0-0096E798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0FA68-1DA7-490E-9426-65D245A1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Technologies Used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DF177-80EA-4393-92C0-BCD07993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dd0b221714cf3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9D53D-E8B3-4567-8C3D-93CC0FD1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5F278-2641-48DF-A226-A0FBD8B3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18F8C2-1886-470A-9AF5-BFDE219C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React, Vite, CSS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907450-16E1-4C9A-9723-575C6175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650DA-8B68-46B7-A954-0E96DF69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</a:defRPr>
            </a:pPr>
            <a:r>
              <a:rPr sz="1650" b="1">
                <a:solidFill>
                  <a:srgbClr val="C7A044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B22E7-9218-43BA-96A7-12DAA5CD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PHP API, PDO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28E15-D194-4E34-B72C-22F3FB82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7505A-29E4-4C83-A644-5C3F3779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B0CA58-7581-414E-8498-49691A47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MySQL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CB8986-00AF-4DB5-AA69-190D3E82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EBF38-43B6-4CEF-9BDC-A1CB4216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A0AE0-B6FC-4E05-B643-AD295E89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Python, FastAPI, PyTorch, Transformers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D0A98-6004-4DCF-865F-CE80933A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FED6D3-5081-4B5A-811B-63584F34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Speech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EC5314-9F23-4999-873C-DA4C106E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Wav2Vec2, SpeechT5, gTTS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01F45-4C23-45B0-83F2-517F94F5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E36B3-A763-44E7-AD7E-B0C16324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</a:defRPr>
            </a:pPr>
            <a:r>
              <a:rPr sz="1650" b="1">
                <a:solidFill>
                  <a:srgbClr val="0D3D2D"/>
                </a:solidFill>
              </a:rPr>
              <a:t>Local server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9BFDC6-DA68-42B5-BD85-16CA5FA4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</a:defRPr>
            </a:pPr>
            <a:r>
              <a:rPr sz="1350" b="0">
                <a:solidFill>
                  <a:srgbClr val="18211F"/>
                </a:solidFill>
              </a:rPr>
              <a:t>XAMPP</a:t>
            </a:r>
          </a:p>
        </p:txBody>
      </p:sp>
    </p:spTree>
    <p:extLst>
      <p:ext uri="{BB962C8B-B14F-4D97-AF65-F5344CB8AC3E}">
        <p14:creationId xmlns:p14="http://schemas.microsoft.com/office/powerpoint/2010/main" val="970022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3CFAF-40D2-41BC-902B-910931B0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0376A-331B-43C7-817C-E83F4BBE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8EF1-AC5B-48D1-90EA-AB91A8DE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6AAFE-4F76-486D-9B30-F2CFAB7C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Live Demo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CFB70-6A28-485A-9122-E59DB6D5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1514b6efa4a3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C3D1B-2AEC-418C-A5E8-6F4D1FF8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A0C08-BCE2-4742-A499-2358CBBC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530E9-9643-4C50-BBF8-5E57C52D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Login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9CA07-DF5D-40D1-BFC0-3087A8A5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7F956-51E0-40E7-B4AA-35E59532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2F78C1-998C-4A1E-AD54-C46465C6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Open dashboard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3AAF5-AFB8-4C0E-BA72-2F7E572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0278B-95AA-4196-AF93-5C9F265C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DA34C-E192-415A-99E1-54093367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14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Search book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18B47-FA4E-4C69-B19F-2CA98041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62B781-246F-4FD3-A500-13CD7335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A67E6F-E6A9-430E-B75E-2FCFBAA3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Voice 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6918F2-99B9-4DE3-9921-9A9DB1A2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3704A-A83F-4109-9E27-900EB227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C7A044"/>
                </a:solidFill>
              </a:defRPr>
            </a:pPr>
            <a:r>
              <a:rPr sz="2250" b="1">
                <a:solidFill>
                  <a:srgbClr val="C7A044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4ED489-49CA-43EA-96EF-3E193433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Play narration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CFADB6-DD53-4C24-89DD-C67EB10A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FD1912-C2D6-43EC-AEEB-5E2C2C52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</a:defRPr>
            </a:pPr>
            <a:r>
              <a:rPr sz="2250" b="1">
                <a:solidFill>
                  <a:srgbClr val="0D3D2D"/>
                </a:solidFill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5A61E-0D99-4DDE-8614-6FE6CAB2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57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</a:defRPr>
            </a:pPr>
            <a:r>
              <a:rPr sz="1575" b="1">
                <a:solidFill>
                  <a:srgbClr val="18211F"/>
                </a:solidFill>
              </a:rPr>
              <a:t>Check admin/report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F777A6-440C-4609-8908-22C368AB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</a:defRPr>
            </a:pPr>
            <a:r>
              <a:rPr sz="1425" b="0">
                <a:solidFill>
                  <a:srgbClr val="18211F"/>
                </a:solidFill>
              </a:rPr>
              <a:t>Before defense: start XAMPP, run backend checks, make sure Python speech services are ready, then open the React/Vite frontend.</a:t>
            </a:r>
          </a:p>
        </p:txBody>
      </p:sp>
    </p:spTree>
    <p:extLst>
      <p:ext uri="{BB962C8B-B14F-4D97-AF65-F5344CB8AC3E}">
        <p14:creationId xmlns:p14="http://schemas.microsoft.com/office/powerpoint/2010/main" val="10593694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1084FF-D6AF-48D0-BFB5-63C02C9C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E2600-69D5-4B89-9D93-77501ECE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59A43-C7FF-4C9F-93C1-E6A5E6A4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6A2A7-265A-43D5-B082-3449A2A4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E93B5-4975-4B99-A310-14702F77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33213268c461f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DEBFD-77B1-4E53-83F6-47BB6F0B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40D91-79AB-4704-91F0-8C110E14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The project implements a working digital library for academic resource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79DBA-A83A-4D1A-BEED-DDF866B2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CF783-E14F-4C0F-A65B-E6C4121F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Authentication connects frontend users to backend permissions and database records.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BE2EC-A29F-4A67-8FF7-92877701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DE1DAA-74AC-4E9D-B772-028C6C2A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STT and TTS are connected through backend-controlled Python AI services.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E6D1E6-99D3-4664-A154-1BD0C52C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7E6AF-E5B7-41D6-95D4-9C485A57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6707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Testing must cover login, database, search, reader, STT, TTS, and health checks.</a:t>
            </a:r>
          </a:p>
        </p:txBody>
      </p:sp>
    </p:spTree>
    <p:extLst>
      <p:ext uri="{BB962C8B-B14F-4D97-AF65-F5344CB8AC3E}">
        <p14:creationId xmlns:p14="http://schemas.microsoft.com/office/powerpoint/2010/main" val="3489073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6B5F9F-4A11-43A1-9E03-B0D3F777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E5FEF-13DA-4936-97C1-574DB44A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19D8D7-8E9E-41A6-9F0E-BE5F2E82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</a:defRPr>
            </a:pPr>
            <a:r>
              <a:rPr sz="900" b="1">
                <a:solidFill>
                  <a:srgbClr val="0D3D2D"/>
                </a:solidFill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B2CC4-3521-4E1E-A171-5F27E11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</a:defRPr>
            </a:pPr>
            <a:r>
              <a:rPr sz="2475" b="1">
                <a:solidFill>
                  <a:srgbClr val="18211F"/>
                </a:solidFill>
              </a:rPr>
              <a:t>Recommendations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5CF68-6D57-4D8F-841A-004AED2A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8329074c34854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8CB1D-1ACA-442B-AEF1-FB864471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8FD49-47B9-4569-A6AD-768B1167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Deploy on a server that supports PHP, MySQL, and persistent Python FastAPI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674B6-9C12-444D-A115-E0AB9AC0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76B88-2A1B-45FC-A44E-836BE993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Improve TTS quality with better text cleaning, chunking, and a stronger production voice.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B5131-66DD-405B-82F4-70846687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2BBD5-C927-42E6-BC65-2B20F870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622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Add full questionnaire/interview appendices if user validation is claimed.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A1B2E-476C-4AF9-AC43-9C7EF7EF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95C641-8CC7-424E-988C-7569A55D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</a:defRPr>
            </a:pPr>
            <a:r>
              <a:rPr sz="1500" b="0">
                <a:solidFill>
                  <a:srgbClr val="18211F"/>
                </a:solidFill>
              </a:rPr>
              <a:t>Add mobile support and multilingual speech support in future work.</a:t>
            </a:r>
          </a:p>
        </p:txBody>
      </p:sp>
    </p:spTree>
    <p:extLst>
      <p:ext uri="{BB962C8B-B14F-4D97-AF65-F5344CB8AC3E}">
        <p14:creationId xmlns:p14="http://schemas.microsoft.com/office/powerpoint/2010/main" val="13845040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2CBA10-A887-484C-A5AF-C5612A9C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d535dfd934bd1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305FFE-380B-4241-8164-055096AB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61602-1333-49C6-A064-0E69F6C1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DEEE6"/>
                </a:solidFill>
              </a:defRPr>
            </a:pPr>
            <a:r>
              <a:rPr sz="1950" b="0">
                <a:solidFill>
                  <a:srgbClr val="DDEEE6"/>
                </a:solidFill>
              </a:rPr>
              <a:t>Questions and answers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B252C-4A72-4453-9A44-3E74C00D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28575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735C2-9854-421E-8A97-EE306CC3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381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</a:defRPr>
            </a:pPr>
            <a:r>
              <a:rPr sz="1650" b="1">
                <a:solidFill>
                  <a:srgbClr val="C7A044"/>
                </a:solidFill>
              </a:rPr>
              <a:t>Defense reminder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EF330-C2E3-4285-B1F9-564AC308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876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Answer using real project files, real services, and tested behavior.</a:t>
            </a:r>
          </a:p>
        </p:txBody>
      </p:sp>
    </p:spTree>
    <p:extLst>
      <p:ext uri="{BB962C8B-B14F-4D97-AF65-F5344CB8AC3E}">
        <p14:creationId xmlns:p14="http://schemas.microsoft.com/office/powerpoint/2010/main" val="888525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2026-06-18T03:20:07.0330000Z</dcterms:created>
  <dcterms:modified xsi:type="dcterms:W3CDTF">2026-06-18T03:20:07.0330000Z</dcterms:modified>
</coreProperties>
</file>