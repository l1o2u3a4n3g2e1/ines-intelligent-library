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5279618b114d5f" /><Relationship Type="http://schemas.openxmlformats.org/officeDocument/2006/relationships/extended-properties" Target="/docProps/app.xml" Id="R113e38d5a08c4f86" /><Relationship Type="http://schemas.openxmlformats.org/officeDocument/2006/relationships/officeDocument" Target="/ppt/presentation.xml" Id="Rd7c7f901d0514b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88944bfd2b4826"/>
  </p:sldMasterIdLst>
  <p:notesMasterIdLst>
    <p:notesMasterId xmlns:r="http://schemas.openxmlformats.org/officeDocument/2006/relationships" r:id="R9cf9a515a8f34e3c"/>
  </p:notesMasterIdLst>
  <p:sldIdLst>
    <p:sldId xmlns:r="http://schemas.openxmlformats.org/officeDocument/2006/relationships" id="256" r:id="R2f638d1652fd47bb"/>
    <p:sldId xmlns:r="http://schemas.openxmlformats.org/officeDocument/2006/relationships" id="257" r:id="R9b3e244f17644215"/>
    <p:sldId xmlns:r="http://schemas.openxmlformats.org/officeDocument/2006/relationships" id="258" r:id="Rd3087dc366b94944"/>
    <p:sldId xmlns:r="http://schemas.openxmlformats.org/officeDocument/2006/relationships" id="259" r:id="Rfc0e672dcc014823"/>
    <p:sldId xmlns:r="http://schemas.openxmlformats.org/officeDocument/2006/relationships" id="260" r:id="R6fef9fd253f64541"/>
    <p:sldId xmlns:r="http://schemas.openxmlformats.org/officeDocument/2006/relationships" id="261" r:id="R5371ba749f244469"/>
    <p:sldId xmlns:r="http://schemas.openxmlformats.org/officeDocument/2006/relationships" id="262" r:id="Ra056dfa27b36449c"/>
    <p:sldId xmlns:r="http://schemas.openxmlformats.org/officeDocument/2006/relationships" id="263" r:id="R68da02922c9b438d"/>
    <p:sldId xmlns:r="http://schemas.openxmlformats.org/officeDocument/2006/relationships" id="264" r:id="Rd6bfdd3e2aaf4a6e"/>
    <p:sldId xmlns:r="http://schemas.openxmlformats.org/officeDocument/2006/relationships" id="265" r:id="R2c95c362ac1140de"/>
    <p:sldId xmlns:r="http://schemas.openxmlformats.org/officeDocument/2006/relationships" id="266" r:id="R3526c544a9674318"/>
    <p:sldId xmlns:r="http://schemas.openxmlformats.org/officeDocument/2006/relationships" id="267" r:id="Rfa04bf772a5948aa"/>
    <p:sldId xmlns:r="http://schemas.openxmlformats.org/officeDocument/2006/relationships" id="268" r:id="R8f9caaaa0b8d4890"/>
    <p:sldId xmlns:r="http://schemas.openxmlformats.org/officeDocument/2006/relationships" id="269" r:id="R2edf3e5d29ea4816"/>
    <p:sldId xmlns:r="http://schemas.openxmlformats.org/officeDocument/2006/relationships" id="270" r:id="Rc90d6145d5874af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e64a2c54b14403" /><Relationship Type="http://schemas.openxmlformats.org/officeDocument/2006/relationships/slideMaster" Target="/ppt/slideMasters/slideMaster1.xml" Id="R4488944bfd2b4826" /><Relationship Type="http://schemas.openxmlformats.org/officeDocument/2006/relationships/notesMaster" Target="/ppt/notesMasters/notesMaster1.xml" Id="R9cf9a515a8f34e3c" /><Relationship Type="http://schemas.openxmlformats.org/officeDocument/2006/relationships/presProps" Target="/ppt/presProps.xml" Id="R40014744654a4c03" /><Relationship Type="http://schemas.openxmlformats.org/officeDocument/2006/relationships/tableStyles" Target="/ppt/tableStyles.xml" Id="R2027f61b4b8944fb" /><Relationship Type="http://schemas.openxmlformats.org/officeDocument/2006/relationships/slide" Target="/ppt/slides/slide1.xml" Id="R2f638d1652fd47bb" /><Relationship Type="http://schemas.openxmlformats.org/officeDocument/2006/relationships/slide" Target="/ppt/slides/slide2.xml" Id="R9b3e244f17644215" /><Relationship Type="http://schemas.openxmlformats.org/officeDocument/2006/relationships/slide" Target="/ppt/slides/slide3.xml" Id="Rd3087dc366b94944" /><Relationship Type="http://schemas.openxmlformats.org/officeDocument/2006/relationships/slide" Target="/ppt/slides/slide4.xml" Id="Rfc0e672dcc014823" /><Relationship Type="http://schemas.openxmlformats.org/officeDocument/2006/relationships/slide" Target="/ppt/slides/slide5.xml" Id="R6fef9fd253f64541" /><Relationship Type="http://schemas.openxmlformats.org/officeDocument/2006/relationships/slide" Target="/ppt/slides/slide6.xml" Id="R5371ba749f244469" /><Relationship Type="http://schemas.openxmlformats.org/officeDocument/2006/relationships/slide" Target="/ppt/slides/slide7.xml" Id="Ra056dfa27b36449c" /><Relationship Type="http://schemas.openxmlformats.org/officeDocument/2006/relationships/slide" Target="/ppt/slides/slide8.xml" Id="R68da02922c9b438d" /><Relationship Type="http://schemas.openxmlformats.org/officeDocument/2006/relationships/slide" Target="/ppt/slides/slide9.xml" Id="Rd6bfdd3e2aaf4a6e" /><Relationship Type="http://schemas.openxmlformats.org/officeDocument/2006/relationships/slide" Target="/ppt/slides/slide10.xml" Id="R2c95c362ac1140de" /><Relationship Type="http://schemas.openxmlformats.org/officeDocument/2006/relationships/slide" Target="/ppt/slides/slide11.xml" Id="R3526c544a9674318" /><Relationship Type="http://schemas.openxmlformats.org/officeDocument/2006/relationships/slide" Target="/ppt/slides/slide12.xml" Id="Rfa04bf772a5948aa" /><Relationship Type="http://schemas.openxmlformats.org/officeDocument/2006/relationships/slide" Target="/ppt/slides/slide13.xml" Id="R8f9caaaa0b8d4890" /><Relationship Type="http://schemas.openxmlformats.org/officeDocument/2006/relationships/slide" Target="/ppt/slides/slide14.xml" Id="R2edf3e5d29ea4816" /><Relationship Type="http://schemas.openxmlformats.org/officeDocument/2006/relationships/slide" Target="/ppt/slides/slide15.xml" Id="Rc90d6145d5874a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e0e1117f114c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622c37937d4c31" /><Relationship Type="http://schemas.openxmlformats.org/officeDocument/2006/relationships/notesMaster" Target="/ppt/notesMasters/notesMaster1.xml" Id="Rc02a1692d2b04c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5cd36dcf984637" /><Relationship Type="http://schemas.openxmlformats.org/officeDocument/2006/relationships/notesMaster" Target="/ppt/notesMasters/notesMaster1.xml" Id="Rdeb36f2446474e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2742efead442d2" /><Relationship Type="http://schemas.openxmlformats.org/officeDocument/2006/relationships/notesMaster" Target="/ppt/notesMasters/notesMaster1.xml" Id="R8398c19792984b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d6ef4fe54d47ad" /><Relationship Type="http://schemas.openxmlformats.org/officeDocument/2006/relationships/notesMaster" Target="/ppt/notesMasters/notesMaster1.xml" Id="R11276f2d639c44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5cf75f4c5e4710" /><Relationship Type="http://schemas.openxmlformats.org/officeDocument/2006/relationships/notesMaster" Target="/ppt/notesMasters/notesMaster1.xml" Id="Rd197a6dedf134d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0e05d7c89f4db1" /><Relationship Type="http://schemas.openxmlformats.org/officeDocument/2006/relationships/notesMaster" Target="/ppt/notesMasters/notesMaster1.xml" Id="Rc787c9b6606f4f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c3142c1408404f" /><Relationship Type="http://schemas.openxmlformats.org/officeDocument/2006/relationships/notesMaster" Target="/ppt/notesMasters/notesMaster1.xml" Id="R9f0d6aab558d4b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7e11f129de4000" /><Relationship Type="http://schemas.openxmlformats.org/officeDocument/2006/relationships/notesMaster" Target="/ppt/notesMasters/notesMaster1.xml" Id="R84f98b37657c42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0f2f62e79841e8" /><Relationship Type="http://schemas.openxmlformats.org/officeDocument/2006/relationships/notesMaster" Target="/ppt/notesMasters/notesMaster1.xml" Id="Rfb840b77e35c4c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647ae0b5b94ef7" /><Relationship Type="http://schemas.openxmlformats.org/officeDocument/2006/relationships/notesMaster" Target="/ppt/notesMasters/notesMaster1.xml" Id="Rb1816c2addb846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41c0b41dc9342b5" /><Relationship Type="http://schemas.openxmlformats.org/officeDocument/2006/relationships/notesMaster" Target="/ppt/notesMasters/notesMaster1.xml" Id="Ra550858ea6c343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1b11a25b9c94516" /><Relationship Type="http://schemas.openxmlformats.org/officeDocument/2006/relationships/notesMaster" Target="/ppt/notesMasters/notesMaster1.xml" Id="Rc1c63355dc6e442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14c992e0e684921" /><Relationship Type="http://schemas.openxmlformats.org/officeDocument/2006/relationships/notesMaster" Target="/ppt/notesMasters/notesMaster1.xml" Id="R5802e0af8a91457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5431b69c1574807" /><Relationship Type="http://schemas.openxmlformats.org/officeDocument/2006/relationships/notesMaster" Target="/ppt/notesMasters/notesMaster1.xml" Id="R71b7293adb4a429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29613d00f4246a3" /><Relationship Type="http://schemas.openxmlformats.org/officeDocument/2006/relationships/notesMaster" Target="/ppt/notesMasters/notesMaster1.xml" Id="R7a0edcd823a943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project name and explain that the system is a practical digital library plus voice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old/current situation clearly before showing the improved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each problem to a feature in the new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mirrors the reference deck section break. Use it to transition from problem to solution.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frontend never connects directly to MySQL or Python. It goes through the backend.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objectives aligned with what the system really implements.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data collection is part of methodology for understanding the problem and requirements. Chapter 4 should show implementation and testing results, not invented survey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the important files: AuthContext, api/client.js, api.php, auth.php, role.php.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answers where STT/TTS connects to backend and frontend.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prepared document for deeper dependency explanations.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Vite is the frontend build and dev server tool. PDO is PHP Data Objects, used for safe MySQL access.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exact demonstration path. Show login, dashboards, reader, backend health, phpMyAdmin tables, voice search, and narration.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Summarize achievements without overclaiming model training or survey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Recommendations should sound practical and connected to known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Thank the panel and invite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a2be3f9dc144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b03cf0c1314013" /><Relationship Type="http://schemas.openxmlformats.org/officeDocument/2006/relationships/slideLayout" Target="/ppt/slideLayouts/slideLayout1.xml" Id="R9637334e139644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37334e139644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112e38e01447f" /><Relationship Type="http://schemas.openxmlformats.org/officeDocument/2006/relationships/image" Target="/ppt/media/image.png" Id="R86b641511dde4f04" /><Relationship Type="http://schemas.openxmlformats.org/officeDocument/2006/relationships/notesSlide" Target="/ppt/notesSlides/notesSlide1.xml" Id="R50a3e959e2cb4f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7b37359ef4e72" /><Relationship Type="http://schemas.openxmlformats.org/officeDocument/2006/relationships/image" Target="/ppt/media/image2.png" Id="R69a25ef89fe64079" /><Relationship Type="http://schemas.openxmlformats.org/officeDocument/2006/relationships/notesSlide" Target="/ppt/notesSlides/notesSlide2.xml" Id="R25a4bcbb780042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d1ba0b36d484d" /><Relationship Type="http://schemas.openxmlformats.org/officeDocument/2006/relationships/image" Target="/ppt/media/image3.png" Id="Rd15eae3eaaad4c56" /><Relationship Type="http://schemas.openxmlformats.org/officeDocument/2006/relationships/notesSlide" Target="/ppt/notesSlides/notesSlide3.xml" Id="R0e135f370f434f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7eee06c7d4ef0" /><Relationship Type="http://schemas.openxmlformats.org/officeDocument/2006/relationships/image" Target="/ppt/media/image4.png" Id="R739cfbc256074060" /><Relationship Type="http://schemas.openxmlformats.org/officeDocument/2006/relationships/notesSlide" Target="/ppt/notesSlides/notesSlide4.xml" Id="R3f4c61631f874d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71fe3887f4c44" /><Relationship Type="http://schemas.openxmlformats.org/officeDocument/2006/relationships/image" Target="/ppt/media/image5.png" Id="R4c3f566713c14f7e" /><Relationship Type="http://schemas.openxmlformats.org/officeDocument/2006/relationships/notesSlide" Target="/ppt/notesSlides/notesSlide5.xml" Id="R96928fda0b9943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0018715344285" /><Relationship Type="http://schemas.openxmlformats.org/officeDocument/2006/relationships/image" Target="/ppt/media/image6.png" Id="Rb3901886bf34402d" /><Relationship Type="http://schemas.openxmlformats.org/officeDocument/2006/relationships/notesSlide" Target="/ppt/notesSlides/notesSlide6.xml" Id="Red22d8d99fea4a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76869e5e7409b" /><Relationship Type="http://schemas.openxmlformats.org/officeDocument/2006/relationships/image" Target="/ppt/media/image7.png" Id="R937b94541514469b" /><Relationship Type="http://schemas.openxmlformats.org/officeDocument/2006/relationships/notesSlide" Target="/ppt/notesSlides/notesSlide7.xml" Id="R9e492a32d54d4b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b77e11ba141e6" /><Relationship Type="http://schemas.openxmlformats.org/officeDocument/2006/relationships/image" Target="/ppt/media/image8.png" Id="R3c12c63b30e34030" /><Relationship Type="http://schemas.openxmlformats.org/officeDocument/2006/relationships/notesSlide" Target="/ppt/notesSlides/notesSlide8.xml" Id="R53d6a9d990fe47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c4b4a21c6409d" /><Relationship Type="http://schemas.openxmlformats.org/officeDocument/2006/relationships/image" Target="/ppt/media/image9.png" Id="Rb10bd321834f47eb" /><Relationship Type="http://schemas.openxmlformats.org/officeDocument/2006/relationships/notesSlide" Target="/ppt/notesSlides/notesSlide9.xml" Id="R4e77dac004704a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f7196dbec4a42" /><Relationship Type="http://schemas.openxmlformats.org/officeDocument/2006/relationships/image" Target="/ppt/media/image10.png" Id="Rb475acaa16a0477a" /><Relationship Type="http://schemas.openxmlformats.org/officeDocument/2006/relationships/notesSlide" Target="/ppt/notesSlides/notesSlide10.xml" Id="R1eac25478e3e4b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d71cd26bb4f32" /><Relationship Type="http://schemas.openxmlformats.org/officeDocument/2006/relationships/image" Target="/ppt/media/image11.png" Id="R80e59e0fcc9d4ed2" /><Relationship Type="http://schemas.openxmlformats.org/officeDocument/2006/relationships/notesSlide" Target="/ppt/notesSlides/notesSlide11.xml" Id="R1bb80e381554429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a27b9252b47d5" /><Relationship Type="http://schemas.openxmlformats.org/officeDocument/2006/relationships/image" Target="/ppt/media/image12.png" Id="Rf5fad879474547a1" /><Relationship Type="http://schemas.openxmlformats.org/officeDocument/2006/relationships/notesSlide" Target="/ppt/notesSlides/notesSlide12.xml" Id="Rb01a17621aad4c1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e7f2f43664ad3" /><Relationship Type="http://schemas.openxmlformats.org/officeDocument/2006/relationships/image" Target="/ppt/media/image13.png" Id="Rd0fe11fa5dcd4ef4" /><Relationship Type="http://schemas.openxmlformats.org/officeDocument/2006/relationships/notesSlide" Target="/ppt/notesSlides/notesSlide13.xml" Id="R5cce3082001f4ca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58439590b40b1" /><Relationship Type="http://schemas.openxmlformats.org/officeDocument/2006/relationships/image" Target="/ppt/media/image14.png" Id="R433a7f00dd6c4038" /><Relationship Type="http://schemas.openxmlformats.org/officeDocument/2006/relationships/notesSlide" Target="/ppt/notesSlides/notesSlide14.xml" Id="R56f56bf54bd54cf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8ebbcf3b04031" /><Relationship Type="http://schemas.openxmlformats.org/officeDocument/2006/relationships/image" Target="/ppt/media/image15.png" Id="R67832de5ccc24d23" /><Relationship Type="http://schemas.openxmlformats.org/officeDocument/2006/relationships/notesSlide" Target="/ppt/notesSlides/notesSlide15.xml" Id="Rb013ee50bcf44e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3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829B54-B765-465E-AB4D-5CA63EB9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b641511dde4f04"/>
          <a:stretch xmlns:a="http://schemas.openxmlformats.org/drawingml/2006/main"/>
        </p:blipFill>
        <p:spPr>
          <a:xfrm xmlns:a="http://schemas.openxmlformats.org/drawingml/2006/main">
            <a:off x="801522" y="552450"/>
            <a:ext cx="873457" cy="9144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1E4953-8CE6-4E46-86F3-75D41702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WELCOME TO MY THESIS DEFENSE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E0254-1202-4F21-8129-474AB080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DEEE6"/>
                </a:solidFill>
              </a:defRPr>
            </a:pPr>
            <a:r>
              <a:rPr sz="1800" b="0">
                <a:solidFill>
                  <a:srgbClr val="DDEEE6"/>
                </a:solidFill>
              </a:rPr>
              <a:t>INES Digital Library with Voice Search and Audio Narration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03C5D-1318-4C9D-B632-3B829D6C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57625"/>
            <a:ext cx="5334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4B39"/>
          </a:solidFill>
          <a:ln xmlns:a="http://schemas.openxmlformats.org/drawingml/2006/main" w="9525">
            <a:solidFill>
              <a:srgbClr val="2D715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F3E3B-B1EE-47AE-9B07-E19CD0AE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A044"/>
                </a:solidFill>
              </a:defRPr>
            </a:pPr>
            <a:r>
              <a:rPr sz="1125" b="1">
                <a:solidFill>
                  <a:srgbClr val="C7A044"/>
                </a:solidFill>
              </a:rPr>
              <a:t>System focus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6FE38-7A49-4AD1-862E-DB9FB445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196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A role-based digital library connected to MySQL, PHP APIs, React/Vite, and Python AI speech services.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332C8-CBBB-4E2F-829F-DA59DDE4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006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Presenter: Anne Louange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Institution: INES-Ruhengeri</a:t>
            </a:r>
          </a:p>
        </p:txBody>
      </p:sp>
    </p:spTree>
    <p:extLst>
      <p:ext uri="{BB962C8B-B14F-4D97-AF65-F5344CB8AC3E}">
        <p14:creationId xmlns:p14="http://schemas.microsoft.com/office/powerpoint/2010/main" val="7858945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0B47C0-5F12-4DBC-BE25-FBBB786A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03BC3-1248-47CF-B02A-FF770CB4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73FE83-899A-478C-BFA4-72E0F93F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</a:defRPr>
            </a:pPr>
            <a:r>
              <a:rPr sz="900" b="1">
                <a:solidFill>
                  <a:srgbClr val="0D3D2D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A90D7-B92D-4172-8BA5-929FB9DB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</a:defRPr>
            </a:pPr>
            <a:r>
              <a:rPr sz="2475" b="1">
                <a:solidFill>
                  <a:srgbClr val="18211F"/>
                </a:solidFill>
              </a:rPr>
              <a:t>Current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BC2BA-BCBB-47D5-B913-7C2A62CB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a25ef89fe64079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ABC6D-37DA-4DDF-A0DA-929F56A8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2476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1350C-E23E-4417-B93E-27231F8C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762125"/>
            <a:ext cx="2476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6867EA-ED68-47DC-BCC0-886E42BE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62125"/>
            <a:ext cx="2476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36DE0-3D6C-42C1-B1AE-7908182E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955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3D2D"/>
                </a:solidFill>
              </a:defRPr>
            </a:pPr>
            <a:r>
              <a:rPr sz="1725" b="1">
                <a:solidFill>
                  <a:srgbClr val="0D3D2D"/>
                </a:solidFill>
              </a:rPr>
              <a:t>Manual 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06C64-3264-4F27-B7B7-3BF20A1E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717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Users may depend on shelves, manual records, or typed searching only.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2B1F5A-F61D-4507-8A38-3F82A442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95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3D2D"/>
                </a:solidFill>
              </a:defRPr>
            </a:pPr>
            <a:r>
              <a:rPr sz="1725" b="1">
                <a:solidFill>
                  <a:srgbClr val="0D3D2D"/>
                </a:solidFill>
              </a:rPr>
              <a:t>Limited audio access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ED9A57-3F5D-4410-985F-CFB07CCF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5717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Reading support is mostly visual and not voice-assisted.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B316D5-067B-4073-908D-3B1C3331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95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3D2D"/>
                </a:solidFill>
              </a:defRPr>
            </a:pPr>
            <a:r>
              <a:rPr sz="1725" b="1">
                <a:solidFill>
                  <a:srgbClr val="0D3D2D"/>
                </a:solidFill>
              </a:rPr>
              <a:t>Separated tracking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F1CDA4-9634-4D5D-8143-FEA8F326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717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Borrowing, progress, reviews, and reports need centralized control.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61805D-50B2-4D0B-95E1-A0B762E8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866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11F"/>
                </a:solidFill>
              </a:defRPr>
            </a:pPr>
            <a:r>
              <a:rPr sz="1575" b="0">
                <a:solidFill>
                  <a:srgbClr val="18211F"/>
                </a:solidFill>
              </a:rPr>
              <a:t>This project improves the current approach by combining catalog, users, database records, and AI speech features in one system.</a:t>
            </a:r>
          </a:p>
        </p:txBody>
      </p:sp>
    </p:spTree>
    <p:extLst>
      <p:ext uri="{BB962C8B-B14F-4D97-AF65-F5344CB8AC3E}">
        <p14:creationId xmlns:p14="http://schemas.microsoft.com/office/powerpoint/2010/main" val="7013912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D69B4C-0810-48C9-9CFA-064C3F2E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0234E-02B4-416F-8034-DE0EEA46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83E01-8A0B-4274-9A4E-E7D10962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</a:defRPr>
            </a:pPr>
            <a:r>
              <a:rPr sz="900" b="1">
                <a:solidFill>
                  <a:srgbClr val="0D3D2D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57532-4109-4B5E-AF71-58697391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</a:defRPr>
            </a:pPr>
            <a:r>
              <a:rPr sz="2475" b="1">
                <a:solidFill>
                  <a:srgbClr val="18211F"/>
                </a:solidFill>
              </a:rPr>
              <a:t>Problems Identified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EE6C0-5B56-410B-94B6-2BAB78F4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5eae3eaaad4c56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2BE93-B452-43B8-9F74-E478AD73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46196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3D2D"/>
          </a:solidFill>
          <a:ln xmlns:a="http://schemas.openxmlformats.org/drawingml/2006/main" w="9525">
            <a:solidFill>
              <a:srgbClr val="0D3D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52EC47-E550-479B-B9CF-0BDE9204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7A044"/>
                </a:solidFill>
              </a:defRPr>
            </a:pPr>
            <a:r>
              <a:rPr sz="1800" b="1">
                <a:solidFill>
                  <a:srgbClr val="C7A044"/>
                </a:solidFill>
              </a:rPr>
              <a:t>Slow access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79A773-78CB-4EB3-BA6F-2A09777D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Finding resources can take time when searching is manual or only typed.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807BF1-EFAA-43CA-B5AA-D8F3A98E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46196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29C35C-3B3D-495F-8F5E-FF359CB4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05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3D2D"/>
                </a:solidFill>
              </a:defRPr>
            </a:pPr>
            <a:r>
              <a:rPr sz="1800" b="1">
                <a:solidFill>
                  <a:srgbClr val="0D3D2D"/>
                </a:solidFill>
              </a:rPr>
              <a:t>Accessibility gap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E5E0EF-B7C9-4E58-A7F0-B732DE96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241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Users who prefer listening need audio narration support.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BE0259-63E1-4F89-A748-12D947B3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46196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3E386A-3413-4CA3-B431-50E228F8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24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3D2D"/>
                </a:solidFill>
              </a:defRPr>
            </a:pPr>
            <a:r>
              <a:rPr sz="1800" b="1">
                <a:solidFill>
                  <a:srgbClr val="0D3D2D"/>
                </a:solidFill>
              </a:rPr>
              <a:t>Weak monitoring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BD9FC0-223D-4DCF-9E8A-96E32C14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Activities such as borrowing, reviews, and reports need proper logs.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4AD633-B053-45B5-9787-6CAF49E5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76650"/>
            <a:ext cx="46196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F253E6-B9FA-48C8-9F35-5CF62FB2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24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3D2D"/>
                </a:solidFill>
              </a:defRPr>
            </a:pPr>
            <a:r>
              <a:rPr sz="1800" b="1">
                <a:solidFill>
                  <a:srgbClr val="0D3D2D"/>
                </a:solidFill>
              </a:rPr>
              <a:t>AI reliability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6EF442-8624-4247-8117-5748A8FE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Speech services must be preloaded and tested before live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9180729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3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1B97B2-C6C4-4C7D-9503-79A32B95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9cfbc256074060"/>
          <a:stretch xmlns:a="http://schemas.openxmlformats.org/drawingml/2006/main"/>
        </p:blipFill>
        <p:spPr>
          <a:xfrm xmlns:a="http://schemas.openxmlformats.org/drawingml/2006/main">
            <a:off x="838769" y="590550"/>
            <a:ext cx="837063" cy="8763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1AB6AF-E092-4F9F-A048-09181CBD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TRANSFORMER-BASED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0737A7-6E60-4C23-B227-FF032EED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DEEE6"/>
                </a:solidFill>
              </a:defRPr>
            </a:pPr>
            <a:r>
              <a:rPr sz="1800" b="0">
                <a:solidFill>
                  <a:srgbClr val="DDEEE6"/>
                </a:solidFill>
              </a:rPr>
              <a:t>New system with speech-to-text and text-to-speech support</a:t>
            </a:r>
          </a:p>
        </p:txBody>
      </p:sp>
    </p:spTree>
    <p:extLst>
      <p:ext uri="{BB962C8B-B14F-4D97-AF65-F5344CB8AC3E}">
        <p14:creationId xmlns:p14="http://schemas.microsoft.com/office/powerpoint/2010/main" val="83635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981778-E97A-4C75-9C36-35A11DDA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2DFDCD-ACD3-4510-AA2B-5D07DC05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E36BA-D54E-4398-A0D2-C6E3BAC1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</a:defRPr>
            </a:pPr>
            <a:r>
              <a:rPr sz="900" b="1">
                <a:solidFill>
                  <a:srgbClr val="0D3D2D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D5009-C3EC-4282-AC66-74C5AC69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</a:defRPr>
            </a:pPr>
            <a:r>
              <a:rPr sz="2475" b="1">
                <a:solidFill>
                  <a:srgbClr val="18211F"/>
                </a:solidFill>
              </a:rPr>
              <a:t>New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DF6D4-4645-41C0-BDA2-3B485701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3f566713c14f7e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655AF-2825-47AB-A67B-B09D3518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714625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9A511-2308-4B3C-90C7-9AAC049D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24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3D2D"/>
                </a:solidFill>
              </a:defRPr>
            </a:pPr>
            <a:r>
              <a:rPr sz="1725" b="1">
                <a:solidFill>
                  <a:srgbClr val="0D3D2D"/>
                </a:solidFill>
              </a:rPr>
              <a:t>Frontend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03210B-5889-4FEA-BF49-98D84AEF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431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React + Vite user interface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4DE69C-F1C5-4A78-B3E9-BA46384A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695450"/>
            <a:ext cx="2714625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F2C1F-4044-4AF2-AB45-5715551F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924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3D2D"/>
                </a:solidFill>
              </a:defRPr>
            </a:pPr>
            <a:r>
              <a:rPr sz="1725" b="1">
                <a:solidFill>
                  <a:srgbClr val="0D3D2D"/>
                </a:solidFill>
              </a:rPr>
              <a:t>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46F0D4-02A0-407C-8815-9CD27046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3431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PHP API controls business logic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507F71-C1EA-457C-B7BE-51AAA390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95450"/>
            <a:ext cx="2714625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EF2283-4D32-4C85-8D8F-B8F65FDB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924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3D2D"/>
                </a:solidFill>
              </a:defRPr>
            </a:pPr>
            <a:r>
              <a:rPr sz="1725" b="1">
                <a:solidFill>
                  <a:srgbClr val="0D3D2D"/>
                </a:solidFill>
              </a:rPr>
              <a:t>Database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1A2E8B-C533-4B33-9132-F1027B6D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431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MySQL stores users, books, records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93BB3F-C0CF-47BC-ACCC-DF7EFB12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714625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0D3D2D"/>
          </a:solidFill>
          <a:ln xmlns:a="http://schemas.openxmlformats.org/drawingml/2006/main" w="9525">
            <a:solidFill>
              <a:srgbClr val="0D3D2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993462-1D83-41DC-A163-63B23D99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67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7A044"/>
                </a:solidFill>
              </a:defRPr>
            </a:pPr>
            <a:r>
              <a:rPr sz="1725" b="1">
                <a:solidFill>
                  <a:srgbClr val="C7A044"/>
                </a:solidFill>
              </a:rPr>
              <a:t>AI services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750C76-B0FB-4C87-B5EB-C97DA544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862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FastAPI + PyTorch speech services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02B4D2-72B2-4528-A64A-6E8ADB1C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638550"/>
            <a:ext cx="2714625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9DC8E5-7BC7-4FFA-8F4C-01AE0B53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867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3D2D"/>
                </a:solidFill>
              </a:defRPr>
            </a:pPr>
            <a:r>
              <a:rPr sz="1725" b="1">
                <a:solidFill>
                  <a:srgbClr val="0D3D2D"/>
                </a:solidFill>
              </a:rPr>
              <a:t>Security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7A772A-80FF-48F6-A09C-090BA98B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2862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Token authentication and role access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AE81C0-F7CE-45B7-AD57-81BDEA07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38550"/>
            <a:ext cx="2714625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B78697-5DA2-4DE6-8F38-38ED7E9F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67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3D2D"/>
                </a:solidFill>
              </a:defRPr>
            </a:pPr>
            <a:r>
              <a:rPr sz="1725" b="1">
                <a:solidFill>
                  <a:srgbClr val="0D3D2D"/>
                </a:solidFill>
              </a:rPr>
              <a:t>Demo safety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8B5AA2-28E3-4C32-AF9E-460C42E6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862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Health checks and model preload</a:t>
            </a:r>
          </a:p>
        </p:txBody>
      </p:sp>
    </p:spTree>
    <p:extLst>
      <p:ext uri="{BB962C8B-B14F-4D97-AF65-F5344CB8AC3E}">
        <p14:creationId xmlns:p14="http://schemas.microsoft.com/office/powerpoint/2010/main" val="11943961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BC8134-ED6D-42A7-B9B6-3C7876F3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602D9-DA2C-4C06-916C-7AE9F633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543C5-31B4-409A-A798-D216F4CA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</a:defRPr>
            </a:pPr>
            <a:r>
              <a:rPr sz="900" b="1">
                <a:solidFill>
                  <a:srgbClr val="0D3D2D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FF14E-860C-476F-88BD-7FE60D2F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</a:defRPr>
            </a:pPr>
            <a:r>
              <a:rPr sz="2475" b="1">
                <a:solidFill>
                  <a:srgbClr val="18211F"/>
                </a:solidFill>
              </a:rPr>
              <a:t>Research Objectives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E773BD-3E02-41C1-8979-5EF2747F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901886bf34402d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DBD24-6716-44CC-9CC2-6C50B0BC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3D2D"/>
                </a:solidFill>
              </a:defRPr>
            </a:pPr>
            <a:r>
              <a:rPr sz="1800" b="1">
                <a:solidFill>
                  <a:srgbClr val="0D3D2D"/>
                </a:solidFill>
              </a:rPr>
              <a:t>General objective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992CEA-D4B6-4E19-9168-FD7C9190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11F"/>
                </a:solidFill>
              </a:defRPr>
            </a:pPr>
            <a:r>
              <a:rPr sz="1575" b="0">
                <a:solidFill>
                  <a:srgbClr val="18211F"/>
                </a:solidFill>
              </a:rPr>
              <a:t>To design and implement a digital library system that improves access, management, search, and reading support for academic resources.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ED9AEF-F90B-4BDE-BC44-9C6409C8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3D2D"/>
                </a:solidFill>
              </a:defRPr>
            </a:pPr>
            <a:r>
              <a:rPr sz="1800" b="1">
                <a:solidFill>
                  <a:srgbClr val="0D3D2D"/>
                </a:solidFill>
              </a:rPr>
              <a:t>Specific objectives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31AE1B-0D3F-467D-8D36-042C9BB6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045A40-2EF4-45D0-A2F3-22ECFD08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62350"/>
            <a:ext cx="824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11F"/>
                </a:solidFill>
              </a:defRPr>
            </a:pPr>
            <a:r>
              <a:rPr sz="1425" b="0">
                <a:solidFill>
                  <a:srgbClr val="18211F"/>
                </a:solidFill>
              </a:rPr>
              <a:t>Implement secure login and role-based dashboards.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135673-E611-4FB6-8B38-31E4B5E9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BDBEF9-C698-49BC-B4E4-F52DC95C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19550"/>
            <a:ext cx="824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11F"/>
                </a:solidFill>
              </a:defRPr>
            </a:pPr>
            <a:r>
              <a:rPr sz="1425" b="0">
                <a:solidFill>
                  <a:srgbClr val="18211F"/>
                </a:solidFill>
              </a:rPr>
              <a:t>Manage books, borrowing, reading progress, reviews, and reports.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AFC232-6355-4210-ACE9-1348991D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074C2D-81B0-4A28-B0C8-4B4C0B3B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76750"/>
            <a:ext cx="824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11F"/>
                </a:solidFill>
              </a:defRPr>
            </a:pPr>
            <a:r>
              <a:rPr sz="1425" b="0">
                <a:solidFill>
                  <a:srgbClr val="18211F"/>
                </a:solidFill>
              </a:rPr>
              <a:t>Connect STT voice search and TTS narration to backend APIs.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EFC192-9043-4F05-9348-ACBCDF59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29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C36A98-4057-4708-83CA-5906B467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33950"/>
            <a:ext cx="824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11F"/>
                </a:solidFill>
              </a:defRPr>
            </a:pPr>
            <a:r>
              <a:rPr sz="1425" b="0">
                <a:solidFill>
                  <a:srgbClr val="18211F"/>
                </a:solidFill>
              </a:rPr>
              <a:t>Test the full flow before live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15380201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7C06FD-12FD-48D6-882A-55446EEC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42B22-AB33-4839-A330-0ECA735C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28AF5-1DBF-4978-AF59-32C80EBF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</a:defRPr>
            </a:pPr>
            <a:r>
              <a:rPr sz="900" b="1">
                <a:solidFill>
                  <a:srgbClr val="0D3D2D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6F1560-7530-469D-8877-08AD6AD7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</a:defRPr>
            </a:pPr>
            <a:r>
              <a:rPr sz="2475" b="1">
                <a:solidFill>
                  <a:srgbClr val="18211F"/>
                </a:solidFill>
              </a:rPr>
              <a:t>Methodology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7D5E93-73E6-40E3-A0C8-C2AAF1D5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7b94541514469b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EC182-8D8E-4CA6-BF0F-79FA38FA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3D2D"/>
                </a:solidFill>
              </a:defRPr>
            </a:pPr>
            <a:r>
              <a:rPr sz="1800" b="1">
                <a:solidFill>
                  <a:srgbClr val="0D3D2D"/>
                </a:solidFill>
              </a:rPr>
              <a:t>Agile development 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6F96D0-732F-4685-AE73-BB16A626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D3D2D"/>
          </a:solidFill>
          <a:ln xmlns:a="http://schemas.openxmlformats.org/drawingml/2006/main" w="9525">
            <a:solidFill>
              <a:srgbClr val="0D3D2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3411D-1B89-4C81-8610-FC680C4F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431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7A044"/>
                </a:solidFill>
              </a:defRPr>
            </a:pPr>
            <a:r>
              <a:rPr sz="2325" b="1">
                <a:solidFill>
                  <a:srgbClr val="C7A044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08D2BF-F358-40FC-95B9-7853D16E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81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Collect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E0B47-8058-4778-8DF2-4C847D2A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64795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A0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F4156B-0584-4CA7-98B1-114EE3D1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15265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30A848-5751-4C11-89C9-BB5AA213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3431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D3D2D"/>
                </a:solidFill>
              </a:defRPr>
            </a:pPr>
            <a:r>
              <a:rPr sz="2325" b="1">
                <a:solidFill>
                  <a:srgbClr val="0D3D2D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9E915E-87BE-4050-9EB9-1A66672D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781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1F"/>
                </a:solidFill>
              </a:defRPr>
            </a:pPr>
            <a:r>
              <a:rPr sz="1575" b="1">
                <a:solidFill>
                  <a:srgbClr val="18211F"/>
                </a:solidFill>
              </a:rPr>
              <a:t>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5806BC-9934-44B5-89A4-814BE15F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4795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A0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EEEE57-A675-41B3-9929-ECE26BE8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5265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531070-DD45-45F7-B25C-9C4D2479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431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D3D2D"/>
                </a:solidFill>
              </a:defRPr>
            </a:pPr>
            <a:r>
              <a:rPr sz="2325" b="1">
                <a:solidFill>
                  <a:srgbClr val="0D3D2D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A5ACB5-D347-499F-88B6-4FE13966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1F"/>
                </a:solidFill>
              </a:defRPr>
            </a:pPr>
            <a:r>
              <a:rPr sz="1575" b="1">
                <a:solidFill>
                  <a:srgbClr val="18211F"/>
                </a:solidFill>
              </a:rPr>
              <a:t>Design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0905B9-47D4-4CA8-93BC-767AC85B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4795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A0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95BB3D-DAC8-44A2-B561-DBAFFB97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15265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07A477-322B-4AD0-B885-C1B6C1F0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3431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D3D2D"/>
                </a:solidFill>
              </a:defRPr>
            </a:pPr>
            <a:r>
              <a:rPr sz="2325" b="1">
                <a:solidFill>
                  <a:srgbClr val="0D3D2D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AD4CEB-1F73-4516-A805-5938DC91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781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1F"/>
                </a:solidFill>
              </a:defRPr>
            </a:pPr>
            <a:r>
              <a:rPr sz="1575" b="1">
                <a:solidFill>
                  <a:srgbClr val="18211F"/>
                </a:solidFill>
              </a:rPr>
              <a:t>Develop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E32418-6A0F-4747-8632-01253ED2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A04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504CA6-2DE9-4D59-8F9E-331E86BB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F366E3-3F6E-4F6D-B0D4-D68AFBCB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431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D3D2D"/>
                </a:solidFill>
              </a:defRPr>
            </a:pPr>
            <a:r>
              <a:rPr sz="2325" b="1">
                <a:solidFill>
                  <a:srgbClr val="0D3D2D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3B2D50-8005-4915-A9D0-83595A44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81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1F"/>
                </a:solidFill>
              </a:defRPr>
            </a:pPr>
            <a:r>
              <a:rPr sz="1575" b="1">
                <a:solidFill>
                  <a:srgbClr val="18211F"/>
                </a:solidFill>
              </a:rPr>
              <a:t>Test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9E4605-960D-402C-8891-17C90ACD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4476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EE5795-DA02-415D-BE48-ED649C3D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814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3D2D"/>
                </a:solidFill>
              </a:defRPr>
            </a:pPr>
            <a:r>
              <a:rPr sz="1725" b="1">
                <a:solidFill>
                  <a:srgbClr val="0D3D2D"/>
                </a:solidFill>
              </a:rPr>
              <a:t>Data collection in Chapter 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811489-913B-4309-83F6-73C7697F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00550"/>
            <a:ext cx="3695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Used for requirements gathering: observation, document review, and user needs. Results belong in Chapter 4 only if real responses were collected.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21FDC8-E91C-4DE7-8386-39EDA08E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4476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9393BD-2257-4BFD-B071-5FD5F279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81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94D43"/>
                </a:solidFill>
              </a:defRPr>
            </a:pPr>
            <a:r>
              <a:rPr sz="1725" b="1">
                <a:solidFill>
                  <a:srgbClr val="A94D43"/>
                </a:solidFill>
              </a:rPr>
              <a:t>Validation scope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D8E49F-BB01-465D-8C61-1333D248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005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System testing and live acceptance testing are the verified results. Do not claim survey results without questionnaire/interview evidence.</a:t>
            </a:r>
          </a:p>
        </p:txBody>
      </p:sp>
    </p:spTree>
    <p:extLst>
      <p:ext uri="{BB962C8B-B14F-4D97-AF65-F5344CB8AC3E}">
        <p14:creationId xmlns:p14="http://schemas.microsoft.com/office/powerpoint/2010/main" val="16926218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7986E1-E83A-4F75-B12E-B3FE65E5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D7906-64FC-4E3A-93D2-E9130F27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3CCF6-996D-43B9-8B9F-CF5B6343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</a:defRPr>
            </a:pPr>
            <a:r>
              <a:rPr sz="900" b="1">
                <a:solidFill>
                  <a:srgbClr val="0D3D2D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0FD3F-17C6-4E15-B05E-24141F90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</a:defRPr>
            </a:pPr>
            <a:r>
              <a:rPr sz="2475" b="1">
                <a:solidFill>
                  <a:srgbClr val="18211F"/>
                </a:solidFill>
              </a:rPr>
              <a:t>Authentication and User Access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8C2C1B-C0BC-484A-8C6E-E852719D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12c63b30e34030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0D0D6-238F-485D-BCB1-E974344B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71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1F2665-6690-43E5-9699-D5EE566B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76400"/>
            <a:ext cx="7772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Login is submitted from React through frontend/src/api/auth.js.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3A8246-38D6-4AB2-A97B-0B2B89B0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B184E-69C7-48E1-961A-0D362381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33600"/>
            <a:ext cx="7772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The PHP backend verifies the password using password_verify().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7A78D-8611-493D-A27C-159A2F77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0C4CEC-DCD6-4B9E-B7FC-63CF7457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90800"/>
            <a:ext cx="7772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A random token is generated, hashed, and stored in users.api_token_hash.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A695D5-4E28-4352-AF94-67706E6C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96C4E5-37C6-4857-BCC3-7A15E455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7772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React stores the raw token as ines_token and sends it as a Bearer token.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C2DF3D-D248-4C91-9B95-2F7D5E9F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01E9EF-209D-4457-93E0-934AC94E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05200"/>
            <a:ext cx="7772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ProtectedRoute and PHP role middleware restrict student, lecturer, and admin pages.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2BD62A-B56D-4A9E-AF2A-E3609AC3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81200"/>
            <a:ext cx="2000250" cy="233362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3D2D"/>
          </a:solidFill>
          <a:ln xmlns:a="http://schemas.openxmlformats.org/drawingml/2006/main" w="9525">
            <a:solidFill>
              <a:srgbClr val="0D3D2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EEE1E2-ADD1-423B-86B3-B6C43A5B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05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7A044"/>
                </a:solidFill>
              </a:defRPr>
            </a:pPr>
            <a:r>
              <a:rPr sz="1725" b="1">
                <a:solidFill>
                  <a:srgbClr val="C7A044"/>
                </a:solidFill>
              </a:rPr>
              <a:t>Key point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79204C-BF30-4488-9BEC-281D9B4F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19400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The database stores the hashed token, not the raw session token.</a:t>
            </a:r>
          </a:p>
        </p:txBody>
      </p:sp>
    </p:spTree>
    <p:extLst>
      <p:ext uri="{BB962C8B-B14F-4D97-AF65-F5344CB8AC3E}">
        <p14:creationId xmlns:p14="http://schemas.microsoft.com/office/powerpoint/2010/main" val="15235097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3DCC1B-BFDF-4BCC-9BC4-5C6BDDC2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C27208-7256-4C71-B183-6F9A3198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20F2C-C8C8-4D20-8DC9-1626FE00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</a:defRPr>
            </a:pPr>
            <a:r>
              <a:rPr sz="900" b="1">
                <a:solidFill>
                  <a:srgbClr val="0D3D2D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050F8-197F-44C0-AF24-BBE56CB7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</a:defRPr>
            </a:pPr>
            <a:r>
              <a:rPr sz="2475" b="1">
                <a:solidFill>
                  <a:srgbClr val="18211F"/>
                </a:solidFill>
              </a:rPr>
              <a:t>Speech Connection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7A3C3-27BD-4CD1-ABA0-C68A6D31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bd321834f47eb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403AF-756D-4031-B919-2FD92A78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619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20FE8-4B1F-4966-8208-FF1F2A0F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3D2D"/>
                </a:solidFill>
              </a:defRPr>
            </a:pPr>
            <a:r>
              <a:rPr sz="1575" b="1">
                <a:solidFill>
                  <a:srgbClr val="0D3D2D"/>
                </a:solidFill>
              </a:rPr>
              <a:t>Frontend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B420FC-F854-4AC7-B893-91894A12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121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8211F"/>
                </a:solidFill>
              </a:defRPr>
            </a:pPr>
            <a:r>
              <a:rPr sz="1200" b="0">
                <a:solidFill>
                  <a:srgbClr val="18211F"/>
                </a:solidFill>
              </a:rPr>
              <a:t>Microphone or play button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E5C2D8-14EA-4248-9394-51A1EE67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384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A0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974BBD-035A-4B33-A738-DFEEAE5C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43125"/>
            <a:ext cx="1619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A16EB7-E7BC-42BF-9839-91115BE0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812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3D2D"/>
                </a:solidFill>
              </a:defRPr>
            </a:pPr>
            <a:r>
              <a:rPr sz="1575" b="1">
                <a:solidFill>
                  <a:srgbClr val="0D3D2D"/>
                </a:solidFill>
              </a:rPr>
              <a:t>PHP backend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6B737E-63C9-4DD5-8BA1-E69896B6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38450"/>
            <a:ext cx="121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8211F"/>
                </a:solidFill>
              </a:defRPr>
            </a:pPr>
            <a:r>
              <a:rPr sz="1200" b="0">
                <a:solidFill>
                  <a:srgbClr val="18211F"/>
                </a:solidFill>
              </a:rPr>
              <a:t>Validates request and calls speech service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F9622F-C50E-4DDB-84E6-03315066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384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A04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44A390-99F4-4E8A-86B4-3D27852F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143125"/>
            <a:ext cx="1619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61F069-4F69-4193-BCA5-DA8B0076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812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3D2D"/>
                </a:solidFill>
              </a:defRPr>
            </a:pPr>
            <a:r>
              <a:rPr sz="1575" b="1">
                <a:solidFill>
                  <a:srgbClr val="0D3D2D"/>
                </a:solidFill>
              </a:rPr>
              <a:t>FastAPI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241C2D-905A-41BE-8941-A24E660A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38450"/>
            <a:ext cx="121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8211F"/>
                </a:solidFill>
              </a:defRPr>
            </a:pPr>
            <a:r>
              <a:rPr sz="1200" b="0">
                <a:solidFill>
                  <a:srgbClr val="18211F"/>
                </a:solidFill>
              </a:rPr>
              <a:t>Receives audio/text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65EEF4-76A0-4A25-B364-D7754FEA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384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A0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555205-1960-4717-8F81-CBFEEA3A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143125"/>
            <a:ext cx="1619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3D2D"/>
          </a:solidFill>
          <a:ln xmlns:a="http://schemas.openxmlformats.org/drawingml/2006/main" w="9525">
            <a:solidFill>
              <a:srgbClr val="0D3D2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4CDEE4-93CD-4B08-879F-B425D6D7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812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7A044"/>
                </a:solidFill>
              </a:defRPr>
            </a:pPr>
            <a:r>
              <a:rPr sz="1575" b="1">
                <a:solidFill>
                  <a:srgbClr val="C7A044"/>
                </a:solidFill>
              </a:rPr>
              <a:t>PyTorch model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1E5862-22AB-4A3D-8FF6-6A3CDED4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38450"/>
            <a:ext cx="121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Runs Wav2Vec2, SpeechT5, or gTTS fallback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336667-A7BD-4D51-B9AA-6054B2AF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384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A0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4F77A9-339B-4A19-8B4D-9DE613EF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43125"/>
            <a:ext cx="1619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04D221-D96B-42C7-B02F-804BA96F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812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3D2D"/>
                </a:solidFill>
              </a:defRPr>
            </a:pPr>
            <a:r>
              <a:rPr sz="1575" b="1">
                <a:solidFill>
                  <a:srgbClr val="0D3D2D"/>
                </a:solidFill>
              </a:rPr>
              <a:t>Frontend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8D6E3F-8D57-4C99-A6C7-CBED38E3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38450"/>
            <a:ext cx="121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8211F"/>
                </a:solidFill>
              </a:defRPr>
            </a:pPr>
            <a:r>
              <a:rPr sz="1200" b="0">
                <a:solidFill>
                  <a:srgbClr val="18211F"/>
                </a:solidFill>
              </a:rPr>
              <a:t>Shows text or plays audio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C8B659-5F69-4FE0-9DF9-5FA61AFA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Why it can delay: first model load, CPU speed, long page text, audio conversion, network for gTTS, or Python service not already warm.</a:t>
            </a:r>
          </a:p>
        </p:txBody>
      </p:sp>
    </p:spTree>
    <p:extLst>
      <p:ext uri="{BB962C8B-B14F-4D97-AF65-F5344CB8AC3E}">
        <p14:creationId xmlns:p14="http://schemas.microsoft.com/office/powerpoint/2010/main" val="7218583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1AE187-92E3-412D-8000-A76CD7C6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666798-3A9A-451A-92CF-560F78EC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28EB9F-D2EA-4E0D-9CC0-42730B89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</a:defRPr>
            </a:pPr>
            <a:r>
              <a:rPr sz="900" b="1">
                <a:solidFill>
                  <a:srgbClr val="0D3D2D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B3046-54E1-4D56-858E-7619A40D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</a:defRPr>
            </a:pPr>
            <a:r>
              <a:rPr sz="2475" b="1">
                <a:solidFill>
                  <a:srgbClr val="18211F"/>
                </a:solidFill>
              </a:rPr>
              <a:t>Python Libraries and PyTorch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DA9B0-AB20-44AE-801A-165E71A6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75acaa16a0477a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5D79A-7050-45D1-A01D-FC033ECC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9810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8343F9-0339-429F-BFBD-512FDB30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954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3D2D"/>
                </a:solidFill>
              </a:defRPr>
            </a:pPr>
            <a:r>
              <a:rPr sz="1350" b="1">
                <a:solidFill>
                  <a:srgbClr val="0D3D2D"/>
                </a:solidFill>
              </a:rPr>
              <a:t>PyTorch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CE96F-F485-4D7D-8EC0-0E367881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954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1F"/>
                </a:solidFill>
              </a:defRPr>
            </a:pPr>
            <a:r>
              <a:rPr sz="1275" b="0">
                <a:solidFill>
                  <a:srgbClr val="18211F"/>
                </a:solidFill>
              </a:rPr>
              <a:t>Runs transformer neural networks for STT/TTS inference and testing.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D8D6B6-4C32-466D-BC79-CB1E674E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9810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10B58F-B48D-46CE-AF07-456C9789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193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3D2D"/>
                </a:solidFill>
              </a:defRPr>
            </a:pPr>
            <a:r>
              <a:rPr sz="1350" b="1">
                <a:solidFill>
                  <a:srgbClr val="0D3D2D"/>
                </a:solidFill>
              </a:rPr>
              <a:t>Transformers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FFD8B6-7BF3-4CDC-93B3-5CD9A5AA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193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1F"/>
                </a:solidFill>
              </a:defRPr>
            </a:pPr>
            <a:r>
              <a:rPr sz="1275" b="0">
                <a:solidFill>
                  <a:srgbClr val="18211F"/>
                </a:solidFill>
              </a:rPr>
              <a:t>Loads Wav2Vec2, SpeechT5, processors, and vocoder models.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27A7B4-6D27-4EF1-A187-545E5F31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9810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214F7A-5C99-4B07-996B-5DFE19FD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3D2D"/>
                </a:solidFill>
              </a:defRPr>
            </a:pPr>
            <a:r>
              <a:rPr sz="1350" b="1">
                <a:solidFill>
                  <a:srgbClr val="0D3D2D"/>
                </a:solidFill>
              </a:rPr>
              <a:t>FastAPI + Uvicorn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E560C6-2B93-43BA-8B94-4BD14367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432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1F"/>
                </a:solidFill>
              </a:defRPr>
            </a:pPr>
            <a:r>
              <a:rPr sz="1275" b="0">
                <a:solidFill>
                  <a:srgbClr val="18211F"/>
                </a:solidFill>
              </a:rPr>
              <a:t>Expose Python speech models as HTTP services.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8DBD7D-4E41-4BEF-A369-98B8DD01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9810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AA6FC3-0813-4E85-AD1D-0880C814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671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3D2D"/>
                </a:solidFill>
              </a:defRPr>
            </a:pPr>
            <a:r>
              <a:rPr sz="1350" b="1">
                <a:solidFill>
                  <a:srgbClr val="0D3D2D"/>
                </a:solidFill>
              </a:rPr>
              <a:t>Librosa, NumPy, SoundFile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A3A104-FF63-4117-A3BF-D47B26A0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671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1F"/>
                </a:solidFill>
              </a:defRPr>
            </a:pPr>
            <a:r>
              <a:rPr sz="1275" b="0">
                <a:solidFill>
                  <a:srgbClr val="18211F"/>
                </a:solidFill>
              </a:rPr>
              <a:t>Prepare audio: load, resample, normalize, and save waveforms.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0742C2-EA71-4ED9-83D7-D5BBF9BB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9810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3159A1-A864-43AD-90AE-F092FEA8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910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3D2D"/>
                </a:solidFill>
              </a:defRPr>
            </a:pPr>
            <a:r>
              <a:rPr sz="1350" b="1">
                <a:solidFill>
                  <a:srgbClr val="0D3D2D"/>
                </a:solidFill>
              </a:rPr>
              <a:t>gTTS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54C67A-51E7-4FCA-804C-41E7E9EE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91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1F"/>
                </a:solidFill>
              </a:defRPr>
            </a:pPr>
            <a:r>
              <a:rPr sz="1275" b="0">
                <a:solidFill>
                  <a:srgbClr val="18211F"/>
                </a:solidFill>
              </a:rPr>
              <a:t>Provides clearer Google text-to-speech fallback when internet is available.</a:t>
            </a:r>
          </a:p>
        </p:txBody>
      </p:sp>
    </p:spTree>
    <p:extLst>
      <p:ext uri="{BB962C8B-B14F-4D97-AF65-F5344CB8AC3E}">
        <p14:creationId xmlns:p14="http://schemas.microsoft.com/office/powerpoint/2010/main" val="6617059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A9064E-005A-41CB-A236-944E4AD2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46BC8-9146-4670-8B4A-50D45E99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CA68C-4FA8-48CB-94A6-8B3AD8A7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</a:defRPr>
            </a:pPr>
            <a:r>
              <a:rPr sz="900" b="1">
                <a:solidFill>
                  <a:srgbClr val="0D3D2D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7DF51-ABC2-4C5F-8B30-0785D2EA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</a:defRPr>
            </a:pPr>
            <a:r>
              <a:rPr sz="2475" b="1">
                <a:solidFill>
                  <a:srgbClr val="18211F"/>
                </a:solidFill>
              </a:rPr>
              <a:t>Technologies Used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094AE-C26D-4F37-9AF7-514DB2C9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e59e0fcc9d4ed2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17A0A-555A-4B27-B4C4-0F6A6A36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860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81E522-AD9D-4792-A5DA-326BB6AF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24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3D2D"/>
                </a:solidFill>
              </a:defRPr>
            </a:pPr>
            <a:r>
              <a:rPr sz="1650" b="1">
                <a:solidFill>
                  <a:srgbClr val="0D3D2D"/>
                </a:solidFill>
              </a:rPr>
              <a:t>Frontend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2852A6-E497-4DB7-ADA8-F0000E10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React, Vite, CSS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957E88-CFC0-4AF2-99CE-344E27A5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695450"/>
            <a:ext cx="26860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D3D2D"/>
          </a:solidFill>
          <a:ln xmlns:a="http://schemas.openxmlformats.org/drawingml/2006/main" w="9525">
            <a:solidFill>
              <a:srgbClr val="0D3D2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4DC82-6C15-4D88-B344-D39AD7DF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924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7A044"/>
                </a:solidFill>
              </a:defRPr>
            </a:pPr>
            <a:r>
              <a:rPr sz="1650" b="1">
                <a:solidFill>
                  <a:srgbClr val="C7A044"/>
                </a:solidFill>
              </a:rPr>
              <a:t>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2DA0D3-E930-41F5-AF9D-84D6370A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305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PHP API, PDO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29F3CF-ED50-4EAF-9698-642B7F0B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95450"/>
            <a:ext cx="26860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9FBEAA-887F-46DD-8E3C-675CB799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924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3D2D"/>
                </a:solidFill>
              </a:defRPr>
            </a:pPr>
            <a:r>
              <a:rPr sz="1650" b="1">
                <a:solidFill>
                  <a:srgbClr val="0D3D2D"/>
                </a:solidFill>
              </a:rPr>
              <a:t>Database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AC9C74-A35C-44B9-8FE3-9D2B767C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05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MySQL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6218E7-0158-4C54-85A7-A57197C5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6860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4E7A88-1A73-47CA-A757-F9E3C6A5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71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3D2D"/>
                </a:solidFill>
              </a:defRPr>
            </a:pPr>
            <a:r>
              <a:rPr sz="1650" b="1">
                <a:solidFill>
                  <a:srgbClr val="0D3D2D"/>
                </a:solidFill>
              </a:rPr>
              <a:t>AI services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034B6E-3B2E-4862-9BAF-4AF5AA40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52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Python, FastAPI, PyTorch, Transformers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9F336A-ED00-475A-B6B8-5B02D812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43300"/>
            <a:ext cx="26860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BEB3EF-D38B-4C63-B5BB-B4E317DB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771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3D2D"/>
                </a:solidFill>
              </a:defRPr>
            </a:pPr>
            <a:r>
              <a:rPr sz="1650" b="1">
                <a:solidFill>
                  <a:srgbClr val="0D3D2D"/>
                </a:solidFill>
              </a:rPr>
              <a:t>Speech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7C3F0E-1BA6-48D3-8AFE-277C88B8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152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Wav2Vec2, SpeechT5, gTTS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F1F527-7EC8-4135-B539-5C297AFF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43300"/>
            <a:ext cx="26860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C5F08C-CB8F-4C6C-8525-6AD0D080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71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3D2D"/>
                </a:solidFill>
              </a:defRPr>
            </a:pPr>
            <a:r>
              <a:rPr sz="1650" b="1">
                <a:solidFill>
                  <a:srgbClr val="0D3D2D"/>
                </a:solidFill>
              </a:rPr>
              <a:t>Local server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B8A4EF-C1D4-48D8-B9E4-48E4DDD6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52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XAMPP</a:t>
            </a:r>
          </a:p>
        </p:txBody>
      </p:sp>
    </p:spTree>
    <p:extLst>
      <p:ext uri="{BB962C8B-B14F-4D97-AF65-F5344CB8AC3E}">
        <p14:creationId xmlns:p14="http://schemas.microsoft.com/office/powerpoint/2010/main" val="21054758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BF19A1-6A5E-4461-8B3E-76812212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4D85F-63E6-4922-A4EF-1376A337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515C5-96BB-48C5-869C-BE43A51D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</a:defRPr>
            </a:pPr>
            <a:r>
              <a:rPr sz="900" b="1">
                <a:solidFill>
                  <a:srgbClr val="0D3D2D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D7D1C-70CE-460E-98F5-90A329DE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</a:defRPr>
            </a:pPr>
            <a:r>
              <a:rPr sz="2475" b="1">
                <a:solidFill>
                  <a:srgbClr val="18211F"/>
                </a:solidFill>
              </a:rPr>
              <a:t>Live Demo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F9C5A4-75C2-49CE-8A81-292BE48C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fad879474547a1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22AD67-AF19-4977-B102-2EBA8D26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264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0A770-7B9C-4CB5-8BE0-A020F0C2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D3D2D"/>
                </a:solidFill>
              </a:defRPr>
            </a:pPr>
            <a:r>
              <a:rPr sz="2250" b="1">
                <a:solidFill>
                  <a:srgbClr val="0D3D2D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B9D07C-676A-400A-AC3B-4F4F7C84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145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11F"/>
                </a:solidFill>
              </a:defRPr>
            </a:pPr>
            <a:r>
              <a:rPr sz="1500" b="1">
                <a:solidFill>
                  <a:srgbClr val="18211F"/>
                </a:solidFill>
              </a:rPr>
              <a:t>Login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874480-A41E-4C56-B019-6C08B0D2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790700"/>
            <a:ext cx="264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3D2D"/>
          </a:solidFill>
          <a:ln xmlns:a="http://schemas.openxmlformats.org/drawingml/2006/main" w="9525">
            <a:solidFill>
              <a:srgbClr val="0D3D2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F6DC84-DFD0-43F3-95C3-D22F50C7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0383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7A044"/>
                </a:solidFill>
              </a:defRPr>
            </a:pPr>
            <a:r>
              <a:rPr sz="2250" b="1">
                <a:solidFill>
                  <a:srgbClr val="C7A044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2E3E0-D34E-4CC8-806F-F29AB626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1145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Frontend pages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D5D81E-6C84-4B0F-BF75-87AADA8F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90700"/>
            <a:ext cx="264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589C63-B9A0-46B6-BA27-BD3EB193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383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D3D2D"/>
                </a:solidFill>
              </a:defRPr>
            </a:pPr>
            <a:r>
              <a:rPr sz="2250" b="1">
                <a:solidFill>
                  <a:srgbClr val="0D3D2D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9D8593-128A-41B1-9EC2-7D87B557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145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11F"/>
                </a:solidFill>
              </a:defRPr>
            </a:pPr>
            <a:r>
              <a:rPr sz="1500" b="1">
                <a:solidFill>
                  <a:srgbClr val="18211F"/>
                </a:solidFill>
              </a:rPr>
              <a:t>Backend health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4C6D0D-82B3-42CE-87CE-B36997F2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264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1A4F27-F7D6-45BB-A41B-0588B3A9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D3D2D"/>
                </a:solidFill>
              </a:defRPr>
            </a:pPr>
            <a:r>
              <a:rPr sz="2250" b="1">
                <a:solidFill>
                  <a:srgbClr val="0D3D2D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FF1F2F-F9D8-46E7-A8E8-E17FC95E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57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11F"/>
                </a:solidFill>
              </a:defRPr>
            </a:pPr>
            <a:r>
              <a:rPr sz="1500" b="1">
                <a:solidFill>
                  <a:srgbClr val="18211F"/>
                </a:solidFill>
              </a:rPr>
              <a:t>Database tables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759782-94F6-47A0-90CA-D4C81F58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733800"/>
            <a:ext cx="264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2EB99F-E7E3-457D-955B-05D29679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9814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D3D2D"/>
                </a:solidFill>
              </a:defRPr>
            </a:pPr>
            <a:r>
              <a:rPr sz="2250" b="1">
                <a:solidFill>
                  <a:srgbClr val="0D3D2D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A83903-BA65-405E-AA69-1DB06234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057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11F"/>
                </a:solidFill>
              </a:defRPr>
            </a:pPr>
            <a:r>
              <a:rPr sz="1500" b="1">
                <a:solidFill>
                  <a:srgbClr val="18211F"/>
                </a:solidFill>
              </a:rPr>
              <a:t>Voice 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4ED0AC-BD6D-45AC-876C-B9194117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33800"/>
            <a:ext cx="264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C1CEF3-4729-427D-9C01-1011DD1E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9814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D3D2D"/>
                </a:solidFill>
              </a:defRPr>
            </a:pPr>
            <a:r>
              <a:rPr sz="2250" b="1">
                <a:solidFill>
                  <a:srgbClr val="0D3D2D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DA4E25-DFE7-452A-BB97-E3FAE543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57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11F"/>
                </a:solidFill>
              </a:defRPr>
            </a:pPr>
            <a:r>
              <a:rPr sz="1500" b="1">
                <a:solidFill>
                  <a:srgbClr val="18211F"/>
                </a:solidFill>
              </a:rPr>
              <a:t>Play narration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9147A0-12B2-4E45-861D-78F86EF2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11F"/>
                </a:solidFill>
              </a:defRPr>
            </a:pPr>
            <a:r>
              <a:rPr sz="1425" b="0">
                <a:solidFill>
                  <a:srgbClr val="18211F"/>
                </a:solidFill>
              </a:rPr>
              <a:t>Show frontend as the visible React/Vite pages, backend as the PHP health/API behavior, and database as MySQL tables in phpMyAdmin.</a:t>
            </a:r>
          </a:p>
        </p:txBody>
      </p:sp>
    </p:spTree>
    <p:extLst>
      <p:ext uri="{BB962C8B-B14F-4D97-AF65-F5344CB8AC3E}">
        <p14:creationId xmlns:p14="http://schemas.microsoft.com/office/powerpoint/2010/main" val="15676608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FFC055-87D9-4D9B-9A30-32E36840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ECB7C-7FD0-49E9-B860-8C215B0A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1D6C1-1CD8-4B0A-8332-162CC8B2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</a:defRPr>
            </a:pPr>
            <a:r>
              <a:rPr sz="900" b="1">
                <a:solidFill>
                  <a:srgbClr val="0D3D2D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DD8D4-21A1-467A-8260-7B9EEC15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</a:defRPr>
            </a:pPr>
            <a:r>
              <a:rPr sz="2475" b="1">
                <a:solidFill>
                  <a:srgbClr val="18211F"/>
                </a:solidFill>
              </a:rPr>
              <a:t>Conclusion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7509D8-6A83-460A-901A-309C2FCB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e11fa5dcd4ef4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98C67B-C010-442D-8725-0E011769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4F8805-7D28-4DB3-ACC6-7759AA0B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95450"/>
            <a:ext cx="815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The project implements a working digital library for academic resource access.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15D1AD-708D-4C1B-B57C-CD580BA5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22A700-09DE-4F0B-813D-92076DAE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19325"/>
            <a:ext cx="815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Authentication connects frontend users to backend permissions and database records.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D22268-49E3-4138-AD34-F3D1A5EB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011F32-3DDF-450C-B47A-2F4BF823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43200"/>
            <a:ext cx="815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STT and TTS are connected through backend-controlled Python AI services.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760ABE-0A00-4841-B5B2-51DAAB9D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62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D8C65B-B327-4836-8D1E-7AEA8666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67075"/>
            <a:ext cx="815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Testing must cover login, database, search, reader, STT, TTS, and health checks.</a:t>
            </a:r>
          </a:p>
        </p:txBody>
      </p:sp>
    </p:spTree>
    <p:extLst>
      <p:ext uri="{BB962C8B-B14F-4D97-AF65-F5344CB8AC3E}">
        <p14:creationId xmlns:p14="http://schemas.microsoft.com/office/powerpoint/2010/main" val="17313941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B94051-6464-4EFC-9B64-191C86A6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EB8E10-B01C-4FE6-A159-8FD859BB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1E251-8A35-4EDF-AA5E-A51A191A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</a:defRPr>
            </a:pPr>
            <a:r>
              <a:rPr sz="900" b="1">
                <a:solidFill>
                  <a:srgbClr val="0D3D2D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E52C42-40C4-43D3-A001-D263BDF8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</a:defRPr>
            </a:pPr>
            <a:r>
              <a:rPr sz="2475" b="1">
                <a:solidFill>
                  <a:srgbClr val="18211F"/>
                </a:solidFill>
              </a:rPr>
              <a:t>Recommendations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7FCDF-F143-40E6-B6E1-0A8FDF20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a7f00dd6c4038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47302D-9925-4F1E-ABBF-D0D1BB54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C55E9-8DEC-47D5-A125-9EEA9BD2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95450"/>
            <a:ext cx="8343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Deploy on a server that supports PHP, MySQL, and persistent Python FastAPI services.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269DA1-82C0-4793-A6EC-29AB4070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474A2B-898B-4607-BBAB-EB61734E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28850"/>
            <a:ext cx="8343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Improve TTS quality with better text cleaning, chunking, and a stronger production voice.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3E874B-81C9-4846-A761-A2712C70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3F9887-E0D3-40E0-8A56-993B4CA4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8343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Add full questionnaire/interview appendices if user validation is claimed.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7B91D2-77BB-42E7-BC87-B910E912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4CFD3E-97EA-4625-A135-D6B32C68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95650"/>
            <a:ext cx="8343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Add mobile support and multilingual speech support in future work.</a:t>
            </a:r>
          </a:p>
        </p:txBody>
      </p:sp>
    </p:spTree>
    <p:extLst>
      <p:ext uri="{BB962C8B-B14F-4D97-AF65-F5344CB8AC3E}">
        <p14:creationId xmlns:p14="http://schemas.microsoft.com/office/powerpoint/2010/main" val="14406612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D3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4450A0-43CB-495D-9517-CE77095C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832de5ccc24d23"/>
          <a:stretch xmlns:a="http://schemas.openxmlformats.org/drawingml/2006/main"/>
        </p:blipFill>
        <p:spPr>
          <a:xfrm xmlns:a="http://schemas.openxmlformats.org/drawingml/2006/main">
            <a:off x="838769" y="590550"/>
            <a:ext cx="837063" cy="8763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08002-9BA4-4319-8652-BCD6E9B0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69E1A-C5A8-4C8D-BB5F-A1725DCF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DEEE6"/>
                </a:solidFill>
              </a:defRPr>
            </a:pPr>
            <a:r>
              <a:rPr sz="1950" b="0">
                <a:solidFill>
                  <a:srgbClr val="DDEEE6"/>
                </a:solidFill>
              </a:rPr>
              <a:t>Questions and answers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02DF6-C10E-4D48-A1E4-07F960FA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76450"/>
            <a:ext cx="28575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74B39"/>
          </a:solidFill>
          <a:ln xmlns:a="http://schemas.openxmlformats.org/drawingml/2006/main" w="9525">
            <a:solidFill>
              <a:srgbClr val="2D715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E66F5-8E36-4A6A-8B48-CD70F53C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3812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7A044"/>
                </a:solidFill>
              </a:defRPr>
            </a:pPr>
            <a:r>
              <a:rPr sz="1650" b="1">
                <a:solidFill>
                  <a:srgbClr val="C7A044"/>
                </a:solidFill>
              </a:rPr>
              <a:t>Defense reminder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D36D6-02F4-44C3-9092-28F682BC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8765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Answer using real project files, real services, and tested behavior.</a:t>
            </a:r>
          </a:p>
        </p:txBody>
      </p:sp>
    </p:spTree>
    <p:extLst>
      <p:ext uri="{BB962C8B-B14F-4D97-AF65-F5344CB8AC3E}">
        <p14:creationId xmlns:p14="http://schemas.microsoft.com/office/powerpoint/2010/main" val="2679663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2026-06-18T11:45:34.0680000Z</dcterms:created>
  <dcterms:modified xsi:type="dcterms:W3CDTF">2026-06-18T11:45:34.0680000Z</dcterms:modified>
</coreProperties>
</file>