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c8923ed497422b" /><Relationship Type="http://schemas.openxmlformats.org/officeDocument/2006/relationships/extended-properties" Target="/docProps/app.xml" Id="Rb6f0baed5216475a" /><Relationship Type="http://schemas.openxmlformats.org/officeDocument/2006/relationships/officeDocument" Target="/ppt/presentation.xml" Id="R19546a530cc54b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1102f1ab434ffd"/>
  </p:sldMasterIdLst>
  <p:notesMasterIdLst>
    <p:notesMasterId xmlns:r="http://schemas.openxmlformats.org/officeDocument/2006/relationships" r:id="R2bfdf93082ed42ee"/>
  </p:notesMasterIdLst>
  <p:sldIdLst>
    <p:sldId xmlns:r="http://schemas.openxmlformats.org/officeDocument/2006/relationships" id="256" r:id="R8a497d60d5704414"/>
    <p:sldId xmlns:r="http://schemas.openxmlformats.org/officeDocument/2006/relationships" id="257" r:id="Rbce8bc6bb2f0463c"/>
    <p:sldId xmlns:r="http://schemas.openxmlformats.org/officeDocument/2006/relationships" id="258" r:id="R65304b0c8346440c"/>
    <p:sldId xmlns:r="http://schemas.openxmlformats.org/officeDocument/2006/relationships" id="259" r:id="Rde1a6b7b1b344ab4"/>
    <p:sldId xmlns:r="http://schemas.openxmlformats.org/officeDocument/2006/relationships" id="260" r:id="Re32e090b55c6414b"/>
    <p:sldId xmlns:r="http://schemas.openxmlformats.org/officeDocument/2006/relationships" id="261" r:id="R36e45f788a2b4536"/>
    <p:sldId xmlns:r="http://schemas.openxmlformats.org/officeDocument/2006/relationships" id="262" r:id="R3d0d337c7b4c4c0c"/>
    <p:sldId xmlns:r="http://schemas.openxmlformats.org/officeDocument/2006/relationships" id="263" r:id="R5860ca4a83a847e9"/>
    <p:sldId xmlns:r="http://schemas.openxmlformats.org/officeDocument/2006/relationships" id="264" r:id="R62ff49555fe247ad"/>
    <p:sldId xmlns:r="http://schemas.openxmlformats.org/officeDocument/2006/relationships" id="265" r:id="R3c0afaecf495423d"/>
    <p:sldId xmlns:r="http://schemas.openxmlformats.org/officeDocument/2006/relationships" id="266" r:id="R600b8a0b90cf4557"/>
    <p:sldId xmlns:r="http://schemas.openxmlformats.org/officeDocument/2006/relationships" id="267" r:id="R8a9e42e414f9465b"/>
    <p:sldId xmlns:r="http://schemas.openxmlformats.org/officeDocument/2006/relationships" id="268" r:id="R682edc5c27ae40ee"/>
    <p:sldId xmlns:r="http://schemas.openxmlformats.org/officeDocument/2006/relationships" id="269" r:id="R2bd2c02b32f44793"/>
    <p:sldId xmlns:r="http://schemas.openxmlformats.org/officeDocument/2006/relationships" id="270" r:id="Rcd0410a2d6d446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ab802c33ff46a3" /><Relationship Type="http://schemas.openxmlformats.org/officeDocument/2006/relationships/slideMaster" Target="/ppt/slideMasters/slideMaster1.xml" Id="Rbe1102f1ab434ffd" /><Relationship Type="http://schemas.openxmlformats.org/officeDocument/2006/relationships/notesMaster" Target="/ppt/notesMasters/notesMaster1.xml" Id="R2bfdf93082ed42ee" /><Relationship Type="http://schemas.openxmlformats.org/officeDocument/2006/relationships/presProps" Target="/ppt/presProps.xml" Id="R73b0f8057a2b457a" /><Relationship Type="http://schemas.openxmlformats.org/officeDocument/2006/relationships/tableStyles" Target="/ppt/tableStyles.xml" Id="R3d27b47f02434cdc" /><Relationship Type="http://schemas.openxmlformats.org/officeDocument/2006/relationships/slide" Target="/ppt/slides/slide1.xml" Id="R8a497d60d5704414" /><Relationship Type="http://schemas.openxmlformats.org/officeDocument/2006/relationships/slide" Target="/ppt/slides/slide2.xml" Id="Rbce8bc6bb2f0463c" /><Relationship Type="http://schemas.openxmlformats.org/officeDocument/2006/relationships/slide" Target="/ppt/slides/slide3.xml" Id="R65304b0c8346440c" /><Relationship Type="http://schemas.openxmlformats.org/officeDocument/2006/relationships/slide" Target="/ppt/slides/slide4.xml" Id="Rde1a6b7b1b344ab4" /><Relationship Type="http://schemas.openxmlformats.org/officeDocument/2006/relationships/slide" Target="/ppt/slides/slide5.xml" Id="Re32e090b55c6414b" /><Relationship Type="http://schemas.openxmlformats.org/officeDocument/2006/relationships/slide" Target="/ppt/slides/slide6.xml" Id="R36e45f788a2b4536" /><Relationship Type="http://schemas.openxmlformats.org/officeDocument/2006/relationships/slide" Target="/ppt/slides/slide7.xml" Id="R3d0d337c7b4c4c0c" /><Relationship Type="http://schemas.openxmlformats.org/officeDocument/2006/relationships/slide" Target="/ppt/slides/slide8.xml" Id="R5860ca4a83a847e9" /><Relationship Type="http://schemas.openxmlformats.org/officeDocument/2006/relationships/slide" Target="/ppt/slides/slide9.xml" Id="R62ff49555fe247ad" /><Relationship Type="http://schemas.openxmlformats.org/officeDocument/2006/relationships/slide" Target="/ppt/slides/slide10.xml" Id="R3c0afaecf495423d" /><Relationship Type="http://schemas.openxmlformats.org/officeDocument/2006/relationships/slide" Target="/ppt/slides/slide11.xml" Id="R600b8a0b90cf4557" /><Relationship Type="http://schemas.openxmlformats.org/officeDocument/2006/relationships/slide" Target="/ppt/slides/slide12.xml" Id="R8a9e42e414f9465b" /><Relationship Type="http://schemas.openxmlformats.org/officeDocument/2006/relationships/slide" Target="/ppt/slides/slide13.xml" Id="R682edc5c27ae40ee" /><Relationship Type="http://schemas.openxmlformats.org/officeDocument/2006/relationships/slide" Target="/ppt/slides/slide14.xml" Id="R2bd2c02b32f44793" /><Relationship Type="http://schemas.openxmlformats.org/officeDocument/2006/relationships/slide" Target="/ppt/slides/slide15.xml" Id="Rcd0410a2d6d4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e876d072764b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dbbb0769a41d2" /><Relationship Type="http://schemas.openxmlformats.org/officeDocument/2006/relationships/notesMaster" Target="/ppt/notesMasters/notesMaster1.xml" Id="R6cd395192b8c42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133e81721f4dad" /><Relationship Type="http://schemas.openxmlformats.org/officeDocument/2006/relationships/notesMaster" Target="/ppt/notesMasters/notesMaster1.xml" Id="R3b95c82dcd01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0744abff344535" /><Relationship Type="http://schemas.openxmlformats.org/officeDocument/2006/relationships/notesMaster" Target="/ppt/notesMasters/notesMaster1.xml" Id="Re2833348399b4f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ae64d00de54a92" /><Relationship Type="http://schemas.openxmlformats.org/officeDocument/2006/relationships/notesMaster" Target="/ppt/notesMasters/notesMaster1.xml" Id="Rd3174871326749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007441b33d46f1" /><Relationship Type="http://schemas.openxmlformats.org/officeDocument/2006/relationships/notesMaster" Target="/ppt/notesMasters/notesMaster1.xml" Id="R51f143dd370842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ee4b81773a4071" /><Relationship Type="http://schemas.openxmlformats.org/officeDocument/2006/relationships/notesMaster" Target="/ppt/notesMasters/notesMaster1.xml" Id="R2fa658e36e2b43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c2cdb65dba4ecb" /><Relationship Type="http://schemas.openxmlformats.org/officeDocument/2006/relationships/notesMaster" Target="/ppt/notesMasters/notesMaster1.xml" Id="R468a7ae601a044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c68e0d9ee242fb" /><Relationship Type="http://schemas.openxmlformats.org/officeDocument/2006/relationships/notesMaster" Target="/ppt/notesMasters/notesMaster1.xml" Id="R05baaa22011142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e86e01aba94f12" /><Relationship Type="http://schemas.openxmlformats.org/officeDocument/2006/relationships/notesMaster" Target="/ppt/notesMasters/notesMaster1.xml" Id="R727a09712dbc40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d87963767c4bf7" /><Relationship Type="http://schemas.openxmlformats.org/officeDocument/2006/relationships/notesMaster" Target="/ppt/notesMasters/notesMaster1.xml" Id="R6fe06f2149184e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edcba8a6354c12" /><Relationship Type="http://schemas.openxmlformats.org/officeDocument/2006/relationships/notesMaster" Target="/ppt/notesMasters/notesMaster1.xml" Id="R2ce6af84b21741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4aa738573043e3" /><Relationship Type="http://schemas.openxmlformats.org/officeDocument/2006/relationships/notesMaster" Target="/ppt/notesMasters/notesMaster1.xml" Id="R0d55a5b193894a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7fdd957e994aad" /><Relationship Type="http://schemas.openxmlformats.org/officeDocument/2006/relationships/notesMaster" Target="/ppt/notesMasters/notesMaster1.xml" Id="R01b2ea6db5604c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52a04dc5b14a26" /><Relationship Type="http://schemas.openxmlformats.org/officeDocument/2006/relationships/notesMaster" Target="/ppt/notesMasters/notesMaster1.xml" Id="R191fc0d19fa944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fa69aa737e45eb" /><Relationship Type="http://schemas.openxmlformats.org/officeDocument/2006/relationships/notesMaster" Target="/ppt/notesMasters/notesMaster1.xml" Id="R14f67a930b2142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Greet the panel. State the project name and the main contribution: a digital library with voice-assisted search and narration.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position the work as a practical system, not only a written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motivation in simple terms: access, speed, and accessibility.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problem as system and access challenges, then connect them to the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the main objective from specific objectives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directly answers the examiner's likely question about whether validation was user survey, system testing, or both.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Vite is frontend only; PDO is the PHP-to-MySQL access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Vite does not replace PHP. PDO is not a database; it is how PHP safely talks to MySQL.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clearly that these Python services use FastAPI, not Flask.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this clearly: we did transfer learning/fine-tuning from a pretrained Wav2Vec2ForCTC model, not full training from scratch.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frontend does not access the database directly. It calls backend endpoints.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if asked how database tables connect. Keep it conceptual unless they ask for SQL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your live demo script. Do not improvise too many features; show the strongest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honest about limitations. Examiners usually trust a candidate who knows the system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confidently. Invite questions and use the technical study guide for deeper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6fdf7cad044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0651fc09f9455c" /><Relationship Type="http://schemas.openxmlformats.org/officeDocument/2006/relationships/slideLayout" Target="/ppt/slideLayouts/slideLayout1.xml" Id="R280ef046fce644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0ef046fce644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f6451d525471a" /><Relationship Type="http://schemas.openxmlformats.org/officeDocument/2006/relationships/image" Target="/ppt/media/image.png" Id="R8ed4458260ae449c" /><Relationship Type="http://schemas.openxmlformats.org/officeDocument/2006/relationships/notesSlide" Target="/ppt/notesSlides/notesSlide1.xml" Id="R8b160295550e4f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7eab723b2427e" /><Relationship Type="http://schemas.openxmlformats.org/officeDocument/2006/relationships/image" Target="/ppt/media/image2.png" Id="R7a018f6ed399483b" /><Relationship Type="http://schemas.openxmlformats.org/officeDocument/2006/relationships/notesSlide" Target="/ppt/notesSlides/notesSlide2.xml" Id="R2a7266b85a814e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da416cba14531" /><Relationship Type="http://schemas.openxmlformats.org/officeDocument/2006/relationships/image" Target="/ppt/media/image3.png" Id="Rd0add84655fb42d9" /><Relationship Type="http://schemas.openxmlformats.org/officeDocument/2006/relationships/notesSlide" Target="/ppt/notesSlides/notesSlide3.xml" Id="R804beba4e4ff4e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1b9c034d14d9f" /><Relationship Type="http://schemas.openxmlformats.org/officeDocument/2006/relationships/image" Target="/ppt/media/image4.png" Id="Rc5512d166aad4166" /><Relationship Type="http://schemas.openxmlformats.org/officeDocument/2006/relationships/notesSlide" Target="/ppt/notesSlides/notesSlide4.xml" Id="R61e4d78f227646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63cc7237f4a01" /><Relationship Type="http://schemas.openxmlformats.org/officeDocument/2006/relationships/image" Target="/ppt/media/image5.png" Id="Rc30d4e3acdd04cf5" /><Relationship Type="http://schemas.openxmlformats.org/officeDocument/2006/relationships/notesSlide" Target="/ppt/notesSlides/notesSlide5.xml" Id="R6703ea94e0d548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6f5fd5c714018" /><Relationship Type="http://schemas.openxmlformats.org/officeDocument/2006/relationships/image" Target="/ppt/media/image6.png" Id="R9f5f200d985549ea" /><Relationship Type="http://schemas.openxmlformats.org/officeDocument/2006/relationships/notesSlide" Target="/ppt/notesSlides/notesSlide6.xml" Id="Rcfe147ba7eee4f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389d37e3b46e9" /><Relationship Type="http://schemas.openxmlformats.org/officeDocument/2006/relationships/image" Target="/ppt/media/image7.png" Id="R05da3d4501a24fa0" /><Relationship Type="http://schemas.openxmlformats.org/officeDocument/2006/relationships/notesSlide" Target="/ppt/notesSlides/notesSlide7.xml" Id="R54f3232629bf42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3f9c89fc7441e" /><Relationship Type="http://schemas.openxmlformats.org/officeDocument/2006/relationships/image" Target="/ppt/media/image8.png" Id="R7ed109ce73bf4f8e" /><Relationship Type="http://schemas.openxmlformats.org/officeDocument/2006/relationships/notesSlide" Target="/ppt/notesSlides/notesSlide8.xml" Id="R520bce46c7664c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7719bfb064186" /><Relationship Type="http://schemas.openxmlformats.org/officeDocument/2006/relationships/image" Target="/ppt/media/image9.png" Id="R74f26bc0881a4e25" /><Relationship Type="http://schemas.openxmlformats.org/officeDocument/2006/relationships/notesSlide" Target="/ppt/notesSlides/notesSlide9.xml" Id="Rf080bf6dfbbf46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1df43d0894252" /><Relationship Type="http://schemas.openxmlformats.org/officeDocument/2006/relationships/image" Target="/ppt/media/image10.png" Id="R7679ba5fc8474228" /><Relationship Type="http://schemas.openxmlformats.org/officeDocument/2006/relationships/notesSlide" Target="/ppt/notesSlides/notesSlide10.xml" Id="Rf2f33e9f71a140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320338b01458f" /><Relationship Type="http://schemas.openxmlformats.org/officeDocument/2006/relationships/image" Target="/ppt/media/image11.png" Id="Rafa1fb194f2c403d" /><Relationship Type="http://schemas.openxmlformats.org/officeDocument/2006/relationships/notesSlide" Target="/ppt/notesSlides/notesSlide11.xml" Id="Ra5e5643bd6ba41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9ceebacc6406f" /><Relationship Type="http://schemas.openxmlformats.org/officeDocument/2006/relationships/image" Target="/ppt/media/image12.png" Id="R967437ef9b82485c" /><Relationship Type="http://schemas.openxmlformats.org/officeDocument/2006/relationships/notesSlide" Target="/ppt/notesSlides/notesSlide12.xml" Id="R6fec0f7e620942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d1109549b4aa7" /><Relationship Type="http://schemas.openxmlformats.org/officeDocument/2006/relationships/image" Target="/ppt/media/image13.png" Id="R446d86ea51ae46a7" /><Relationship Type="http://schemas.openxmlformats.org/officeDocument/2006/relationships/notesSlide" Target="/ppt/notesSlides/notesSlide13.xml" Id="Ra874c14966e442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4b4f2b3074071" /><Relationship Type="http://schemas.openxmlformats.org/officeDocument/2006/relationships/image" Target="/ppt/media/image14.png" Id="R8d1e60cee6544f75" /><Relationship Type="http://schemas.openxmlformats.org/officeDocument/2006/relationships/notesSlide" Target="/ppt/notesSlides/notesSlide14.xml" Id="R43057d59f8f845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7a8c888a3454d" /><Relationship Type="http://schemas.openxmlformats.org/officeDocument/2006/relationships/image" Target="/ppt/media/image15.png" Id="R5608c4588e22464a" /><Relationship Type="http://schemas.openxmlformats.org/officeDocument/2006/relationships/notesSlide" Target="/ppt/notesSlides/notesSlide15.xml" Id="Rf1bfcb5f4a064e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4458260ae449c"/>
          <a:stretch xmlns:a="http://schemas.openxmlformats.org/drawingml/2006/main"/>
        </p:blipFill>
        <p:spPr>
          <a:xfrm xmlns:a="http://schemas.openxmlformats.org/drawingml/2006/main">
            <a:off x="781619" y="590550"/>
            <a:ext cx="837063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EDD84-C5DB-41E1-8A85-37441428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WELCOME TO MY THESIS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A54E9-A408-45D4-A6A1-B6FF74BE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DDEEE6"/>
                </a:solidFill>
              </a:defRPr>
            </a:pPr>
            <a:r>
              <a:rPr sz="1800" b="0" i="0">
                <a:solidFill>
                  <a:srgbClr val="DDEEE6"/>
                </a:solidFill>
              </a:rPr>
              <a:t>INES Digital Library with Voice Search and Audio Narration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E50E9-12B0-4CAA-865F-4D4C75EE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4953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4B39"/>
          </a:solidFill>
          <a:ln xmlns:a="http://schemas.openxmlformats.org/drawingml/2006/main" w="9525">
            <a:solidFill>
              <a:srgbClr val="2C73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721C2-DEA1-4A2E-A540-648E0CAC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8A24A"/>
                </a:solidFill>
              </a:defRPr>
            </a:pPr>
            <a:r>
              <a:rPr sz="1050" b="1" i="0">
                <a:solidFill>
                  <a:srgbClr val="C8A24A"/>
                </a:solidFill>
              </a:rPr>
              <a:t>Core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9DF61-2EE6-4CA9-AADD-C6E0ED7D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 web-based academic library that supports book management, search, reading, speech-to-text, and text-to-speech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CCEBF-2322-4D20-B297-CC62C094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Presenter: Anne Louange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Supervisor: [Add supervisor name]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INES-Ruhengeri</a:t>
            </a:r>
          </a:p>
        </p:txBody>
      </p:sp>
    </p:spTree>
    <p:extLst>
      <p:ext uri="{BB962C8B-B14F-4D97-AF65-F5344CB8AC3E}">
        <p14:creationId xmlns:p14="http://schemas.microsoft.com/office/powerpoint/2010/main" val="1512507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8B7A6-AA9B-4A10-8FA1-F40551A9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8C023-1F14-4EA6-91A1-0D989A07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4AFE7-F6FE-4D11-8625-315A42C9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FCCA1-A699-4E3D-B5F2-FDC8DBFA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Project Title and Focus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18f6ed399483b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EFD5C-5E2D-47F5-AE91-1B09EFAB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76FB4-AE28-4410-A376-6904BFF2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3D2E"/>
                </a:solidFill>
              </a:defRPr>
            </a:pPr>
            <a:r>
              <a:rPr sz="2850" b="1" i="0">
                <a:solidFill>
                  <a:srgbClr val="0F3D2E"/>
                </a:solidFill>
              </a:rPr>
              <a:t>Design and Implementation of an Intelligent Digital Library System for INES-Ruhengeri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C7B7E-6D2C-445F-ACC7-4AB216FB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8BDDC-7BA7-4F7F-9E77-E726C70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674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Supports students, lecturers, librarians, and administrators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F2B7E-E44F-451C-B9B1-4E9B223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D5F86-8E83-467F-A5DA-F0A45FC9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674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Combines catalog management, borrowing, personal library, and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777A8-DC19-4309-850B-7A45AF40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DA897-EA0F-43DF-9BEE-C367936E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674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Adds English STT for voice search and TTS for narration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10429-A04C-441D-ADC0-609F13D1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2476500" cy="3048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7CC9B-3B57-4107-A9E4-454085F0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3D2E"/>
                </a:solidFill>
              </a:defRPr>
            </a:pPr>
            <a:r>
              <a:rPr sz="1500" b="1" i="0">
                <a:solidFill>
                  <a:srgbClr val="0F3D2E"/>
                </a:solidFill>
              </a:rPr>
              <a:t>Defense emphasis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D99EA-4EA3-4971-B777-1553A849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System design</a:t>
            </a:r>
          </a:p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Implementation</a:t>
            </a:r>
          </a:p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AI integration</a:t>
            </a:r>
          </a:p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Database links</a:t>
            </a:r>
          </a:p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Testing evidence</a:t>
            </a:r>
          </a:p>
        </p:txBody>
      </p:sp>
    </p:spTree>
    <p:extLst>
      <p:ext uri="{BB962C8B-B14F-4D97-AF65-F5344CB8AC3E}">
        <p14:creationId xmlns:p14="http://schemas.microsoft.com/office/powerpoint/2010/main" val="1951108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7292E4-46AC-437A-B256-4EABD0E1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ED90A-CFC2-42C3-B6D4-0AD2BE1A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B2E60-45BB-4DB9-ABBD-03D7268E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95FDB-DF80-4D89-9AF3-919035BF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Introduction and Motivation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dd84655fb42d9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03D64-248C-41B6-907A-A41CC645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00AB1-9C7C-415F-B70D-10B76DB2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E2DBA-5222-4E4D-AF37-358DB391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664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Academic libraries need fast access to digital resources and borrowing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E133A-C9C9-4CAA-B410-AA0B1478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371B3-D1F9-4FBA-BB31-64E6DABC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664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Students may prefer searching or listening instead of typing and reading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11392-5166-4BC4-A662-58EA2964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FB60E-6891-431C-B4C4-994442D8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664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Voice interaction improves accessibility and gives another path to resource discovery.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21984-A7F2-4538-BC73-93672627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39458-7299-4AB3-A918-17B0068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664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The system organizes books, users, courses, reports, speech search, and narration in one platform.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56420-78AB-4AF9-96DA-AFCAEB9C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22FAE-D3EB-4394-85C6-923A71E9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8A24A"/>
                </a:solidFill>
              </a:defRPr>
            </a:pPr>
            <a:r>
              <a:rPr sz="1650" b="1" i="0">
                <a:solidFill>
                  <a:srgbClr val="C8A24A"/>
                </a:solidFill>
              </a:rPr>
              <a:t>Research 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53C20-1F2B-42E3-883F-A3515C94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Many library systems manage records, but fewer combine academic catalog workflows with voice search and audio reading support.</a:t>
            </a:r>
          </a:p>
        </p:txBody>
      </p:sp>
    </p:spTree>
    <p:extLst>
      <p:ext uri="{BB962C8B-B14F-4D97-AF65-F5344CB8AC3E}">
        <p14:creationId xmlns:p14="http://schemas.microsoft.com/office/powerpoint/2010/main" val="556197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42901-994B-4AF0-A80E-C4216305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9375C-A7E1-4086-835F-5EC1EF73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F489F-D107-4A0B-8262-237D9D8A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26796-390B-434C-A91E-C6291FF8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Problem Statement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12d166aad4166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093D7-5877-45FB-97BB-B0008350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6F6E7-13CC-470C-AAAD-3AD45EC9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705C4-081D-4C09-BF61-44ECA0EE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Access delay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0C228-4009-4122-8AF3-FE959423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1F"/>
                </a:solidFill>
              </a:defRPr>
            </a:pPr>
            <a:r>
              <a:rPr sz="1425" b="0" i="0">
                <a:solidFill>
                  <a:srgbClr val="18211F"/>
                </a:solidFill>
              </a:rPr>
              <a:t>Users may spend time searching manually for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9A67F-61C7-4ABD-BDAD-D7823411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0B167-91C2-4847-9795-B7A78CC5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Limited interaction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040F9-DDC8-43A9-BD22-ECB2F016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1F"/>
                </a:solidFill>
              </a:defRPr>
            </a:pPr>
            <a:r>
              <a:rPr sz="1425" b="0" i="0">
                <a:solidFill>
                  <a:srgbClr val="18211F"/>
                </a:solidFill>
              </a:rPr>
              <a:t>Traditional systems depend mainly on typed input and visual reading.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3211D-1B98-47C6-A2BA-C00E8335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D652B-8195-4212-A4A8-DEFB419A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Fragmented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B705A-8161-4546-BF6E-21515A2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1F"/>
                </a:solidFill>
              </a:defRPr>
            </a:pPr>
            <a:r>
              <a:rPr sz="1425" b="0" i="0">
                <a:solidFill>
                  <a:srgbClr val="18211F"/>
                </a:solidFill>
              </a:rPr>
              <a:t>Books, borrowing, reviews, lecture notes, and reports need consistent tracking.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59B9D-1433-46CB-B517-034A109F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2012F-2A2E-40CA-A93F-FC257A98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AI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E127B-AAA6-4E37-A7ED-A2A187F7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1F"/>
                </a:solidFill>
              </a:defRPr>
            </a:pPr>
            <a:r>
              <a:rPr sz="1425" b="0" i="0">
                <a:solidFill>
                  <a:srgbClr val="18211F"/>
                </a:solidFill>
              </a:rPr>
              <a:t>Speech models must be connected safely to the backend and tested before live use.</a:t>
            </a:r>
          </a:p>
        </p:txBody>
      </p:sp>
    </p:spTree>
    <p:extLst>
      <p:ext uri="{BB962C8B-B14F-4D97-AF65-F5344CB8AC3E}">
        <p14:creationId xmlns:p14="http://schemas.microsoft.com/office/powerpoint/2010/main" val="1210555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62763C-E100-469E-8666-DFB0DEB5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A84ED-0448-45FD-A079-F39DDE1E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9AE3D-0033-4915-9BEF-74FAA5AC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F13CB-066F-4E29-8222-153C9366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Research Objectives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d4e3acdd04cf5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1F293-4EA9-49D8-90BB-67714E2F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38DAE-B989-4CD7-8616-BF05CDF1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5EE54-2351-4D16-96A5-C4CB7760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Develop a web-based digital library for INES academic resources.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31376-430D-4C43-813F-E5C0F167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CCEFC-379E-4CA4-BCF2-EC8BBB7A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Implement role-based access for students, lecturers, librarians, and administrators.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3BC71-A834-4250-B12D-4A238D9B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6C78F-AB1D-48EF-8F03-05B06F1A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Integrate STT voice search for English spoken queries.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4756E-58A3-49E8-91D9-AA6577C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601D9-E66C-4F7E-81AF-70F94300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Integrate TTS narration for readable book/page 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77B98-294A-44B2-A12D-D3B59264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26F7B-EA07-4CCC-A739-73E1CF9E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Test backend, frontend, database, STT, and TTS integration before defense.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29174-144F-4C00-BA62-D1B8B4E0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C9A5F-A757-4CD5-9AD9-8483A1C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Main objective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0C884-6DDF-4134-A9ED-615688E8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00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Improve resource discovery and accessibility through a managed digital library with voice support.</a:t>
            </a:r>
          </a:p>
        </p:txBody>
      </p:sp>
    </p:spTree>
    <p:extLst>
      <p:ext uri="{BB962C8B-B14F-4D97-AF65-F5344CB8AC3E}">
        <p14:creationId xmlns:p14="http://schemas.microsoft.com/office/powerpoint/2010/main" val="2121201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0FF16-AC99-40EC-BE39-F81DF9B1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A85BD-DA59-43C0-99FB-541085F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4070A-0CAD-45F1-89F9-40EA39E4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F35F8-F177-48FD-A09B-30080CD5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Methodology and Validation Scope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f200d985549ea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094D1-CBD6-4744-BD89-AA2F115B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3B48F-58FC-4B64-9840-CCACAA3B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6C4D4-B4F7-4B9E-B6EC-7531797A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F3D2E"/>
                </a:solidFill>
              </a:defRPr>
            </a:pPr>
            <a:r>
              <a:rPr sz="1575" b="1" i="0">
                <a:solidFill>
                  <a:srgbClr val="0F3D2E"/>
                </a:solidFill>
              </a:rPr>
              <a:t>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F1577-C612-417D-9E49-8DAF9181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Design science and Agile development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3E846-B2A1-41E3-9AD0-AF75C41D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764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2D797-4FB7-4AFB-AEE7-31474F05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F3D2E"/>
                </a:solidFill>
              </a:defRPr>
            </a:pPr>
            <a:r>
              <a:rPr sz="1575" b="1" i="0">
                <a:solidFill>
                  <a:srgbClr val="0F3D2E"/>
                </a:solidFill>
              </a:rPr>
              <a:t>Data collection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27C0B-7A1D-4CE1-8B74-F9969E72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57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Interviews/observation should be documented if claimed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EDE73-CB34-48F7-AE2E-B33B4145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764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18904-AB5B-479F-BBCC-999A6609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F3D2E"/>
                </a:solidFill>
              </a:defRPr>
            </a:pPr>
            <a:r>
              <a:rPr sz="1575" b="1" i="0">
                <a:solidFill>
                  <a:srgbClr val="0F3D2E"/>
                </a:solidFill>
              </a:rPr>
              <a:t>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81577-DF3D-4077-8789-1335BC04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React, PHP, MySQL, FastAPI speech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1D4E0-AFB2-45D0-8535-AB24FDE4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764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F4E29-ADE0-44BF-A82C-29DAD949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8A24A"/>
                </a:solidFill>
              </a:defRPr>
            </a:pPr>
            <a:r>
              <a:rPr sz="1575" b="1" i="0">
                <a:solidFill>
                  <a:srgbClr val="C8A24A"/>
                </a:solidFill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5B001-1D8F-4B56-9CEB-0B04C391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57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System testing and live acceptance 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8DBAF-CB94-44CA-A68A-EE8356E2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85042"/>
                </a:solidFill>
              </a:defRPr>
            </a:pPr>
            <a:r>
              <a:rPr sz="1650" b="1" i="0">
                <a:solidFill>
                  <a:srgbClr val="B85042"/>
                </a:solidFill>
              </a:rPr>
              <a:t>Important defense clarification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EAA2A-178C-400D-ABFD-36829EE7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Do not claim survey validation unless questionnaire results are included. Current evidence is functional/system testing plus live acceptance testing.</a:t>
            </a:r>
          </a:p>
        </p:txBody>
      </p:sp>
    </p:spTree>
    <p:extLst>
      <p:ext uri="{BB962C8B-B14F-4D97-AF65-F5344CB8AC3E}">
        <p14:creationId xmlns:p14="http://schemas.microsoft.com/office/powerpoint/2010/main" val="2100183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A5205-DCC9-4E18-BFF6-99E3C139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5A1C9-9997-43A4-A775-FA4E6158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A8B13-1141-4A80-A2D8-343824B4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3984B-EC09-4B71-A7E5-C3B560A6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System Architecture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a3d4501a24fa0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85A00-F79D-4B83-9110-20A5890D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485EA-A71C-47C1-8343-9190BEF2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06941-2D04-4993-A1F5-CF9C95D0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4BB65-486F-4FFA-B143-41D38030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React + Vite</a:t>
            </a:r>
          </a:p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User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A1AC0-3F2A-4CA0-B5A0-4D438C76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C8A24A"/>
                </a:solidFill>
              </a:defRPr>
            </a:pPr>
            <a:r>
              <a:rPr sz="2400" b="1" i="0">
                <a:solidFill>
                  <a:srgbClr val="C8A24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17A11-A765-4088-B986-DD96EA9B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C20B7-0825-49D2-B17C-84E9677A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CF03E-7E66-404E-A2D9-D18E923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432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PHP REST API</a:t>
            </a:r>
          </a:p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Authentication, routing,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7AF45-CC28-474B-A478-B33753EA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71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C8A24A"/>
                </a:solidFill>
              </a:defRPr>
            </a:pPr>
            <a:r>
              <a:rPr sz="2400" b="1" i="0">
                <a:solidFill>
                  <a:srgbClr val="C8A24A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90676-E26D-416C-BF95-7B60911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6D68F-EECA-455E-B107-527B7EE2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Database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A1BC5-6D93-4DE0-907D-4B5C2224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MySQL via PDO</a:t>
            </a:r>
          </a:p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Users, books, borrowing,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137FC-CEAB-471E-A53C-4FCA9555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C8A24A"/>
                </a:solidFill>
              </a:defRPr>
            </a:pPr>
            <a:r>
              <a:rPr sz="2400" b="1" i="0">
                <a:solidFill>
                  <a:srgbClr val="C8A24A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AADD2-2B8E-4188-BFA4-B03D6863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F40A1-FF71-4DF7-89AE-D8A68A61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AI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6036C-9FAA-434C-84B9-5742005F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432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FastAPI STT/TTS</a:t>
            </a:r>
          </a:p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Wav2Vec2, Whisper, SpeechT5, gTTS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3C5F1-B029-4060-BC0C-7511B428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1F"/>
                </a:solidFill>
              </a:defRPr>
            </a:pPr>
            <a:r>
              <a:rPr sz="1575" b="0" i="0">
                <a:solidFill>
                  <a:srgbClr val="18211F"/>
                </a:solidFill>
              </a:rPr>
              <a:t>Frontend calls backend endpoints. Backend uses PDO for database queries and calls local Python FastAPI speech services when audio processing is needed.</a:t>
            </a:r>
          </a:p>
        </p:txBody>
      </p:sp>
    </p:spTree>
    <p:extLst>
      <p:ext uri="{BB962C8B-B14F-4D97-AF65-F5344CB8AC3E}">
        <p14:creationId xmlns:p14="http://schemas.microsoft.com/office/powerpoint/2010/main" val="1770486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FDEEB-D45C-42F1-8E23-86650F06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BAA6F-EE8C-48FB-8D01-D63B3E14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FF6ED-6901-44EC-A74E-72AAC5E4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E639B-4E04-4F27-A3E3-F125DFF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Technology Stack: Why Vite and PDO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109ce73bf4f8e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31D99-8520-4AE5-A2AE-FE18E6FD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8909A-D993-4B79-9B79-383978DE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476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1001C-47A3-4CC5-80C1-FD2AA970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3D2E"/>
                </a:solidFill>
              </a:defRPr>
            </a:pPr>
            <a:r>
              <a:rPr sz="2100" b="1" i="0">
                <a:solidFill>
                  <a:srgbClr val="0F3D2E"/>
                </a:solidFill>
              </a:rPr>
              <a:t>Why Vite?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5C569-29E0-471E-A552-26BEC1C8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878AB-0367-4ADE-BA71-BD2AA487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Runs the React development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8FBFB-330B-41FD-80B4-74872DA9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89B3A-D2BE-4E07-9EDC-28AD7E17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Provides fast hot reload while 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F2EE9-D8A4-448E-8BA5-667EB59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632DF-2FB6-4553-95FF-5C21EA03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718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Builds production frontend files into dist/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3B69F-1080-4DB8-AAC0-C3BA3E8A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0DF2C-6380-4417-B3D4-43421BEA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Reads VITE_API_BASE_URL for backend connection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3F41C-46EA-4FBE-B6F1-CADD645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476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9D079-639D-4BA2-B607-F40614B7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3D2E"/>
                </a:solidFill>
              </a:defRPr>
            </a:pPr>
            <a:r>
              <a:rPr sz="2100" b="1" i="0">
                <a:solidFill>
                  <a:srgbClr val="0F3D2E"/>
                </a:solidFill>
              </a:rPr>
              <a:t>What is PDO?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84FD5-17C7-4DC3-A678-F030DE93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65AE6-F9B7-4B34-994A-76517BC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PHP Data Objects database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CD18C-998A-48F4-89BB-7DFEF60B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70BF0-258F-4B99-92EB-596B2EB8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Connects PHP backend to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742A1-B623-48FD-9D2E-CC7973A1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7133A1-1192-49EC-ABE3-8C0591B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Runs prepared SQL statements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D1A0D-CB38-48B9-A13F-29E24189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25BA7-0CAE-4DA0-B76B-2292ADB2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71900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Reduces SQL injection risk</a:t>
            </a:r>
          </a:p>
        </p:txBody>
      </p:sp>
    </p:spTree>
    <p:extLst>
      <p:ext uri="{BB962C8B-B14F-4D97-AF65-F5344CB8AC3E}">
        <p14:creationId xmlns:p14="http://schemas.microsoft.com/office/powerpoint/2010/main" val="228410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06E9F8-2986-4ABA-A0EA-AFA0171B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2B7D4-46C0-43C6-AEE3-4AAFDFA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65B51-3378-4457-90F1-C130B95E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2B006-8CE9-47B0-B2B1-A3C6125A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Speech Services: STT and TTS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26bc0881a4e25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EF75B-3599-473A-850F-E81DDB6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E9590-4580-46E3-98D3-9C551125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A9CAE-C865-4A90-8017-2D4A45EB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540DF-837E-4DCA-82A5-85647E90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38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Speech-to-Text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6B48B-4670-4E7E-A40E-A26376A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02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FastAPI service receives microphone audio, converts it to 16 kHz mono, and transcribes English speech.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82494-CF79-4144-BACA-514F697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B7D86-196F-41E2-966F-4804BB5F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Transformer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70713-BCC0-4AD4-B5BA-A73B8F18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38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Wav2Vec2 CTC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E399F-64B2-4C48-A56C-3EFD115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0032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Uses local transformer_model when available; fallback base model is facebook/wav2vec2-base-960h.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6A97B-5C39-4264-95AA-809E1F5B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7A2E7-C580-4800-AEAD-8465312E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97DF5-4CE3-4395-8CE1-D6C574DA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38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Text-to-Speech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8BABA-D0F3-4612-9307-EEFF510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04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SpeechT5 is preloaded for local WAV narration; reader can use clearer gTTS MP3 with SpeechT5 fallback.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3F6A3-D4AE-4A37-86E1-64FE02B5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9C4FE-3360-42C6-A8F4-CA61D9B1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Health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05E1A-BC2D-411D-B54F-E3F1BA0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38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Preload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8A099-717C-4579-88C3-C8300312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0057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Backend /health reports whether speech services and SpeechT5 readiness are safe for live demo.</a:t>
            </a:r>
          </a:p>
        </p:txBody>
      </p:sp>
    </p:spTree>
    <p:extLst>
      <p:ext uri="{BB962C8B-B14F-4D97-AF65-F5344CB8AC3E}">
        <p14:creationId xmlns:p14="http://schemas.microsoft.com/office/powerpoint/2010/main" val="1708813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A5C1D3-2F48-4ADC-8437-EFE1BF82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E77CD-DE6F-447A-BBED-FE87294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A44C3-5889-4E06-8088-C44C930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AEE0B-CA39-4E8E-9638-0030A161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Dataset and Model Source Evidence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9ba5fc8474228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80164-8B9C-436B-9CB8-E626450B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A7B76-CA94-4236-B1DB-FF6BE61E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Dataset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846AB-84B9-4212-8C02-75DE23A4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speech_datasets/LibriSpeech/</a:t>
            </a:r>
          </a:p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speech_datasets/manifests/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6D6A9-66FD-42F9-9902-D9669028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F3D2E"/>
                </a:solidFill>
              </a:defRPr>
            </a:pPr>
            <a:r>
              <a:rPr sz="1575" b="1" i="0">
                <a:solidFill>
                  <a:srgbClr val="0F3D2E"/>
                </a:solidFill>
              </a:rPr>
              <a:t>Available manifest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4D99E-B9CF-454D-B307-00F32DAF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952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553B4-837B-475C-A9F5-98EFEF6B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33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28,539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7A5B0-917A-4D80-BD4D-25A1919C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DEEE6"/>
                </a:solidFill>
              </a:defRPr>
            </a:pPr>
            <a:r>
              <a:rPr sz="1275" b="0" i="0">
                <a:solidFill>
                  <a:srgbClr val="DDEEE6"/>
                </a:solidFill>
              </a:rPr>
              <a:t>Train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C9A27-24F0-478F-B7EC-BC81504D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05150"/>
            <a:ext cx="1952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D7EEF-A9CF-42A7-A3D6-BE55ED93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33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F3D2E"/>
                </a:solidFill>
              </a:defRPr>
            </a:pPr>
            <a:r>
              <a:rPr sz="2700" b="1" i="0">
                <a:solidFill>
                  <a:srgbClr val="0F3D2E"/>
                </a:solidFill>
              </a:rPr>
              <a:t>2,703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27417-8E1D-44A5-8661-A285BA7B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290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Dev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5E95E-744C-4146-B5D7-264033E9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05150"/>
            <a:ext cx="1952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E1470-495D-4224-9A93-4CFC54BD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33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F3D2E"/>
                </a:solidFill>
              </a:defRPr>
            </a:pPr>
            <a:r>
              <a:rPr sz="2700" b="1" i="0">
                <a:solidFill>
                  <a:srgbClr val="0F3D2E"/>
                </a:solidFill>
              </a:rPr>
              <a:t>2,620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76B1F-9F12-4043-9BC0-6FA06B5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Test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526C3-675B-4FC1-B002-F682D0FC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2857500" cy="3429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94AAC-5C85-4965-9DC6-D16ED607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What was trained?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4F7D9-24F0-46FA-8697-8D9AB925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Not from zero. The system uses pretrained Wav2Vec2ForCTC and a limited local CTC-head fine-tuning/evaluation run.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02E83-3E9C-446C-AA86-125C3E79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Logged run: 640 train, 40 dev, 60 test; 120 optimizer steps; 0.1875 effective epoch; 24,608 trainable of 94,396,320 parameters.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1AF8A-3F03-4E70-8B6C-2497370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3D2E"/>
                </a:solidFill>
              </a:defRPr>
            </a:pPr>
            <a:r>
              <a:rPr sz="1350" b="1" i="0">
                <a:solidFill>
                  <a:srgbClr val="0F3D2E"/>
                </a:solidFill>
              </a:rPr>
              <a:t>Live service loads transformer_model.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E2A0C-5C86-4697-9072-BF67AC01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3D2E"/>
                </a:solidFill>
              </a:defRPr>
            </a:pPr>
            <a:r>
              <a:rPr sz="1500" b="1" i="0">
                <a:solidFill>
                  <a:srgbClr val="0F3D2E"/>
                </a:solidFill>
              </a:rPr>
              <a:t>Evaluation subset: 640 train / 40 dev / 60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B8030-A37E-4A9F-8286-1934A757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The larger numbers are available local manifest rows; the smaller subset is what the recorded CPU-bounded experiment used.</a:t>
            </a:r>
          </a:p>
        </p:txBody>
      </p:sp>
    </p:spTree>
    <p:extLst>
      <p:ext uri="{BB962C8B-B14F-4D97-AF65-F5344CB8AC3E}">
        <p14:creationId xmlns:p14="http://schemas.microsoft.com/office/powerpoint/2010/main" val="1426760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C38A7-6394-4201-B051-97E30EA1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874F1-9328-4819-8DF0-26BDF1C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C975A-78ED-4147-9C54-67B3A55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FA4BA-622C-4141-A462-D2E2D84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API Endpoint Summary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1fb194f2c403d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DA4BD-8D7F-4FFA-B181-92B4190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B71C2-BEDF-4FF7-9D8C-FF6446F9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3BE87-B205-48E8-B3A6-EF7BFB9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4A66B-8657-4FE8-9C44-7B53EF3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backend, database, AI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5530B-7B05-4EA3-91CD-CC890C12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4D1A6-81AB-4EFD-81B9-702CADE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POST /auth/login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DE75B-7B74-477C-833C-4F4529E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user authentication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C41AB-46F8-4A20-89F4-392966A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FEBBD-B98B-49D0-9E5E-72905945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/books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32065-C968-48FC-B559-8732A4AE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catalog search/listing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36D59-4749-4D29-99E0-CC257170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2EF38-E3F4-4A01-BA62-98C1655F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/books/{id}/page/{n}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E4B2A-D596-475C-99F2-FD90E827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reader page text/image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4BA2A-D60F-4EF4-8227-86EA08D1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24411-A40A-4E4F-A6D7-CEA69F2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POST /voice-search/search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1FF70-F1C1-4BB5-926B-607ED90C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microphone STT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01BC7-76C1-47C9-ADBC-11E52C93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5FB5B-DC6C-4A25-8F47-9228378A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POST /tts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BE525-565D-4DF8-B257-FEEE49B8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generate narration audio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B80F7-7905-418B-8C27-DD6FA3F5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4404D-727B-47F4-9D70-AABAEF55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/tts/audio/{file}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C3625D-7C15-4C66-A05D-AF269162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serve generated audio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F115B-3FD4-4935-AF63-B0183222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F75A74-0A45-4C65-A97C-5FC12A19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/reports/*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B39FA1-3BF0-4970-9132-B76F50A5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00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management reports</a:t>
            </a:r>
          </a:p>
        </p:txBody>
      </p:sp>
    </p:spTree>
    <p:extLst>
      <p:ext uri="{BB962C8B-B14F-4D97-AF65-F5344CB8AC3E}">
        <p14:creationId xmlns:p14="http://schemas.microsoft.com/office/powerpoint/2010/main" val="18562564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BA511-B6AA-4EF0-A103-995B0F13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70915-1021-41F8-A209-C9AA3532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F3917-A414-4F59-93B3-69374C22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B5650-B1DA-4E40-BEBC-C1EDEF99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Database Relationship Summary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437ef9b82485c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DB44F-B222-4094-B3D1-3D3DDCB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831CA-7123-4E1C-BBD3-E9179F0A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2D512-CA48-4EA6-B4F2-62090988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8A24A"/>
                </a:solidFill>
              </a:defRPr>
            </a:pPr>
            <a:r>
              <a:rPr sz="1800" b="1" i="0">
                <a:solidFill>
                  <a:srgbClr val="C8A24A"/>
                </a:solidFill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91864-2080-4E44-A7C6-B1903F83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roles, profiles, tokens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C4889-5835-4CDB-BA82-62199939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C2FB5-4BAA-47A9-B8CC-9710A4A9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books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585AD-BD52-4816-A97D-90EA11E4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authors, categories,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2ACD9-CFFE-400B-BEB9-1E3DFF38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192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27D7B-C81F-46E3-A535-0972A5BA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borrowing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DF91C-492D-4324-BEFA-B9B00D78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requests, renewals,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C412E-433A-4103-AAC0-641385D6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030CA-E5AF-4B8E-9D9A-DD798084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learning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455C6-00FA-4FA2-8586-06110586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courses, reading lists, lecture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EB0EE-7ED3-429A-92A4-366946D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90E49-96D5-4C7F-9255-5F70D29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interaction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85AB1-EBCC-4EC3-89DD-116F90B7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search logs, TTS logs, reviews, notifications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0E4A3-EE9A-4E85-A095-E4C55465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Main relationship idea: users perform actions on books; books are linked to academic structures; logs and reports record system activity.</a:t>
            </a:r>
          </a:p>
        </p:txBody>
      </p:sp>
    </p:spTree>
    <p:extLst>
      <p:ext uri="{BB962C8B-B14F-4D97-AF65-F5344CB8AC3E}">
        <p14:creationId xmlns:p14="http://schemas.microsoft.com/office/powerpoint/2010/main" val="3125632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9089E3-7708-43B9-B732-A575B11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733FB-564C-4195-B22E-8F5CEE7E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9B608-2015-44E1-B306-6FDC25F1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D1935-22AC-49C8-A93D-A46F48E8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Demonstration Flow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d86ea51ae46a7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5EFA3-C96B-476F-A160-A530D22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6D505-BEBB-462F-802B-5D2F5AF0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2238D-2366-4AB4-B23E-522C8A88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3D2E"/>
                </a:solidFill>
              </a:defRPr>
            </a:pPr>
            <a:r>
              <a:rPr sz="2550" b="1" i="0">
                <a:solidFill>
                  <a:srgbClr val="0F3D2E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13DE8-5706-4503-864B-0A80539A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1F"/>
                </a:solidFill>
              </a:defRPr>
            </a:pPr>
            <a:r>
              <a:rPr sz="1350" b="1" i="0">
                <a:solidFill>
                  <a:srgbClr val="18211F"/>
                </a:solidFill>
              </a:rPr>
              <a:t>Login with a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832DB-171F-4FAC-85E5-AD84E686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459AA-DC5E-4AD6-BE49-5DB4EB6C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3D2E"/>
                </a:solidFill>
              </a:defRPr>
            </a:pPr>
            <a:r>
              <a:rPr sz="2550" b="1" i="0">
                <a:solidFill>
                  <a:srgbClr val="0F3D2E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B7400-A10B-469F-ADAF-661B2725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1F"/>
                </a:solidFill>
              </a:defRPr>
            </a:pPr>
            <a:r>
              <a:rPr sz="1350" b="1" i="0">
                <a:solidFill>
                  <a:srgbClr val="18211F"/>
                </a:solidFill>
              </a:rPr>
              <a:t>Search or voice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61A02-4B49-47A1-91E6-35E750F9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1BBD8-E8FE-44F1-B61D-3338A5E1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8A24A"/>
                </a:solidFill>
              </a:defRPr>
            </a:pPr>
            <a:r>
              <a:rPr sz="2550" b="1" i="0">
                <a:solidFill>
                  <a:srgbClr val="C8A24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0F31B-26DE-46AA-B862-4073E50F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Open a book reader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4B2D4-1E08-4C38-BFAA-99D76EA3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99FEF-FBD4-4394-AFC9-6D073F2F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3D2E"/>
                </a:solidFill>
              </a:defRPr>
            </a:pPr>
            <a:r>
              <a:rPr sz="2550" b="1" i="0">
                <a:solidFill>
                  <a:srgbClr val="0F3D2E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5C17A-FD42-4B3B-B987-8F62468D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1F"/>
                </a:solidFill>
              </a:defRPr>
            </a:pPr>
            <a:r>
              <a:rPr sz="1350" b="1" i="0">
                <a:solidFill>
                  <a:srgbClr val="18211F"/>
                </a:solidFill>
              </a:rPr>
              <a:t>Play narration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E463C-C78B-4242-9449-B3AD7B58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64D4C-BE1B-4D05-8EE9-EF164D04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3D2E"/>
                </a:solidFill>
              </a:defRPr>
            </a:pPr>
            <a:r>
              <a:rPr sz="2550" b="1" i="0">
                <a:solidFill>
                  <a:srgbClr val="0F3D2E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57627-72B0-4FBB-8A2F-C11C19A6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1F"/>
                </a:solidFill>
              </a:defRPr>
            </a:pPr>
            <a:r>
              <a:rPr sz="1350" b="1" i="0">
                <a:solidFill>
                  <a:srgbClr val="18211F"/>
                </a:solidFill>
              </a:rPr>
              <a:t>Show admin/report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B0942-B6CC-4ED6-B3A2-CB84DAC5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Demo safety: run scripts/check_system.ps1 before presenting; it checks frontend, backend, MySQL, STT, SpeechT5 service, and preload readiness.</a:t>
            </a:r>
          </a:p>
        </p:txBody>
      </p:sp>
    </p:spTree>
    <p:extLst>
      <p:ext uri="{BB962C8B-B14F-4D97-AF65-F5344CB8AC3E}">
        <p14:creationId xmlns:p14="http://schemas.microsoft.com/office/powerpoint/2010/main" val="615039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74F4A-13F3-46CA-941B-A3780CFA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8242D-6551-48D5-B3D9-E8C28B89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705C7-1816-4063-9A35-CF2F43A7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C43DD-F6EC-4573-A7A1-5CA3A9A3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Limitations and Risks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e60cee6544f75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09941-0F53-4A77-92EE-49B00925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82D08-F936-4BE6-94E4-46160FA4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8A816-0808-4C54-977F-FABBA347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Speech quality depends on extracted text quality; OCR errors can affect pronunciation.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5650F-2DB2-4A46-BE4B-AD51C2EB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DBE40-D6D6-4232-B9B0-5FB27489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SpeechT5 can be slower or less clear on long/noisy text; clearer gTTS uses internet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87A0A-01D1-4899-BC74-4F9F189B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A0F7C-C1F0-4F6C-96DD-D39D99E3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Deployment requires PHP, MySQL, and Python FastAPI services, not frontend hosting alone.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C8BEE-20E2-4D6B-A7DC-CA764688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E0901-3580-45B4-A894-0382343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User survey conclusions require real questionnaire/interview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A838E-4915-4622-89B0-72FA1802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64D64-9315-4FA9-8069-5D2A07D3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Large model inference may need better CPU/GPU resources in production.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BC14C-9AA0-4C84-803D-0AC52739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0C1A2-29AA-4F64-9E59-C087A84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8A24A"/>
                </a:solidFill>
              </a:defRPr>
            </a:pPr>
            <a:r>
              <a:rPr sz="1650" b="1" i="0">
                <a:solidFill>
                  <a:srgbClr val="C8A24A"/>
                </a:solidFill>
              </a:rPr>
              <a:t>Defense tip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C53C6-E45C-45D4-A235-551B804F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 limitation is not a failure. It shows you understand the boundary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9800400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94314-D58F-4DA6-844B-31DAF89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16F5E-EB67-46DD-92F5-E76C3281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E5376-3B50-49F6-90E4-B09E9D50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ECA7F-BA51-4C93-A1D4-AC060E61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Conclusion and Recommendations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8c4588e22464a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E966F-C6BC-4B7B-83B6-D5641D8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EDDC8-2321-4197-A22A-9FE2F639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60424-CA45-47E4-B843-C5975867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43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3D2E"/>
                </a:solidFill>
              </a:defRPr>
            </a:pPr>
            <a:r>
              <a:rPr sz="2100" b="1" i="0">
                <a:solidFill>
                  <a:srgbClr val="0F3D2E"/>
                </a:solidFill>
              </a:rPr>
              <a:t>Conclusion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F400F-E6F9-4125-AA27-AF33A9A6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166F6-5BC9-4ECB-99D0-2D823113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The project implements a functional digital library.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54916-FBBC-480D-A846-8B798FBB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1D232-31BD-4CC2-805F-DF159CB2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Voice search and narration are integrated through backend-controlled AI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35D55-8FF5-4D13-B6E2-6037088F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820C7-8A80-48D1-9CC7-4B74FCF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Live testing confirms authentication, catalog, database, STT, and TTS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76F04-3317-451E-A361-8253F5FC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F1319-1B09-40B7-BFAF-4121F9A0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3D2E"/>
                </a:solidFill>
              </a:defRPr>
            </a:pPr>
            <a:r>
              <a:rPr sz="2100" b="1" i="0">
                <a:solidFill>
                  <a:srgbClr val="0F3D2E"/>
                </a:solidFill>
              </a:rPr>
              <a:t>Recommendations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FEAF3-99C9-470B-BE69-52120FF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42132-0B95-4617-921F-DD7506F8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Add mobile application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FB280-3A9A-4BA6-81E1-63005433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724AA-7493-4FA1-BD69-6517046C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Improve OCR cleaning and multilingual speech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7300B-9753-4F58-9B47-3788E272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21DC8-8764-4075-BD3D-A86C6A7D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99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Deploy on a server with persistent Python services.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431B6-B99F-4DA5-ACF2-82558B18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7C347-F5DA-45B7-9A0A-C6AEC8EA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29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Conduct user survey validation with documented questionnaire results.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BF86E-5968-4AAB-947F-2F96A4D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3D2E"/>
                </a:solidFill>
              </a:defRPr>
            </a:pPr>
            <a:r>
              <a:rPr sz="2850" b="1" i="0">
                <a:solidFill>
                  <a:srgbClr val="0F3D2E"/>
                </a:solidFill>
              </a:rPr>
              <a:t>THANK YOU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82B32-7BF4-47D1-9861-3B18F8D4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6763"/>
                </a:solidFill>
              </a:defRPr>
            </a:pPr>
            <a:r>
              <a:rPr sz="1650" b="0" i="0">
                <a:solidFill>
                  <a:srgbClr val="5B6763"/>
                </a:solidFill>
              </a:rPr>
              <a:t>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1586044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2026-06-17T20:10:17.6760000Z</dcterms:created>
  <dcterms:modified xsi:type="dcterms:W3CDTF">2026-06-17T20:10:17.6760000Z</dcterms:modified>
</coreProperties>
</file>