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c98c624764f57" /><Relationship Type="http://schemas.openxmlformats.org/officeDocument/2006/relationships/extended-properties" Target="/docProps/app.xml" Id="R2719679c30e74a01" /><Relationship Type="http://schemas.openxmlformats.org/officeDocument/2006/relationships/officeDocument" Target="/ppt/presentation.xml" Id="Rdd731ac80899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74fd5b45e45e5"/>
  </p:sldMasterIdLst>
  <p:notesMasterIdLst>
    <p:notesMasterId xmlns:r="http://schemas.openxmlformats.org/officeDocument/2006/relationships" r:id="R9f445a34c2574ec4"/>
  </p:notesMasterIdLst>
  <p:sldIdLst>
    <p:sldId xmlns:r="http://schemas.openxmlformats.org/officeDocument/2006/relationships" id="256" r:id="R5568c54c74bc4cff"/>
    <p:sldId xmlns:r="http://schemas.openxmlformats.org/officeDocument/2006/relationships" id="257" r:id="Rbea738f1e2894400"/>
    <p:sldId xmlns:r="http://schemas.openxmlformats.org/officeDocument/2006/relationships" id="258" r:id="Rce0f60cf36cf49f2"/>
    <p:sldId xmlns:r="http://schemas.openxmlformats.org/officeDocument/2006/relationships" id="259" r:id="R282655f7f61f4757"/>
    <p:sldId xmlns:r="http://schemas.openxmlformats.org/officeDocument/2006/relationships" id="260" r:id="R91684e9f99fa432f"/>
    <p:sldId xmlns:r="http://schemas.openxmlformats.org/officeDocument/2006/relationships" id="261" r:id="R225346960f5e4192"/>
    <p:sldId xmlns:r="http://schemas.openxmlformats.org/officeDocument/2006/relationships" id="262" r:id="R96888a6cce4d4afa"/>
    <p:sldId xmlns:r="http://schemas.openxmlformats.org/officeDocument/2006/relationships" id="263" r:id="R2c1fe1400a6d43b5"/>
    <p:sldId xmlns:r="http://schemas.openxmlformats.org/officeDocument/2006/relationships" id="264" r:id="R9380ee02c7664b74"/>
    <p:sldId xmlns:r="http://schemas.openxmlformats.org/officeDocument/2006/relationships" id="265" r:id="Rf68538d4e980497d"/>
    <p:sldId xmlns:r="http://schemas.openxmlformats.org/officeDocument/2006/relationships" id="266" r:id="R8bb0da7c545d4a0a"/>
    <p:sldId xmlns:r="http://schemas.openxmlformats.org/officeDocument/2006/relationships" id="267" r:id="R0c21938dedba4080"/>
    <p:sldId xmlns:r="http://schemas.openxmlformats.org/officeDocument/2006/relationships" id="268" r:id="R76b4ffdd611043ef"/>
    <p:sldId xmlns:r="http://schemas.openxmlformats.org/officeDocument/2006/relationships" id="269" r:id="R67b84612f8184dc6"/>
    <p:sldId xmlns:r="http://schemas.openxmlformats.org/officeDocument/2006/relationships" id="270" r:id="Re8290416e2744c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ac6d9a24e431e" /><Relationship Type="http://schemas.openxmlformats.org/officeDocument/2006/relationships/slideMaster" Target="/ppt/slideMasters/slideMaster1.xml" Id="R96974fd5b45e45e5" /><Relationship Type="http://schemas.openxmlformats.org/officeDocument/2006/relationships/notesMaster" Target="/ppt/notesMasters/notesMaster1.xml" Id="R9f445a34c2574ec4" /><Relationship Type="http://schemas.openxmlformats.org/officeDocument/2006/relationships/presProps" Target="/ppt/presProps.xml" Id="Re43855d5adcb4822" /><Relationship Type="http://schemas.openxmlformats.org/officeDocument/2006/relationships/tableStyles" Target="/ppt/tableStyles.xml" Id="R53cd980f71934666" /><Relationship Type="http://schemas.openxmlformats.org/officeDocument/2006/relationships/slide" Target="/ppt/slides/slide1.xml" Id="R5568c54c74bc4cff" /><Relationship Type="http://schemas.openxmlformats.org/officeDocument/2006/relationships/slide" Target="/ppt/slides/slide2.xml" Id="Rbea738f1e2894400" /><Relationship Type="http://schemas.openxmlformats.org/officeDocument/2006/relationships/slide" Target="/ppt/slides/slide3.xml" Id="Rce0f60cf36cf49f2" /><Relationship Type="http://schemas.openxmlformats.org/officeDocument/2006/relationships/slide" Target="/ppt/slides/slide4.xml" Id="R282655f7f61f4757" /><Relationship Type="http://schemas.openxmlformats.org/officeDocument/2006/relationships/slide" Target="/ppt/slides/slide5.xml" Id="R91684e9f99fa432f" /><Relationship Type="http://schemas.openxmlformats.org/officeDocument/2006/relationships/slide" Target="/ppt/slides/slide6.xml" Id="R225346960f5e4192" /><Relationship Type="http://schemas.openxmlformats.org/officeDocument/2006/relationships/slide" Target="/ppt/slides/slide7.xml" Id="R96888a6cce4d4afa" /><Relationship Type="http://schemas.openxmlformats.org/officeDocument/2006/relationships/slide" Target="/ppt/slides/slide8.xml" Id="R2c1fe1400a6d43b5" /><Relationship Type="http://schemas.openxmlformats.org/officeDocument/2006/relationships/slide" Target="/ppt/slides/slide9.xml" Id="R9380ee02c7664b74" /><Relationship Type="http://schemas.openxmlformats.org/officeDocument/2006/relationships/slide" Target="/ppt/slides/slide10.xml" Id="Rf68538d4e980497d" /><Relationship Type="http://schemas.openxmlformats.org/officeDocument/2006/relationships/slide" Target="/ppt/slides/slide11.xml" Id="R8bb0da7c545d4a0a" /><Relationship Type="http://schemas.openxmlformats.org/officeDocument/2006/relationships/slide" Target="/ppt/slides/slide12.xml" Id="R0c21938dedba4080" /><Relationship Type="http://schemas.openxmlformats.org/officeDocument/2006/relationships/slide" Target="/ppt/slides/slide13.xml" Id="R76b4ffdd611043ef" /><Relationship Type="http://schemas.openxmlformats.org/officeDocument/2006/relationships/slide" Target="/ppt/slides/slide14.xml" Id="R67b84612f8184dc6" /><Relationship Type="http://schemas.openxmlformats.org/officeDocument/2006/relationships/slide" Target="/ppt/slides/slide15.xml" Id="Re8290416e2744c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7f94ee8cd42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3d071328a54b50" /><Relationship Type="http://schemas.openxmlformats.org/officeDocument/2006/relationships/notesMaster" Target="/ppt/notesMasters/notesMaster1.xml" Id="Raf42b94cc21244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6f9a8cb0574f65" /><Relationship Type="http://schemas.openxmlformats.org/officeDocument/2006/relationships/notesMaster" Target="/ppt/notesMasters/notesMaster1.xml" Id="Rb749b90273ea42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f3641cef8a437f" /><Relationship Type="http://schemas.openxmlformats.org/officeDocument/2006/relationships/notesMaster" Target="/ppt/notesMasters/notesMaster1.xml" Id="R6e2219023493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ba4212da34a3c" /><Relationship Type="http://schemas.openxmlformats.org/officeDocument/2006/relationships/notesMaster" Target="/ppt/notesMasters/notesMaster1.xml" Id="Rd733fb716c41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b9fc60ad164660" /><Relationship Type="http://schemas.openxmlformats.org/officeDocument/2006/relationships/notesMaster" Target="/ppt/notesMasters/notesMaster1.xml" Id="Rc50e8541ea39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e1570e9cd4523" /><Relationship Type="http://schemas.openxmlformats.org/officeDocument/2006/relationships/notesMaster" Target="/ppt/notesMasters/notesMaster1.xml" Id="Rc15845af968a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df7eeb1764dab" /><Relationship Type="http://schemas.openxmlformats.org/officeDocument/2006/relationships/notesMaster" Target="/ppt/notesMasters/notesMaster1.xml" Id="R85d6eb8758a546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254314c0364140" /><Relationship Type="http://schemas.openxmlformats.org/officeDocument/2006/relationships/notesMaster" Target="/ppt/notesMasters/notesMaster1.xml" Id="Ra990df6a1fd847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ebb1a6a59e4e04" /><Relationship Type="http://schemas.openxmlformats.org/officeDocument/2006/relationships/notesMaster" Target="/ppt/notesMasters/notesMaster1.xml" Id="R72318ba5083645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caaf88435d417c" /><Relationship Type="http://schemas.openxmlformats.org/officeDocument/2006/relationships/notesMaster" Target="/ppt/notesMasters/notesMaster1.xml" Id="Rd1fd0587dbef4c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5164ed983f4e67" /><Relationship Type="http://schemas.openxmlformats.org/officeDocument/2006/relationships/notesMaster" Target="/ppt/notesMasters/notesMaster1.xml" Id="Reabba5e6e93c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4cfc4571c843f2" /><Relationship Type="http://schemas.openxmlformats.org/officeDocument/2006/relationships/notesMaster" Target="/ppt/notesMasters/notesMaster1.xml" Id="Rb260c5c2e18641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a3051b36044b40" /><Relationship Type="http://schemas.openxmlformats.org/officeDocument/2006/relationships/notesMaster" Target="/ppt/notesMasters/notesMaster1.xml" Id="R3ecae08f40e54e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855909370a42ba" /><Relationship Type="http://schemas.openxmlformats.org/officeDocument/2006/relationships/notesMaster" Target="/ppt/notesMasters/notesMaster1.xml" Id="R5c2bedb7b38e48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5d7f7375b544c2" /><Relationship Type="http://schemas.openxmlformats.org/officeDocument/2006/relationships/notesMaster" Target="/ppt/notesMasters/notesMaster1.xml" Id="Re9fc0e45adee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Greet the panel. State the project name and the main contribution: a digital library with voice-assisted search and narration.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position the work as a practical system, not only a written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motivation in simple terms: access, speed, and accessibility.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problem as system and access challenges, then connect them to the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main objective from specific objectives if asked.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answers the examiner's likely question about whether validation was user survey, system testing, or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Vite is frontend only; PDO is the PHP-to-MySQL access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Vite does not replace PHP. PDO is not a database; it is how PHP safely talks to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clearly that these Python services use FastAPI, not Flask.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split counts as concrete evidence that the dataset is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frontend does not access the database directly. It calls backend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if asked how database tables connect. Keep it conceptual unless they ask for SQL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your live demo script. Do not improvise too many features; show the strongest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about limitations. Examiners usually trust a candidate who knows the system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confidently. Invite questions and use the technical study guide for deeper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db428720e4d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b651e095794161" /><Relationship Type="http://schemas.openxmlformats.org/officeDocument/2006/relationships/slideLayout" Target="/ppt/slideLayouts/slideLayout1.xml" Id="Rd213c8945b1c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3c8945b1c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1dfdd4fb44dd5" /><Relationship Type="http://schemas.openxmlformats.org/officeDocument/2006/relationships/image" Target="/ppt/media/image.png" Id="Rcc0ef3e92ee04c9d" /><Relationship Type="http://schemas.openxmlformats.org/officeDocument/2006/relationships/notesSlide" Target="/ppt/notesSlides/notesSlide1.xml" Id="Rd206da32994e41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897538c94376" /><Relationship Type="http://schemas.openxmlformats.org/officeDocument/2006/relationships/image" Target="/ppt/media/image2.png" Id="R6877971723f14c0d" /><Relationship Type="http://schemas.openxmlformats.org/officeDocument/2006/relationships/notesSlide" Target="/ppt/notesSlides/notesSlide2.xml" Id="Rcf550f610a60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21a50e79d46fa" /><Relationship Type="http://schemas.openxmlformats.org/officeDocument/2006/relationships/image" Target="/ppt/media/image3.png" Id="R962706cf4e0f448c" /><Relationship Type="http://schemas.openxmlformats.org/officeDocument/2006/relationships/notesSlide" Target="/ppt/notesSlides/notesSlide3.xml" Id="Rf2c63db2c65f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3b6c9345246d6" /><Relationship Type="http://schemas.openxmlformats.org/officeDocument/2006/relationships/image" Target="/ppt/media/image4.png" Id="R605bdad9e14946b3" /><Relationship Type="http://schemas.openxmlformats.org/officeDocument/2006/relationships/notesSlide" Target="/ppt/notesSlides/notesSlide4.xml" Id="Rd177540ae450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69057b1d54e59" /><Relationship Type="http://schemas.openxmlformats.org/officeDocument/2006/relationships/image" Target="/ppt/media/image5.png" Id="Rb1580d75839f4ac4" /><Relationship Type="http://schemas.openxmlformats.org/officeDocument/2006/relationships/notesSlide" Target="/ppt/notesSlides/notesSlide5.xml" Id="R86bddba876ea4a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e24cff4b44127" /><Relationship Type="http://schemas.openxmlformats.org/officeDocument/2006/relationships/image" Target="/ppt/media/image6.png" Id="Rd93b7ad654cb46e0" /><Relationship Type="http://schemas.openxmlformats.org/officeDocument/2006/relationships/notesSlide" Target="/ppt/notesSlides/notesSlide6.xml" Id="R8d16cda79f90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e5fd0b3a94b63" /><Relationship Type="http://schemas.openxmlformats.org/officeDocument/2006/relationships/image" Target="/ppt/media/image7.png" Id="Rbf4127917ce74418" /><Relationship Type="http://schemas.openxmlformats.org/officeDocument/2006/relationships/notesSlide" Target="/ppt/notesSlides/notesSlide7.xml" Id="Rdfcad148ada1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7112009b24b5a" /><Relationship Type="http://schemas.openxmlformats.org/officeDocument/2006/relationships/image" Target="/ppt/media/image8.png" Id="R44d6fb3970b14c3a" /><Relationship Type="http://schemas.openxmlformats.org/officeDocument/2006/relationships/notesSlide" Target="/ppt/notesSlides/notesSlide8.xml" Id="Rfb49e92abe6648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c607005df49cb" /><Relationship Type="http://schemas.openxmlformats.org/officeDocument/2006/relationships/image" Target="/ppt/media/image9.png" Id="Rd8b937a886654689" /><Relationship Type="http://schemas.openxmlformats.org/officeDocument/2006/relationships/notesSlide" Target="/ppt/notesSlides/notesSlide9.xml" Id="Rc2bf1970875048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c276d5e854916" /><Relationship Type="http://schemas.openxmlformats.org/officeDocument/2006/relationships/image" Target="/ppt/media/image10.png" Id="R6574385036a54c99" /><Relationship Type="http://schemas.openxmlformats.org/officeDocument/2006/relationships/notesSlide" Target="/ppt/notesSlides/notesSlide10.xml" Id="Rba5f7ee24ec44d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58c3d807e482e" /><Relationship Type="http://schemas.openxmlformats.org/officeDocument/2006/relationships/image" Target="/ppt/media/image11.png" Id="Ra4948ccec6524bd7" /><Relationship Type="http://schemas.openxmlformats.org/officeDocument/2006/relationships/notesSlide" Target="/ppt/notesSlides/notesSlide11.xml" Id="R8088d4e845044b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33c380a2048a3" /><Relationship Type="http://schemas.openxmlformats.org/officeDocument/2006/relationships/image" Target="/ppt/media/image12.png" Id="R9cdaa684267c4f94" /><Relationship Type="http://schemas.openxmlformats.org/officeDocument/2006/relationships/notesSlide" Target="/ppt/notesSlides/notesSlide12.xml" Id="R4f535b5be37e41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6487d03ad441f" /><Relationship Type="http://schemas.openxmlformats.org/officeDocument/2006/relationships/image" Target="/ppt/media/image13.png" Id="R36710b7b17064143" /><Relationship Type="http://schemas.openxmlformats.org/officeDocument/2006/relationships/notesSlide" Target="/ppt/notesSlides/notesSlide13.xml" Id="R8651ec0b9a6745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5528e5fe9402d" /><Relationship Type="http://schemas.openxmlformats.org/officeDocument/2006/relationships/image" Target="/ppt/media/image14.png" Id="Ra34ad758c6684fc8" /><Relationship Type="http://schemas.openxmlformats.org/officeDocument/2006/relationships/notesSlide" Target="/ppt/notesSlides/notesSlide14.xml" Id="R11283e2e9c7144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8942e887e46e6" /><Relationship Type="http://schemas.openxmlformats.org/officeDocument/2006/relationships/image" Target="/ppt/media/image15.png" Id="R9a81cd6b8f7643c0" /><Relationship Type="http://schemas.openxmlformats.org/officeDocument/2006/relationships/notesSlide" Target="/ppt/notesSlides/notesSlide15.xml" Id="R3a92bf9b06cc46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ef3e92ee04c9d"/>
          <a:stretch xmlns:a="http://schemas.openxmlformats.org/drawingml/2006/main"/>
        </p:blipFill>
        <p:spPr>
          <a:xfrm xmlns:a="http://schemas.openxmlformats.org/drawingml/2006/main">
            <a:off x="781619" y="590550"/>
            <a:ext cx="837063" cy="876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7C2F5-A8A9-4ECC-B57C-C5CBBAC8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WELCOME TO MY THESIS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C0FFB-76B6-4112-A38B-FE46C81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DDEEE6"/>
                </a:solidFill>
              </a:defRPr>
            </a:pPr>
            <a:r>
              <a:rPr sz="1800" b="0" i="0">
                <a:solidFill>
                  <a:srgbClr val="DDEEE6"/>
                </a:solidFill>
              </a:rPr>
              <a:t>INES Digital Library with Voice Search and Audio Narration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75EA6-9F0B-40AF-A8E4-10C1D7E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4953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4B39"/>
          </a:solidFill>
          <a:ln xmlns:a="http://schemas.openxmlformats.org/drawingml/2006/main" w="9525">
            <a:solidFill>
              <a:srgbClr val="2C73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2ECDC-8C5E-4F9F-8666-CBE63892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A24A"/>
                </a:solidFill>
              </a:defRPr>
            </a:pPr>
            <a:r>
              <a:rPr sz="1050" b="1" i="0">
                <a:solidFill>
                  <a:srgbClr val="C8A24A"/>
                </a:solidFill>
              </a:rPr>
              <a:t>Core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8ACF6-970F-4C7F-949C-E72987AB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 web-based academic library that supports book management, search, reading, speech-to-text, and text-to-speech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51645-DBFD-449E-92D6-533D5E8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Presenter: Anne Louange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Supervisor: [Add supervisor name]</a:t>
            </a:r>
          </a:p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INES-Ruhengeri</a:t>
            </a:r>
          </a:p>
        </p:txBody>
      </p:sp>
    </p:spTree>
    <p:extLst>
      <p:ext uri="{BB962C8B-B14F-4D97-AF65-F5344CB8AC3E}">
        <p14:creationId xmlns:p14="http://schemas.microsoft.com/office/powerpoint/2010/main" val="167341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6A189-70D3-44E6-ABF3-F3A0B146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3A17B-8766-42D9-9345-9DF1BD6C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12E13-CB29-45F6-B2D6-DE306E0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14329-CA96-4C54-B683-9C4366C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Project Title and Focus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7971723f14c0d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728A6-3E4A-4CCB-A265-4E04C4B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364B4-CDA9-4BD4-9836-25F3893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3D2E"/>
                </a:solidFill>
              </a:defRPr>
            </a:pPr>
            <a:r>
              <a:rPr sz="2850" b="1" i="0">
                <a:solidFill>
                  <a:srgbClr val="0F3D2E"/>
                </a:solidFill>
              </a:rPr>
              <a:t>Design and Implementation of an Intelligent Digital Library System for INES-Ruhengeri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993EB-3CE0-433C-91B9-09ABDD71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36140-1441-4770-9273-FF770C97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Supports students, lecturers, librarians, and administrators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DC69C-BCDE-48D9-9AF7-AE554688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EF42C-E697-42BA-B48E-D9E38A6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Combines catalog management, borrowing, personal library, and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0B3C1-DD77-4DA7-B6E8-5978F95C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3B363-67A8-4151-8C6B-799ABFCB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674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Adds English STT for voice search and TTS for narration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1302C-3B57-446F-8F97-B5934B5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476500" cy="3048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DC981-B4C3-4E93-96BB-0AE4D6FF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3D2E"/>
                </a:solidFill>
              </a:defRPr>
            </a:pPr>
            <a:r>
              <a:rPr sz="1500" b="1" i="0">
                <a:solidFill>
                  <a:srgbClr val="0F3D2E"/>
                </a:solidFill>
              </a:rPr>
              <a:t>Defense emphasis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F8D57-BB4E-4F35-A21D-5A959B35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System design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Implementation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AI integration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Database links</a:t>
            </a:r>
          </a:p>
          <a:p xmlns:a="http://schemas.openxmlformats.org/drawingml/2006/main">
            <a:pPr>
              <a:defRPr sz="1650" b="0" i="0">
                <a:solidFill>
                  <a:srgbClr val="18211F"/>
                </a:solidFill>
              </a:defRPr>
            </a:pPr>
            <a:r>
              <a:rPr sz="1650" b="0" i="0">
                <a:solidFill>
                  <a:srgbClr val="18211F"/>
                </a:solidFill>
              </a:rPr>
              <a:t>Testing evidence</a:t>
            </a:r>
          </a:p>
        </p:txBody>
      </p:sp>
    </p:spTree>
    <p:extLst>
      <p:ext uri="{BB962C8B-B14F-4D97-AF65-F5344CB8AC3E}">
        <p14:creationId xmlns:p14="http://schemas.microsoft.com/office/powerpoint/2010/main" val="181295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F2B6F-0015-4999-BBAE-58515F72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473DE-7485-4748-825C-3DE6B3FC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7B97C-58C2-40B8-A589-F0D5C17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F8438-5941-4434-95C3-6C0442C3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Introduction and Motivation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706cf4e0f448c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DA2D-447A-4D91-BB66-66D5A331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0CDA0-607A-45A5-97B1-846655AF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42328-2A67-4A94-A940-857C03C9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Academic libraries need fast access to digital resources and borrowing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B3DD6-83A4-4B34-B16C-E1FF6C75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FD004-20CA-4B2F-A6AD-C37A1079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Students may prefer searching or listening instead of typing and reading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DC177-68A5-4664-B968-56D0B47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1FA48-A425-4C6C-8B89-FAADBE7B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Voice interaction improves accessibility and gives another path to resource discovery.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F500A-FE28-446C-B868-B77D139C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761ED-ABBC-45D5-914D-9F2E2DE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664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The system organizes books, users, courses, reports, speech search, and narration in one platform.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4392B-B18F-4230-8D22-488B7264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6BA39-A68F-4B99-BB1C-80E77552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8A24A"/>
                </a:solidFill>
              </a:defRPr>
            </a:pPr>
            <a:r>
              <a:rPr sz="1650" b="1" i="0">
                <a:solidFill>
                  <a:srgbClr val="C8A24A"/>
                </a:solidFill>
              </a:rPr>
              <a:t>Research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362B2-C900-4B1E-8EFF-8A97099F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Many library systems manage records, but fewer combine academic catalog workflows with voice search and audio reading support.</a:t>
            </a:r>
          </a:p>
        </p:txBody>
      </p:sp>
    </p:spTree>
    <p:extLst>
      <p:ext uri="{BB962C8B-B14F-4D97-AF65-F5344CB8AC3E}">
        <p14:creationId xmlns:p14="http://schemas.microsoft.com/office/powerpoint/2010/main" val="441801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EF9AC-8ED0-4374-A6CB-C0F53D3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5CACB-448D-4B99-9845-AC3C6605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486A8-6349-4C1F-9F01-BB31970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3CB50-EA88-46FA-9524-EFA5B19D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Problem Statement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bdad9e14946b3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BBB5C-FE1D-4DB3-94F0-5CF2DDEC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BFEF6-7364-45F1-AEC1-21EA94E4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299AF-011A-4AFF-A80E-F9BCE33E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Access delay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30E42-5781-4861-9F6E-4D4892D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Users may spend time searching manually for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BC39F-2C41-48F7-92E1-A72CEDE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31524-3B48-47FB-887D-265966DD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Limited interaction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B46FB-2FCE-4C73-8430-6F61136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Traditional systems depend mainly on typed input and visual reading.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C3CA9-8976-4C2A-8933-A8C8CC5A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618FB-DD4C-4FE3-8B01-9A07DAD3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Fragmented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E9D6F-D77E-411B-AD77-E2C2213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Books, borrowing, reviews, lecture notes, and reports need consistent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A992-91BB-46CB-AFAE-36E87290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D5DCD-F79E-4845-B5BF-1EF0486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AI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AAF38-7A73-42C0-A6CA-54ACDE4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211F"/>
                </a:solidFill>
              </a:defRPr>
            </a:pPr>
            <a:r>
              <a:rPr sz="1425" b="0" i="0">
                <a:solidFill>
                  <a:srgbClr val="18211F"/>
                </a:solidFill>
              </a:rPr>
              <a:t>Speech models must be connected safely to the backend and tested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1997421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D08B0-1603-4039-81EB-1FAA52D2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B34E2-D693-4043-A3D9-E40E9A5B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D8E0D-A204-4271-8160-E705EE39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1A092-53B6-4C47-8BEB-C54A876E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Research Objectives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80d75839f4ac4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DC1ED-C682-48A8-BC62-01357997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04916-E373-4498-98CC-0093E7C1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E0770-E51E-44F3-8A60-9D9007C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Develop a web-based digital library for INES academic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3C23-DECB-40F1-9AA4-1B815B87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1991A-21E6-4000-9744-D02A531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Implement role-based access for students, lecturers, librarians, and administrators.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BD84C-D261-47FE-AB6E-D54EBD8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29C05-0CBE-4D87-9C72-26578A1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Integrate STT voice search for English spoken queries.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D953C-50E2-4275-8323-611F2C9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94ECC-52B1-47F5-BA47-7C0F578D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Integrate TTS narration for readable book/page 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ABBAB-02E9-48D4-AD1E-E811A370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80B46-7EBB-490B-BA5F-28567F4F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7981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Test backend, frontend, database, STT, and TTS integration before defense.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EA046-7507-421F-BB2B-8CDB7A75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A77A1-DEF1-4230-A7D0-8078E64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Main objective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38331-1878-4516-9C61-BD3B112A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Improve resource discovery and accessibility through a managed digital library with voice support.</a:t>
            </a:r>
          </a:p>
        </p:txBody>
      </p:sp>
    </p:spTree>
    <p:extLst>
      <p:ext uri="{BB962C8B-B14F-4D97-AF65-F5344CB8AC3E}">
        <p14:creationId xmlns:p14="http://schemas.microsoft.com/office/powerpoint/2010/main" val="1741090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4AE46-C11C-4D9E-B071-B05A60C0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F755-7AF2-4763-9F4F-73C6603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CEC7E-A4DD-4792-9BCF-5D654FC5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1076B-7E59-45D1-A871-3CA2FE90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Methodology and Validation Scope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b7ad654cb46e0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AF89D-DE2A-4BD6-A254-CAB0D8B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85379-7F13-4D62-A7B0-3DAEB8E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46847-D010-459F-80ED-CAB4D114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3B46-5F19-467B-8E92-9C14156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Design science and Agile 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18033-933E-4AE0-B0C0-F768311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FC6E7-0AAF-4944-88E9-C906A49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Data collection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DF643-0B5C-4731-A4B5-2C177885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Interviews/observation should be documented if claimed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3B587-D14A-4F32-B7E2-04B8F46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E0E2F-485B-4F69-9E8E-47750AF3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F3D2E"/>
                </a:solidFill>
              </a:defRPr>
            </a:pPr>
            <a:r>
              <a:rPr sz="1575" b="1" i="0">
                <a:solidFill>
                  <a:srgbClr val="0F3D2E"/>
                </a:solidFill>
              </a:rPr>
              <a:t>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43AEE-45FA-4726-BD25-D765ACA6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React, PHP, MySQL, FastAPI speech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2B683-EE8E-4B91-AAEC-87D35419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76400"/>
            <a:ext cx="2190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82C31-7C35-4DBE-B4D0-BE04B269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52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C8A24A"/>
                </a:solidFill>
              </a:defRPr>
            </a:pPr>
            <a:r>
              <a:rPr sz="1575" b="1" i="0">
                <a:solidFill>
                  <a:srgbClr val="C8A24A"/>
                </a:solidFill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78CB95-78F1-4EA0-84BC-9674112C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57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System testing and live acceptance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67CEF-3B0A-4A02-B420-C333F1FF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85042"/>
                </a:solidFill>
              </a:defRPr>
            </a:pPr>
            <a:r>
              <a:rPr sz="1650" b="1" i="0">
                <a:solidFill>
                  <a:srgbClr val="B85042"/>
                </a:solidFill>
              </a:rPr>
              <a:t>Important defense clarification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2B264-CDDF-4E1E-AA81-455AD75F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866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Do not claim survey validation unless questionnaire results are included. Current evidence is functional/system testing plus live acceptance testing.</a:t>
            </a:r>
          </a:p>
        </p:txBody>
      </p:sp>
    </p:spTree>
    <p:extLst>
      <p:ext uri="{BB962C8B-B14F-4D97-AF65-F5344CB8AC3E}">
        <p14:creationId xmlns:p14="http://schemas.microsoft.com/office/powerpoint/2010/main" val="139534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9F186-3FC9-4B8C-8875-4EC80B1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9838F-9054-4A1A-A4A2-E5129794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FFD9D-EF4B-4B1D-8E67-A0143B3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FB7ED-DD45-41C3-B301-5FC91B81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System Architecture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127917ce74418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422AD-AB50-41C4-B5EA-ABC9FEC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72F4A-5B88-47F2-AE72-B1AB40BD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16EF6-7F9D-49C1-93DD-3B7E7690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10DA7-49DB-404E-81F7-32A9EB9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React + Vite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User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4B53B-39F8-4BB7-B0D5-C11091D0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9B37C-834C-4A82-913B-598B25F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509C7-8118-48E7-8CF7-A748DE5F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240D0-1E67-440D-A6D4-17C4CA48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PHP REST API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Authentication, routing,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1112B-C334-4FB9-9129-05F51BF8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64DD5-54F8-4678-AC6D-E3058C0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E6B86-0784-4252-ABFE-FDE81B7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8AAF3-3DE2-4154-868B-D2CCC23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MySQL via PDO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Users, books, borrowing,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0045C-7971-4041-8375-E154559E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C8A24A"/>
                </a:solidFill>
              </a:defRPr>
            </a:pPr>
            <a:r>
              <a:rPr sz="2400" b="1" i="0">
                <a:solidFill>
                  <a:srgbClr val="C8A24A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268CE-2862-4E7E-A9CC-75BE9399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D8DBB-0700-465D-88CC-69FFCBC7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66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AI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BED1D-8415-4D1F-A022-94542F2F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432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FastAPI STT/TTS</a:t>
            </a:r>
          </a:p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Wav2Vec2, Whisper, SpeechT5, gTTS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5D7A5-E613-4016-A71E-339622C8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211F"/>
                </a:solidFill>
              </a:defRPr>
            </a:pPr>
            <a:r>
              <a:rPr sz="1575" b="0" i="0">
                <a:solidFill>
                  <a:srgbClr val="18211F"/>
                </a:solidFill>
              </a:rPr>
              <a:t>Frontend calls backend endpoints. Backend uses PDO for database queries and calls local Python FastAPI speech services when audio processing is needed.</a:t>
            </a:r>
          </a:p>
        </p:txBody>
      </p:sp>
    </p:spTree>
    <p:extLst>
      <p:ext uri="{BB962C8B-B14F-4D97-AF65-F5344CB8AC3E}">
        <p14:creationId xmlns:p14="http://schemas.microsoft.com/office/powerpoint/2010/main" val="724919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67E89-6CFA-4A6C-ACB2-1510D3D8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B20AC-8BC4-4F76-829B-9921D513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A9476-BBD2-4660-BB67-5D9CB0E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5288A-A22C-43A9-A4F2-ECE88E6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Technology Stack: Why Vite and PDO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6fb3970b14c3a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D6819-5EA5-48DE-85F3-B687664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D5B5-87C1-491F-9EE9-CE615E6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A6EEB-8893-406C-9C89-36C7A727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Why Vite?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766E9-93B8-4821-B73D-BA3028AA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9B55E-A1E0-4AA2-8B38-C94B912F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Runs the React development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D9335-5E9E-481B-8AD3-54A1A7BD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A60EF-0421-4B33-80CD-3AB5C3C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Provides fast hot reload while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801A9-BBEA-4848-9691-34FD087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738BC-C30C-4BF6-9925-0AA797B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718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Builds production frontend files into dist/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C7CD5-8E31-46E2-AA85-33467604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D17D4-4F2D-4B1A-B240-BCEC42C5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Reads VITE_API_BASE_URL for backend connection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7D2C9-3E57-4D7E-9F88-F749B3ED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26F3B-721D-47B4-9937-C448EA8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What is PDO?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07F39-8B3C-4DC6-A403-581E2652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0B644-4579-48FB-A6C1-09753D8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PHP Data Objects database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BB830-5828-4FFF-9234-3408641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B9195-0885-4A2F-8F5D-A6A4B75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Connects PHP backend to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CEBFA-3917-4085-BB76-7951AB4D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C0F5B-50C5-411C-864A-BD617FE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Runs prepared SQL statements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E4F32-29E6-4079-8D01-02BA405F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2EE0E-F1BF-4EDC-AB1D-FDD9D6A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7190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Reduces SQL injection risk</a:t>
            </a:r>
          </a:p>
        </p:txBody>
      </p:sp>
    </p:spTree>
    <p:extLst>
      <p:ext uri="{BB962C8B-B14F-4D97-AF65-F5344CB8AC3E}">
        <p14:creationId xmlns:p14="http://schemas.microsoft.com/office/powerpoint/2010/main" val="9951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32F94-D0AD-4285-B671-A8C46FC5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17645-5604-433A-8EAD-D9EC27E2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63FEF-16C0-482A-B938-E9FC3C35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C4CFE-B94A-4F80-9521-0551BCA4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Speech Services: STT and TTS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937a886654689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06594-AC25-4164-9B8F-3831CC3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19797-D68B-4B38-A407-9A9FA429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84C83-F748-4C53-B85B-C08E0529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A6EDC-54B6-4454-ABC0-A84E6481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38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Speech-to-Text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02351-E4BC-4D7D-98EE-7ADAD22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02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FastAPI service receives microphone audio, converts it to 16 kHz mono, and transcribes English speech.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FB7C2-1D76-4C35-AFC9-82810E30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82D5C-E265-4F19-BF4D-F9F90EE2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Transformer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41692-3D6D-487A-ACC2-C1E8E22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38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Wav2Vec2 CTC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BC2AD-876F-4959-B1AF-09426CD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032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Uses local transformer_model when available; fallback base model is facebook/wav2vec2-base-960h.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FECB5-A4CA-4386-92B6-128AE64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0C540-7240-4215-8284-FE851C14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81E31-FBD0-4841-A9A3-A2FBC34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38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Text-to-Speech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5B70D-4C14-4449-9E4D-CCF25E87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SpeechT5 is preloaded for local WAV narration; reader can use clearer gTTS MP3 with SpeechT5 fallback.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F06D6-6589-40A2-8786-B75A405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64FAB-80D9-4EA6-81A6-452669D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39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Health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18C9A-B36E-4AE1-93F8-D69BA200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38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3D2E"/>
                </a:solidFill>
              </a:defRPr>
            </a:pPr>
            <a:r>
              <a:rPr sz="1725" b="1" i="0">
                <a:solidFill>
                  <a:srgbClr val="0F3D2E"/>
                </a:solidFill>
              </a:rPr>
              <a:t>Preload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32650-9B01-4D7E-95B2-35CFED9E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0057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Backend /health reports whether speech services and SpeechT5 readiness are safe for live demo.</a:t>
            </a:r>
          </a:p>
        </p:txBody>
      </p:sp>
    </p:spTree>
    <p:extLst>
      <p:ext uri="{BB962C8B-B14F-4D97-AF65-F5344CB8AC3E}">
        <p14:creationId xmlns:p14="http://schemas.microsoft.com/office/powerpoint/2010/main" val="1537721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E3375-3741-4479-9F42-179E3092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4D621-5866-46D6-9F20-8DB9C17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86C1E-6579-4B6A-933E-8B5BF823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E8197-859F-4A04-AD24-E098A72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Dataset and Model Evidence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4385036a54c99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F54F3-D921-4DF3-932F-44E3EF1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03B9A-9E96-4EDA-8621-D509EB04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Dataset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61D26-7457-44D7-B056-CEE9D184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speech_datasets/LibriSpeech/</a:t>
            </a:r>
          </a:p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speech_datasets/manifests/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A2F17-30AE-4F6C-A8A2-181C2FD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371EF-81BA-4B75-9171-1D7B718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28,539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EA955-8202-4B49-951F-FA3583B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DEEE6"/>
                </a:solidFill>
              </a:defRPr>
            </a:pPr>
            <a:r>
              <a:rPr sz="1275" b="0" i="0">
                <a:solidFill>
                  <a:srgbClr val="DDEEE6"/>
                </a:solidFill>
              </a:rPr>
              <a:t>Train samples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E2048-EC02-422F-81C3-81FFAE44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1C4CD-3DD7-4164-A09A-4B58BEAE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3D2E"/>
                </a:solidFill>
              </a:defRPr>
            </a:pPr>
            <a:r>
              <a:rPr sz="3000" b="1" i="0">
                <a:solidFill>
                  <a:srgbClr val="0F3D2E"/>
                </a:solidFill>
              </a:rPr>
              <a:t>2,703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C86F7-8269-4414-BA65-76B230F5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Dev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5F2FF-8494-488E-9F20-AE7EC95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432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36E06-323A-4EA0-B66A-C75826C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3D2E"/>
                </a:solidFill>
              </a:defRPr>
            </a:pPr>
            <a:r>
              <a:rPr sz="3000" b="1" i="0">
                <a:solidFill>
                  <a:srgbClr val="0F3D2E"/>
                </a:solidFill>
              </a:rPr>
              <a:t>2,620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8FD48-671D-4FB2-99F3-3118B7C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Test samples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AC4FB-A670-4A51-A88E-502D741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224A8-E746-4449-AC2E-A9A48B49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3D2E"/>
                </a:solidFill>
              </a:defRPr>
            </a:pPr>
            <a:r>
              <a:rPr sz="1650" b="1" i="0">
                <a:solidFill>
                  <a:srgbClr val="0F3D2E"/>
                </a:solidFill>
              </a:rPr>
              <a:t>Running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0FB1D-E6FD-4927-BF5A-438C8BD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transformer_model is available locally and used by the live STT service.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66471-86E8-4D0A-8F03-1A3ADC7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3D2E"/>
                </a:solidFill>
              </a:defRPr>
            </a:pPr>
            <a:r>
              <a:rPr sz="1350" b="1" i="0">
                <a:solidFill>
                  <a:srgbClr val="0F3D2E"/>
                </a:solidFill>
              </a:rPr>
              <a:t>Health status: ready</a:t>
            </a:r>
          </a:p>
        </p:txBody>
      </p:sp>
    </p:spTree>
    <p:extLst>
      <p:ext uri="{BB962C8B-B14F-4D97-AF65-F5344CB8AC3E}">
        <p14:creationId xmlns:p14="http://schemas.microsoft.com/office/powerpoint/2010/main" val="1853719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3E470-062C-4142-88D8-4D11DE52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F97CC-E96B-4CD2-8F02-00989B04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4F52D-5345-4CF4-9721-68CD952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620C2-647B-4AB1-B375-046355C5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API Endpoint Summary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48ccec6524bd7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D5E63-1774-40C9-BD37-7AA76928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705DB-C635-402C-8A6B-7AEA14F1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7454-B7EB-4030-97C7-C6E7304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85EC-E36B-45F0-9B1B-1340FBE4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backend, database, AI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9C788-48CE-4B83-9E49-29FD6FC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389DE-7E2C-440F-81F0-44F3276B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/auth/login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3F914-EEBA-4AD9-937E-DD9EB25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user authentication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5911-F911-4006-AD17-B7A41F5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EDFA9-0239-4EA4-970C-CA6A0A8D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/books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9D205-BEFE-4DD7-9B06-4C9B93C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catalog search/listing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8FCF8-3E79-4387-9C05-A451E124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157B5-005A-45F9-B2AF-E38DDBDA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/books/{id}/page/{n}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53E57-08E0-47CA-A722-3936121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reader page text/image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CEAD9-FC62-48D3-BC4C-B511818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8E747-8582-4470-A36D-BBDA3B5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/voice-search/search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DA566-AD95-426D-A52D-6593A5B2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microphone STT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5B3BD-378A-4EB0-92EB-A4410F5F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C402D9-2032-40B2-8BB3-9D6BF6E9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POST /tts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79E37-956B-4C18-BBD1-6E90D4D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generate narration audio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62DDE-A9C7-4B49-99A5-39B506D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D79E8-FCFB-4CEF-9873-82267EE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/tts/audio/{file}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C87C6C-7220-4AC2-B79E-22100C9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serve generated audio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C30C7-D0DB-4E03-8CD7-6DCF291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81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1C440-39D3-4ACB-92FF-9589D6A0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3D2E"/>
                </a:solidFill>
              </a:defRPr>
            </a:pPr>
            <a:r>
              <a:rPr sz="1200" b="1" i="0">
                <a:solidFill>
                  <a:srgbClr val="0F3D2E"/>
                </a:solidFill>
              </a:rPr>
              <a:t>GET /reports/*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BC9A8E-CB2C-4605-AB4D-901703EB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211F"/>
                </a:solidFill>
              </a:defRPr>
            </a:pPr>
            <a:r>
              <a:rPr sz="1200" b="0" i="0">
                <a:solidFill>
                  <a:srgbClr val="18211F"/>
                </a:solidFill>
              </a:rPr>
              <a:t>management reports</a:t>
            </a:r>
          </a:p>
        </p:txBody>
      </p:sp>
    </p:spTree>
    <p:extLst>
      <p:ext uri="{BB962C8B-B14F-4D97-AF65-F5344CB8AC3E}">
        <p14:creationId xmlns:p14="http://schemas.microsoft.com/office/powerpoint/2010/main" val="2000735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6F448-95B5-4878-BBFF-7843C37B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8C332-3E53-418B-A7D3-65550256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66835-C2E4-44F9-AB66-85CDF9BA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651DD-1D43-4C3A-85C2-0F3CA8EF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Database Relationship Summary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aa684267c4f94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D5A3F-3DAA-4CB5-B177-FADB521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4AF2D-663A-416D-B917-431CA902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AA8B0-5A82-4259-A180-CE39BE1A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8A24A"/>
                </a:solidFill>
              </a:defRPr>
            </a:pPr>
            <a:r>
              <a:rPr sz="1800" b="1" i="0">
                <a:solidFill>
                  <a:srgbClr val="C8A24A"/>
                </a:solidFill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BACEA-810A-4549-B69D-7C555FB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roles, profiles, 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B2153-6522-4F3D-B438-4355028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63201-02CB-465E-B86D-5B70596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books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F0EEA-3EAC-495A-B0FB-F7E078EF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authors, categories,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DD12F-45D2-4931-969B-CDE4351D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192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4AF18-590C-4161-956C-F2BA404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borrowing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605BB-CCDE-4D22-A5E1-B0DF4C41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requests, renewals,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BFD1-E005-414C-817D-D8CA9BC0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AF631-8A04-4768-8756-E3F8332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0D381-A483-453F-BF61-5BD3F30F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courses, reading lists, lecture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328FB-58CB-4DF9-AE83-7596DA6C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2809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A9CD6-197D-423F-99D0-589E3BA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3D2E"/>
                </a:solidFill>
              </a:defRPr>
            </a:pPr>
            <a:r>
              <a:rPr sz="1800" b="1" i="0">
                <a:solidFill>
                  <a:srgbClr val="0F3D2E"/>
                </a:solidFill>
              </a:rPr>
              <a:t>interaction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E6A72-ABB7-4295-BE3D-8365AE12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211F"/>
                </a:solidFill>
              </a:defRPr>
            </a:pPr>
            <a:r>
              <a:rPr sz="1275" b="0" i="0">
                <a:solidFill>
                  <a:srgbClr val="18211F"/>
                </a:solidFill>
              </a:rPr>
              <a:t>search logs, TTS logs, reviews, 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FACC0-4C34-4615-923E-EA407EC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Main relationship idea: users perform actions on books; books are linked to academic structures; logs and reports record system activity.</a:t>
            </a:r>
          </a:p>
        </p:txBody>
      </p:sp>
    </p:spTree>
    <p:extLst>
      <p:ext uri="{BB962C8B-B14F-4D97-AF65-F5344CB8AC3E}">
        <p14:creationId xmlns:p14="http://schemas.microsoft.com/office/powerpoint/2010/main" val="5641918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B3821A-4DE2-45CE-BFF4-88CA776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0CC5B-C820-4FB4-B937-A49AAFE9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962CD-6547-46E5-A2FF-CB66F056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88EC-3435-4270-89A7-5905430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Demonstration Flow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10b7b17064143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334A2-1FB5-44B1-9622-8301212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477BA-C387-4F84-A4BC-2922172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95A0E-3CBE-4508-A59B-A117C148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F57E6-CBE7-4641-8A6C-C1DB8301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Login with a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403EA-23F3-4ABC-89E1-B607C59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2F58D-00D2-4B65-B8AD-1FA11EA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3751C-6CBD-430B-8D4D-8F332D01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Search or voice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A0B62-417F-48B1-8EBD-289ECF7C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EBF14-6CDE-4160-80C2-81B3894F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8A24A"/>
                </a:solidFill>
              </a:defRPr>
            </a:pPr>
            <a:r>
              <a:rPr sz="2550" b="1" i="0">
                <a:solidFill>
                  <a:srgbClr val="C8A24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1B4EE-7AD2-4639-8CF4-5C860CDE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Open a book reader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2B29B-3A09-4901-A4A7-7A43B620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7524B-60CA-44AF-962D-CC3B062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11FE8-3AE3-4D9F-A0BA-6BCF94D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Play narration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47535-4B2B-4AB0-8218-B39A48EA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C5BF9-9AA1-4204-8E58-F22E174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3D2E"/>
                </a:solidFill>
              </a:defRPr>
            </a:pPr>
            <a:r>
              <a:rPr sz="2550" b="1" i="0">
                <a:solidFill>
                  <a:srgbClr val="0F3D2E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AC98B-543B-4032-8213-9B62ECE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71800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211F"/>
                </a:solidFill>
              </a:defRPr>
            </a:pPr>
            <a:r>
              <a:rPr sz="1350" b="1" i="0">
                <a:solidFill>
                  <a:srgbClr val="18211F"/>
                </a:solidFill>
              </a:rPr>
              <a:t>Show admin/report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A7BA9-6201-4CB7-B1B2-C3AF5236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Demo safety: run scripts/check_system.ps1 before presenting; it checks frontend, backend, MySQL, STT, SpeechT5 service, and preload readiness.</a:t>
            </a:r>
          </a:p>
        </p:txBody>
      </p:sp>
    </p:spTree>
    <p:extLst>
      <p:ext uri="{BB962C8B-B14F-4D97-AF65-F5344CB8AC3E}">
        <p14:creationId xmlns:p14="http://schemas.microsoft.com/office/powerpoint/2010/main" val="12275495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36D0F-AAA6-4FAA-A74E-20D6B6C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5D4C5-F486-44E7-B351-74CC5FDB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CFB3F-9D2E-40F7-AE1E-E737CC72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C3D30-278D-4739-B676-D7F767BC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Limitations and Risks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ad758c6684fc8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57513-2FFB-42C2-A33C-4FAD9CD8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250C4-AAB7-4FDA-86CB-C616D99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65736-47D9-45F5-AAF2-A6B1DB1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 quality depends on extracted text quality; OCR errors can affect pronunciation.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A51F5-572B-4728-AA81-9ED6B61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E874C-28C0-469A-8B73-C5BEBB1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SpeechT5 can be slower or less clear on long/noisy text; clearer gTTS uses internet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33972-61D4-4D96-B616-41A89D0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508D7-D9C7-404E-91CF-5BD1FA54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Deployment requires PHP, MySQL, and Python FastAPI services, not frontend hosting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73449-538A-4788-91FB-04ED4F76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CB14E-7772-4254-86DB-D5F09483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User survey conclusions require real questionnaire/interview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25647-CF55-4D9E-BC7E-DCAD991D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02DC-D1C3-4353-AC21-D0C62589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211F"/>
                </a:solidFill>
              </a:defRPr>
            </a:pPr>
            <a:r>
              <a:rPr sz="1500" b="0" i="0">
                <a:solidFill>
                  <a:srgbClr val="18211F"/>
                </a:solidFill>
              </a:rPr>
              <a:t>Large model inference may need better CPU/GPU resources in production.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5CCC0-B5C1-4490-AEFF-03AB5E2A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9525">
            <a:solidFill>
              <a:srgbClr val="0F3D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9EECA-704D-4008-94A4-9AFACEC6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8A24A"/>
                </a:solidFill>
              </a:defRPr>
            </a:pPr>
            <a:r>
              <a:rPr sz="1650" b="1" i="0">
                <a:solidFill>
                  <a:srgbClr val="C8A24A"/>
                </a:solidFill>
              </a:rPr>
              <a:t>Defense tip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BBB7F-C446-48FB-9FBB-8FFA9BC5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 limitation is not a failure. It shows you understand the boundary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10707211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554FD-68D2-40FC-B096-B91422B6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D2E"/>
          </a:solidFill>
          <a:ln xmlns:a="http://schemas.openxmlformats.org/drawingml/2006/main" w="0">
            <a:solidFill>
              <a:srgbClr val="0F3D2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7B0FC-D69D-4E85-B2D1-A24C9F5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21E35-27EE-4E18-8D33-FE490C1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F3D2E"/>
                </a:solidFill>
              </a:defRPr>
            </a:pPr>
            <a:r>
              <a:rPr sz="900" b="1" i="0">
                <a:solidFill>
                  <a:srgbClr val="0F3D2E"/>
                </a:solidFill>
              </a:rPr>
              <a:t>INES DIGITAL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F0757-D9D3-490B-8AB3-53A9799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211F"/>
                </a:solidFill>
              </a:defRPr>
            </a:pPr>
            <a:r>
              <a:rPr sz="2550" b="1" i="0">
                <a:solidFill>
                  <a:srgbClr val="18211F"/>
                </a:solidFill>
              </a:rPr>
              <a:t>Conclusion and Recommendations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cd6b8f7643c0"/>
          <a:stretch xmlns:a="http://schemas.openxmlformats.org/drawingml/2006/main"/>
        </p:blipFill>
        <p:spPr>
          <a:xfrm xmlns:a="http://schemas.openxmlformats.org/drawingml/2006/main">
            <a:off x="9636883" y="342900"/>
            <a:ext cx="709684" cy="74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36845-FF65-455E-87C8-F4701AD5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7543A-4AF7-4F45-904A-F69D1DA6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462B6-F68F-4A3F-A6CA-03738D6B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D8C90-8188-488A-BD7A-36C09427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19DDB-3B15-4BE2-A67F-3C663A09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The project implements a functional digital library.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44AB0-1D3E-422E-B0CE-1C150506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E703D-DFE1-442C-9659-4826B0E8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Voice search and narration are integrated through backend-controlled AI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506D2-A586-4FCD-9374-73ECEB2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838CA-9076-4390-8E16-78F0FF5E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Live testing confirms authentication, catalog, database, STT, and TTS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31390-101D-4500-B169-3ECC9B3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D5278-DAD9-43F9-B2CD-D97CFF5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3D2E"/>
                </a:solidFill>
              </a:defRPr>
            </a:pPr>
            <a:r>
              <a:rPr sz="2100" b="1" i="0">
                <a:solidFill>
                  <a:srgbClr val="0F3D2E"/>
                </a:solidFill>
              </a:rPr>
              <a:t>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AAE26-B689-493A-BECC-D07828DA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D0D83-ED7F-44AC-B253-9D26262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Add mobile application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C921F-C2A3-441C-82E1-115DA8F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292FE-A8B6-4777-9039-A2227FC0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Improve OCR cleaning and multilingual speech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6E857-FE2D-40F9-AF35-7109D386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7102C-599D-4829-86A5-B8033180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99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Deploy on a server with persistent Python services.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BC565-F75E-463B-A568-16248B1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0D565-DEC2-49FC-ACA6-1DC7F14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29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211F"/>
                </a:solidFill>
              </a:defRPr>
            </a:pPr>
            <a:r>
              <a:rPr sz="1350" b="0" i="0">
                <a:solidFill>
                  <a:srgbClr val="18211F"/>
                </a:solidFill>
              </a:rPr>
              <a:t>Conduct user survey validation with documented questionnaire results.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05D27-178A-4858-8DB5-E3A8EC80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3D2E"/>
                </a:solidFill>
              </a:defRPr>
            </a:pPr>
            <a:r>
              <a:rPr sz="2850" b="1" i="0">
                <a:solidFill>
                  <a:srgbClr val="0F3D2E"/>
                </a:solidFill>
              </a:rPr>
              <a:t>THANK YOU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EDC66-E7D9-4B73-9600-37F49E0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6763"/>
                </a:solidFill>
              </a:defRPr>
            </a:pPr>
            <a:r>
              <a:rPr sz="1650" b="0" i="0">
                <a:solidFill>
                  <a:srgbClr val="5B6763"/>
                </a:solidFill>
              </a:rPr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1722082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2026-06-17T19:35:41.2160000Z</dcterms:created>
  <dcterms:modified xsi:type="dcterms:W3CDTF">2026-06-17T19:35:41.2160000Z</dcterms:modified>
</coreProperties>
</file>