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87102fd7f64677" /><Relationship Type="http://schemas.openxmlformats.org/officeDocument/2006/relationships/extended-properties" Target="/docProps/app.xml" Id="R132a119930c241a0" /><Relationship Type="http://schemas.openxmlformats.org/officeDocument/2006/relationships/officeDocument" Target="/ppt/presentation.xml" Id="Rb886f204ccda41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f0fc6fa0ba40aa"/>
  </p:sldMasterIdLst>
  <p:notesMasterIdLst>
    <p:notesMasterId xmlns:r="http://schemas.openxmlformats.org/officeDocument/2006/relationships" r:id="R9e5121f98ce34212"/>
  </p:notesMasterIdLst>
  <p:sldIdLst>
    <p:sldId xmlns:r="http://schemas.openxmlformats.org/officeDocument/2006/relationships" id="256" r:id="R3f2746bf4d0b41f9"/>
    <p:sldId xmlns:r="http://schemas.openxmlformats.org/officeDocument/2006/relationships" id="257" r:id="Rf0e8e5af638a4687"/>
    <p:sldId xmlns:r="http://schemas.openxmlformats.org/officeDocument/2006/relationships" id="258" r:id="Rcc4e3977148d40c7"/>
    <p:sldId xmlns:r="http://schemas.openxmlformats.org/officeDocument/2006/relationships" id="259" r:id="Rfb29088817a84d3e"/>
    <p:sldId xmlns:r="http://schemas.openxmlformats.org/officeDocument/2006/relationships" id="260" r:id="R6c0aa43d31994d45"/>
    <p:sldId xmlns:r="http://schemas.openxmlformats.org/officeDocument/2006/relationships" id="261" r:id="R168236b391f74672"/>
    <p:sldId xmlns:r="http://schemas.openxmlformats.org/officeDocument/2006/relationships" id="262" r:id="R7d18f7636dba4ee9"/>
    <p:sldId xmlns:r="http://schemas.openxmlformats.org/officeDocument/2006/relationships" id="263" r:id="Rda5d950397df4b54"/>
    <p:sldId xmlns:r="http://schemas.openxmlformats.org/officeDocument/2006/relationships" id="264" r:id="R677e53ac72674e3a"/>
    <p:sldId xmlns:r="http://schemas.openxmlformats.org/officeDocument/2006/relationships" id="265" r:id="R6972c115dd444d49"/>
    <p:sldId xmlns:r="http://schemas.openxmlformats.org/officeDocument/2006/relationships" id="266" r:id="Rf4b0f1decd114ef2"/>
    <p:sldId xmlns:r="http://schemas.openxmlformats.org/officeDocument/2006/relationships" id="267" r:id="R8879f8b893c94022"/>
    <p:sldId xmlns:r="http://schemas.openxmlformats.org/officeDocument/2006/relationships" id="268" r:id="Rcc73851a3f9d463c"/>
    <p:sldId xmlns:r="http://schemas.openxmlformats.org/officeDocument/2006/relationships" id="269" r:id="R57e102d38f9e413b"/>
    <p:sldId xmlns:r="http://schemas.openxmlformats.org/officeDocument/2006/relationships" id="270" r:id="R2b88debb062d402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26aeba13544a4b" /><Relationship Type="http://schemas.openxmlformats.org/officeDocument/2006/relationships/slideMaster" Target="/ppt/slideMasters/slideMaster1.xml" Id="R91f0fc6fa0ba40aa" /><Relationship Type="http://schemas.openxmlformats.org/officeDocument/2006/relationships/notesMaster" Target="/ppt/notesMasters/notesMaster1.xml" Id="R9e5121f98ce34212" /><Relationship Type="http://schemas.openxmlformats.org/officeDocument/2006/relationships/presProps" Target="/ppt/presProps.xml" Id="R62ccef8b1c654aa2" /><Relationship Type="http://schemas.openxmlformats.org/officeDocument/2006/relationships/tableStyles" Target="/ppt/tableStyles.xml" Id="R778a477039544d1b" /><Relationship Type="http://schemas.openxmlformats.org/officeDocument/2006/relationships/slide" Target="/ppt/slides/slide1.xml" Id="R3f2746bf4d0b41f9" /><Relationship Type="http://schemas.openxmlformats.org/officeDocument/2006/relationships/slide" Target="/ppt/slides/slide2.xml" Id="Rf0e8e5af638a4687" /><Relationship Type="http://schemas.openxmlformats.org/officeDocument/2006/relationships/slide" Target="/ppt/slides/slide3.xml" Id="Rcc4e3977148d40c7" /><Relationship Type="http://schemas.openxmlformats.org/officeDocument/2006/relationships/slide" Target="/ppt/slides/slide4.xml" Id="Rfb29088817a84d3e" /><Relationship Type="http://schemas.openxmlformats.org/officeDocument/2006/relationships/slide" Target="/ppt/slides/slide5.xml" Id="R6c0aa43d31994d45" /><Relationship Type="http://schemas.openxmlformats.org/officeDocument/2006/relationships/slide" Target="/ppt/slides/slide6.xml" Id="R168236b391f74672" /><Relationship Type="http://schemas.openxmlformats.org/officeDocument/2006/relationships/slide" Target="/ppt/slides/slide7.xml" Id="R7d18f7636dba4ee9" /><Relationship Type="http://schemas.openxmlformats.org/officeDocument/2006/relationships/slide" Target="/ppt/slides/slide8.xml" Id="Rda5d950397df4b54" /><Relationship Type="http://schemas.openxmlformats.org/officeDocument/2006/relationships/slide" Target="/ppt/slides/slide9.xml" Id="R677e53ac72674e3a" /><Relationship Type="http://schemas.openxmlformats.org/officeDocument/2006/relationships/slide" Target="/ppt/slides/slide10.xml" Id="R6972c115dd444d49" /><Relationship Type="http://schemas.openxmlformats.org/officeDocument/2006/relationships/slide" Target="/ppt/slides/slide11.xml" Id="Rf4b0f1decd114ef2" /><Relationship Type="http://schemas.openxmlformats.org/officeDocument/2006/relationships/slide" Target="/ppt/slides/slide12.xml" Id="R8879f8b893c94022" /><Relationship Type="http://schemas.openxmlformats.org/officeDocument/2006/relationships/slide" Target="/ppt/slides/slide13.xml" Id="Rcc73851a3f9d463c" /><Relationship Type="http://schemas.openxmlformats.org/officeDocument/2006/relationships/slide" Target="/ppt/slides/slide14.xml" Id="R57e102d38f9e413b" /><Relationship Type="http://schemas.openxmlformats.org/officeDocument/2006/relationships/slide" Target="/ppt/slides/slide15.xml" Id="R2b88debb062d40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291e3a3fff41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2275876372497d" /><Relationship Type="http://schemas.openxmlformats.org/officeDocument/2006/relationships/notesMaster" Target="/ppt/notesMasters/notesMaster1.xml" Id="Rf94b7be402d447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271063bdad4610" /><Relationship Type="http://schemas.openxmlformats.org/officeDocument/2006/relationships/notesMaster" Target="/ppt/notesMasters/notesMaster1.xml" Id="R2185315ecdd34d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92777d75a74703" /><Relationship Type="http://schemas.openxmlformats.org/officeDocument/2006/relationships/notesMaster" Target="/ppt/notesMasters/notesMaster1.xml" Id="Rfad7bdf6c00445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80d252520e4508" /><Relationship Type="http://schemas.openxmlformats.org/officeDocument/2006/relationships/notesMaster" Target="/ppt/notesMasters/notesMaster1.xml" Id="R8766b2a6c1374e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5dee2ee12f4281" /><Relationship Type="http://schemas.openxmlformats.org/officeDocument/2006/relationships/notesMaster" Target="/ppt/notesMasters/notesMaster1.xml" Id="Rd40fbfceed3841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85788fd72c447d" /><Relationship Type="http://schemas.openxmlformats.org/officeDocument/2006/relationships/notesMaster" Target="/ppt/notesMasters/notesMaster1.xml" Id="R082f2dfe259843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72de3578e24c8e" /><Relationship Type="http://schemas.openxmlformats.org/officeDocument/2006/relationships/notesMaster" Target="/ppt/notesMasters/notesMaster1.xml" Id="R93a11c993f844f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4f93be4ed440db" /><Relationship Type="http://schemas.openxmlformats.org/officeDocument/2006/relationships/notesMaster" Target="/ppt/notesMasters/notesMaster1.xml" Id="Rea6de7e02e2a44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08294a85364869" /><Relationship Type="http://schemas.openxmlformats.org/officeDocument/2006/relationships/notesMaster" Target="/ppt/notesMasters/notesMaster1.xml" Id="R01e54afd8a0f46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0c7e875aa54d0b" /><Relationship Type="http://schemas.openxmlformats.org/officeDocument/2006/relationships/notesMaster" Target="/ppt/notesMasters/notesMaster1.xml" Id="R7836d55ab4dd44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32c0007535428d" /><Relationship Type="http://schemas.openxmlformats.org/officeDocument/2006/relationships/notesMaster" Target="/ppt/notesMasters/notesMaster1.xml" Id="R90164c11aaea4e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3ab77a4dd88446b" /><Relationship Type="http://schemas.openxmlformats.org/officeDocument/2006/relationships/notesMaster" Target="/ppt/notesMasters/notesMaster1.xml" Id="Rb1e8a3c1ca41498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872b05a815495d" /><Relationship Type="http://schemas.openxmlformats.org/officeDocument/2006/relationships/notesMaster" Target="/ppt/notesMasters/notesMaster1.xml" Id="R63e8f66ff7814fb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f85d089a6da49a8" /><Relationship Type="http://schemas.openxmlformats.org/officeDocument/2006/relationships/notesMaster" Target="/ppt/notesMasters/notesMaster1.xml" Id="R90ea55d6998a475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9977b12ab5549d1" /><Relationship Type="http://schemas.openxmlformats.org/officeDocument/2006/relationships/notesMaster" Target="/ppt/notesMasters/notesMaster1.xml" Id="R4209f4ef7d164f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final dissertation title and identify the system as a prototype for INES Ruhengeri Library.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follows Chapter One background: ICT, digital libraries, AI, speech recognition, and TTS.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from Chapter One: retrieval takes time, access is limited, and voice/audio support is missing.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wording from Chapter One: requirements, Transformer-based speech, authentication, and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summarizes Chapter Two without crowding the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that methodology includes requirement gathering; Chapter Four presents implementation and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Tools and requirements match Chapter Three.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matches Chapter Four architecture and the backend/database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visible React/Vite pages during defense.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uses Chapter Four backend/database wording.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matches Chapter Four section 4.7 and 4.7.1.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Chapter Four metrics. Do not claim full model training from scratch.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follows Chapter Four prototype software, live verification, security, reliability, and flexibility.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Chapter Five conclusions and recommendations.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professionally and invite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92c06d7a6544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b8852818df4c85" /><Relationship Type="http://schemas.openxmlformats.org/officeDocument/2006/relationships/slideLayout" Target="/ppt/slideLayouts/slideLayout1.xml" Id="R4c60ddf6884a43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60ddf6884a43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4de49535948a7" /><Relationship Type="http://schemas.openxmlformats.org/officeDocument/2006/relationships/image" Target="/ppt/media/image.png" Id="R62a89b7d85564dc6" /><Relationship Type="http://schemas.openxmlformats.org/officeDocument/2006/relationships/notesSlide" Target="/ppt/notesSlides/notesSlide1.xml" Id="R4e93f3c610f14b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387ac146f421f" /><Relationship Type="http://schemas.openxmlformats.org/officeDocument/2006/relationships/image" Target="/ppt/media/image2.png" Id="R1959d6bc3ada4adf" /><Relationship Type="http://schemas.openxmlformats.org/officeDocument/2006/relationships/notesSlide" Target="/ppt/notesSlides/notesSlide2.xml" Id="R663fc340384946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e5d18ce81459c" /><Relationship Type="http://schemas.openxmlformats.org/officeDocument/2006/relationships/image" Target="/ppt/media/image3.png" Id="Rbbd3562dcf7a41a8" /><Relationship Type="http://schemas.openxmlformats.org/officeDocument/2006/relationships/notesSlide" Target="/ppt/notesSlides/notesSlide3.xml" Id="R59bfe45a10b14f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15160ea6a433a" /><Relationship Type="http://schemas.openxmlformats.org/officeDocument/2006/relationships/image" Target="/ppt/media/image4.png" Id="R7ca1fff3b0464b90" /><Relationship Type="http://schemas.openxmlformats.org/officeDocument/2006/relationships/notesSlide" Target="/ppt/notesSlides/notesSlide4.xml" Id="R5ae53bc5d1834d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326b277ab43a5" /><Relationship Type="http://schemas.openxmlformats.org/officeDocument/2006/relationships/image" Target="/ppt/media/image5.png" Id="R69f543bf0b1749a1" /><Relationship Type="http://schemas.openxmlformats.org/officeDocument/2006/relationships/notesSlide" Target="/ppt/notesSlides/notesSlide5.xml" Id="Ra27be8d9fa8f45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36a75a43b4e36" /><Relationship Type="http://schemas.openxmlformats.org/officeDocument/2006/relationships/image" Target="/ppt/media/image6.png" Id="R77acde9953c946f0" /><Relationship Type="http://schemas.openxmlformats.org/officeDocument/2006/relationships/notesSlide" Target="/ppt/notesSlides/notesSlide6.xml" Id="R5bf1f3ec3d3a41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f1ea7ff3b417c" /><Relationship Type="http://schemas.openxmlformats.org/officeDocument/2006/relationships/image" Target="/ppt/media/image7.png" Id="Rc3faf562c69f46de" /><Relationship Type="http://schemas.openxmlformats.org/officeDocument/2006/relationships/notesSlide" Target="/ppt/notesSlides/notesSlide7.xml" Id="R69d6db1982dd4b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40bb61b2948d2" /><Relationship Type="http://schemas.openxmlformats.org/officeDocument/2006/relationships/image" Target="/ppt/media/image8.png" Id="Rc5ad4ca416d04c76" /><Relationship Type="http://schemas.openxmlformats.org/officeDocument/2006/relationships/notesSlide" Target="/ppt/notesSlides/notesSlide8.xml" Id="R97c25a44a9cf4f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52b891a8d4381" /><Relationship Type="http://schemas.openxmlformats.org/officeDocument/2006/relationships/image" Target="/ppt/media/image9.png" Id="R8663482c2b4f4694" /><Relationship Type="http://schemas.openxmlformats.org/officeDocument/2006/relationships/notesSlide" Target="/ppt/notesSlides/notesSlide9.xml" Id="R7178392070004a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319d2b0f446d9" /><Relationship Type="http://schemas.openxmlformats.org/officeDocument/2006/relationships/image" Target="/ppt/media/image10.png" Id="R2b966e8d0d1743b2" /><Relationship Type="http://schemas.openxmlformats.org/officeDocument/2006/relationships/notesSlide" Target="/ppt/notesSlides/notesSlide10.xml" Id="R118752f1260b44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f9caf9f8c4e27" /><Relationship Type="http://schemas.openxmlformats.org/officeDocument/2006/relationships/image" Target="/ppt/media/image11.png" Id="Rb738aa6955f848bf" /><Relationship Type="http://schemas.openxmlformats.org/officeDocument/2006/relationships/notesSlide" Target="/ppt/notesSlides/notesSlide11.xml" Id="R373b72af54444e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11db8339441dc" /><Relationship Type="http://schemas.openxmlformats.org/officeDocument/2006/relationships/image" Target="/ppt/media/image12.png" Id="Rfd71fc55266f420c" /><Relationship Type="http://schemas.openxmlformats.org/officeDocument/2006/relationships/notesSlide" Target="/ppt/notesSlides/notesSlide12.xml" Id="R26539651f24a40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3ce5a56764bdb" /><Relationship Type="http://schemas.openxmlformats.org/officeDocument/2006/relationships/image" Target="/ppt/media/image13.png" Id="R0206f537655e46e4" /><Relationship Type="http://schemas.openxmlformats.org/officeDocument/2006/relationships/notesSlide" Target="/ppt/notesSlides/notesSlide13.xml" Id="R3e0084eaa3c14c1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c87a4e7494c94" /><Relationship Type="http://schemas.openxmlformats.org/officeDocument/2006/relationships/image" Target="/ppt/media/image14.png" Id="Rab1431f2fb464cc7" /><Relationship Type="http://schemas.openxmlformats.org/officeDocument/2006/relationships/notesSlide" Target="/ppt/notesSlides/notesSlide14.xml" Id="R57b6bd337ce748e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76d05bd9b4e46" /><Relationship Type="http://schemas.openxmlformats.org/officeDocument/2006/relationships/image" Target="/ppt/media/image15.png" Id="Rdc99e844f4e24281" /><Relationship Type="http://schemas.openxmlformats.org/officeDocument/2006/relationships/notesSlide" Target="/ppt/notesSlides/notesSlide15.xml" Id="R2dad1d6f630c44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3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99C23B-048C-47BE-90BF-09B61D5F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89b7d85564dc6"/>
          <a:stretch xmlns:a="http://schemas.openxmlformats.org/drawingml/2006/main"/>
        </p:blipFill>
        <p:spPr>
          <a:xfrm xmlns:a="http://schemas.openxmlformats.org/drawingml/2006/main">
            <a:off x="801522" y="533400"/>
            <a:ext cx="873457" cy="9144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78E41-CEB3-4583-A762-47E062EA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7A044"/>
                </a:solidFill>
              </a:defRPr>
            </a:pPr>
            <a:r>
              <a:rPr sz="2850" b="1">
                <a:solidFill>
                  <a:srgbClr val="C7A044"/>
                </a:solidFill>
              </a:rPr>
              <a:t>THESIS DEFENSE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1F0BD-5EF5-4838-8FDF-45A9D389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Transformer-Based Voice-Interactive System for Book Retrieval and Audio-Reading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F4F12-D12C-466B-91E7-C5D938A6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DEEE6"/>
                </a:solidFill>
              </a:defRPr>
            </a:pPr>
            <a:r>
              <a:rPr sz="1800" b="0">
                <a:solidFill>
                  <a:srgbClr val="DDEEE6"/>
                </a:solidFill>
              </a:rPr>
              <a:t>Case of INES Ruhengeri Library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D028F-2761-4441-8DF7-E76871E9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9625"/>
            <a:ext cx="4476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4B39"/>
          </a:solidFill>
          <a:ln xmlns:a="http://schemas.openxmlformats.org/drawingml/2006/main" w="9525">
            <a:solidFill>
              <a:srgbClr val="2D71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F0885-A934-41A1-B8A0-C801F1E9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577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Presenter: Anne Louange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Institution: INES-Ruhengeri</a:t>
            </a:r>
          </a:p>
        </p:txBody>
      </p:sp>
    </p:spTree>
    <p:extLst>
      <p:ext uri="{BB962C8B-B14F-4D97-AF65-F5344CB8AC3E}">
        <p14:creationId xmlns:p14="http://schemas.microsoft.com/office/powerpoint/2010/main" val="5181731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3D7A14-601D-4649-A94E-6C094059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82C5B-90FE-402A-83AB-AB382AC2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97DBC-51A0-46A6-A120-4802BD89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24D88-68C1-4513-88D1-EE887FD6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Background of the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25385-2409-41CF-8E7E-B09264FB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59d6bc3ada4adf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9C537-92E0-4EE3-9EC3-C3E55531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47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40051-EE0B-46AA-8AE4-B9F8C995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52600"/>
            <a:ext cx="7581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Digital libraries support teaching, learning, and research access.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11B6E-FAD5-40D4-9CFF-420EA551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1095F8-5A61-464C-BB64-8A39019C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86000"/>
            <a:ext cx="7581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AI speech technologies improve natural human-computer interaction.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023888-CED4-4916-B882-48379CD5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E861B7-3293-4413-9208-D534AF4C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19400"/>
            <a:ext cx="7581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Voice search and audio reading can support inclusive learning.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C36B9-3679-4FED-8FA4-39F7C833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48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1E2688-DC9C-49FC-8619-AFECF836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52800"/>
            <a:ext cx="7581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The study focuses on INES Ruhengeri Library as the local case.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ADC22-FDE2-4725-9CED-6953C5D8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95500"/>
            <a:ext cx="2190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3D2D"/>
          </a:solidFill>
          <a:ln xmlns:a="http://schemas.openxmlformats.org/drawingml/2006/main" w="9525">
            <a:solidFill>
              <a:srgbClr val="0D3D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41F3A7-1D9E-4B30-8FBA-EE1BE6DD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19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7A044"/>
                </a:solidFill>
              </a:defRPr>
            </a:pPr>
            <a:r>
              <a:rPr sz="1725" b="1">
                <a:solidFill>
                  <a:srgbClr val="C7A044"/>
                </a:solidFill>
              </a:rPr>
              <a:t>Core idea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42A1E-A7C4-4751-8481-1904B805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33700"/>
            <a:ext cx="1428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Search by voice.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Read by listening.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Manage resources by role.</a:t>
            </a:r>
          </a:p>
        </p:txBody>
      </p:sp>
    </p:spTree>
    <p:extLst>
      <p:ext uri="{BB962C8B-B14F-4D97-AF65-F5344CB8AC3E}">
        <p14:creationId xmlns:p14="http://schemas.microsoft.com/office/powerpoint/2010/main" val="11717680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D44A4F-62AB-414B-B7FC-794DC7B6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3FB33-63CD-4C8C-BEBE-0E84F0B4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8025E-BF81-4E7D-A90E-CBD0987F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B4A43-4BE8-4F00-A3B6-25672670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Problem Statement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1E3E7-A258-47AF-9537-29BD51B6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3562dcf7a41a8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88703A-9CF6-42EC-91AC-788B0B88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14500"/>
            <a:ext cx="45720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D3D2D"/>
          </a:solidFill>
          <a:ln xmlns:a="http://schemas.openxmlformats.org/drawingml/2006/main" w="9525">
            <a:solidFill>
              <a:srgbClr val="0D3D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3FD95-7563-4D48-A519-7A165001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43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7A044"/>
                </a:solidFill>
              </a:defRPr>
            </a:pPr>
            <a:r>
              <a:rPr sz="1725" b="1">
                <a:solidFill>
                  <a:srgbClr val="C7A044"/>
                </a:solidFill>
              </a:rPr>
              <a:t>Slow discovery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EE637-2AA9-4909-8754-AD48CBB7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62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Users spend time locating relevant resources.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8A215D-BD55-4048-A284-DF7C25DD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45720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E5AFBA-8419-4F49-835B-F6A00187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43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3D2D"/>
                </a:solidFill>
              </a:defRPr>
            </a:pPr>
            <a:r>
              <a:rPr sz="1725" b="1">
                <a:solidFill>
                  <a:srgbClr val="0D3D2D"/>
                </a:solidFill>
              </a:rPr>
              <a:t>Limited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28A8F-CC15-4240-96A5-05358DF8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Physical schedules limit flexible learning.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1D108-42BE-432A-9BF2-5C04E675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45720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8B3002-5511-4A49-B621-CE9DB6E8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67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3D2D"/>
                </a:solidFill>
              </a:defRPr>
            </a:pPr>
            <a:r>
              <a:rPr sz="1725" b="1">
                <a:solidFill>
                  <a:srgbClr val="0D3D2D"/>
                </a:solidFill>
              </a:rPr>
              <a:t>Text-only 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A7E545-9F50-4AC3-90D3-3844E7AE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862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Traditional input can exclude some users.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F8D8B1-FD39-412C-AED2-0AA4C57A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45720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5FFFBF-F8AE-4AAC-920D-E34D2337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67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3D2D"/>
                </a:solidFill>
              </a:defRPr>
            </a:pPr>
            <a:r>
              <a:rPr sz="1725" b="1">
                <a:solidFill>
                  <a:srgbClr val="0D3D2D"/>
                </a:solidFill>
              </a:rPr>
              <a:t>No audio reading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DBAB3C-35FE-4464-AA16-3D40F0CE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862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Users who prefer listening need narration support.</a:t>
            </a:r>
          </a:p>
        </p:txBody>
      </p:sp>
    </p:spTree>
    <p:extLst>
      <p:ext uri="{BB962C8B-B14F-4D97-AF65-F5344CB8AC3E}">
        <p14:creationId xmlns:p14="http://schemas.microsoft.com/office/powerpoint/2010/main" val="12560489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31065C-6C74-489D-AF69-988E7261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D4913-2F5D-41C8-9E0B-3E4E7A05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4C814-089B-442F-9DA4-AEAB627F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17F59-2325-46FE-9522-F7B75F10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Research Objectives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F54D7-3E3B-44E5-9806-84F68F2C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1fff3b0464b90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371A5-B965-4E8C-80FB-4EF20EA3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3D2D"/>
                </a:solidFill>
              </a:defRPr>
            </a:pPr>
            <a:r>
              <a:rPr sz="1800" b="1">
                <a:solidFill>
                  <a:srgbClr val="0D3D2D"/>
                </a:solidFill>
              </a:rPr>
              <a:t>General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D45AD-C553-4E25-8DDB-12E5F7F5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11F"/>
                </a:solidFill>
              </a:defRPr>
            </a:pPr>
            <a:r>
              <a:rPr sz="1575" b="0">
                <a:solidFill>
                  <a:srgbClr val="18211F"/>
                </a:solidFill>
              </a:rPr>
              <a:t>Design and develop a voice-interactive digital library system that improves educational resource accessibility at INES Ruhengeri Library.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FAE57-1A2D-47D9-819D-4596D941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3D2D"/>
                </a:solidFill>
              </a:defRPr>
            </a:pPr>
            <a:r>
              <a:rPr sz="1800" b="1">
                <a:solidFill>
                  <a:srgbClr val="0D3D2D"/>
                </a:solidFill>
              </a:rPr>
              <a:t>Specific objectives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6C208-F436-44D1-A4D8-F45C70AA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01793-6458-45F9-A578-1BE4193C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7962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Collect and analyze accessibility and library-service requirements.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78787-40E5-445F-BA95-CD7BBBC9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326A2-E450-4756-8168-6F20ECA0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57650"/>
            <a:ext cx="7962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Implement speech-to-text, text-to-speech, and role-based access.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A69890-322D-4EB2-86E4-DF478F0A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87A9C1-58EE-4CBE-B4F1-73676DA0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72000"/>
            <a:ext cx="7962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Evaluate performance, usability, and system effectiveness.</a:t>
            </a:r>
          </a:p>
        </p:txBody>
      </p:sp>
    </p:spTree>
    <p:extLst>
      <p:ext uri="{BB962C8B-B14F-4D97-AF65-F5344CB8AC3E}">
        <p14:creationId xmlns:p14="http://schemas.microsoft.com/office/powerpoint/2010/main" val="5306207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6AFCBB-CC2F-4B8B-9289-AB2FA5DD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FCE29-77CF-41AB-B821-490039C2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A0A7F-817D-4551-BCBC-DDDF512A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D9750-6FD1-4935-B83A-F68F6AEA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Literature Gap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46043-6352-4526-B835-A2D30E1F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543bf0b1749a1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4E08A-0647-4BC6-AAD7-EC0D3B4A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6839D9-DBF6-4A97-BB86-0F476E8B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95450"/>
            <a:ext cx="7200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Existing platforms mostly depend on text-based search.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E5839-1A1D-47D6-A0F4-613A4CB0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0F820-B66D-43FE-9B29-76D2DA8F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28850"/>
            <a:ext cx="7200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TTS is often treated as an add-on, not part of the full library flow.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7A6A9E-870A-44E2-A47E-D64E9366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60343-9037-4021-9ECC-64DE6882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0"/>
            <a:ext cx="7200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The research combines STT, voice retrieval, and TTS in one prototype.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4F496-C10B-4144-8168-D13B9F65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E2C77B-9AE3-4977-B62E-D204B87B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95650"/>
            <a:ext cx="7200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Accessibility is treated as part of system design.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073053-74D0-48EE-8B41-73A516BA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CCDE3-C4C1-47DE-B5FD-5E268F32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66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3D2D"/>
                </a:solidFill>
              </a:defRPr>
            </a:pPr>
            <a:r>
              <a:rPr sz="1650" b="1">
                <a:solidFill>
                  <a:srgbClr val="0D3D2D"/>
                </a:solidFill>
              </a:rPr>
              <a:t>Key concepts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743D5C-C0DE-43FF-95BB-44D81CD0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161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Digital library</a:t>
            </a:r>
          </a:p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ASR</a:t>
            </a:r>
          </a:p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TTS</a:t>
            </a:r>
          </a:p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Transformer</a:t>
            </a:r>
          </a:p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CTC</a:t>
            </a:r>
          </a:p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Accessibility</a:t>
            </a:r>
          </a:p>
        </p:txBody>
      </p:sp>
    </p:spTree>
    <p:extLst>
      <p:ext uri="{BB962C8B-B14F-4D97-AF65-F5344CB8AC3E}">
        <p14:creationId xmlns:p14="http://schemas.microsoft.com/office/powerpoint/2010/main" val="4767422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B3DA62-387A-4D5C-858C-FDC0AA88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CAADC-29D3-4DBA-89B5-628F7D76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8EF69-F108-4070-BB9B-ADB386BB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8165A-E60F-481F-841C-BF425D1E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Research Methodology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DA4CF-A375-4E5B-AC70-9CE6EEB0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cde9953c946f0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2DDA0-38D5-4FA0-996A-92E62EDE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6383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7AD1E-84DF-4E7F-87BF-3F572D0A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D3D2D"/>
                </a:solidFill>
              </a:defRPr>
            </a:pPr>
            <a:r>
              <a:rPr sz="2250" b="1">
                <a:solidFill>
                  <a:srgbClr val="0D3D2D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3109F-B4A5-4D1F-B57E-A67DD6DF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431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1F"/>
                </a:solidFill>
              </a:defRPr>
            </a:pPr>
            <a:r>
              <a:rPr sz="1350" b="1">
                <a:solidFill>
                  <a:srgbClr val="18211F"/>
                </a:solidFill>
              </a:rPr>
              <a:t>Needs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21A53-AE99-4F9E-B81C-7F18556F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00250"/>
            <a:ext cx="16383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D3D2D"/>
          </a:solidFill>
          <a:ln xmlns:a="http://schemas.openxmlformats.org/drawingml/2006/main" w="9525">
            <a:solidFill>
              <a:srgbClr val="0D3D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6F863-2119-40A8-8DCD-E02A5BEC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7A044"/>
                </a:solidFill>
              </a:defRPr>
            </a:pPr>
            <a:r>
              <a:rPr sz="2250" b="1">
                <a:solidFill>
                  <a:srgbClr val="C7A044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7F0EB8-914D-4450-B9B8-B2E42249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431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Agile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61F109-D8D3-421C-AA86-C5EC64D6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00250"/>
            <a:ext cx="16383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C0A315-8DF2-4CD9-ADC1-69B88951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907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D3D2D"/>
                </a:solidFill>
              </a:defRPr>
            </a:pPr>
            <a:r>
              <a:rPr sz="2250" b="1">
                <a:solidFill>
                  <a:srgbClr val="0D3D2D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592512-0699-4C6F-97E1-A56BC921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431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1F"/>
                </a:solidFill>
              </a:defRPr>
            </a:pPr>
            <a:r>
              <a:rPr sz="1350" b="1">
                <a:solidFill>
                  <a:srgbClr val="18211F"/>
                </a:solidFill>
              </a:rPr>
              <a:t>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5B9B18-17CE-42DC-B99E-BCE11BFD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00250"/>
            <a:ext cx="16383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99F9E1-7F9D-4F6C-8A6E-B85420B9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907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D3D2D"/>
                </a:solidFill>
              </a:defRPr>
            </a:pPr>
            <a:r>
              <a:rPr sz="2250" b="1">
                <a:solidFill>
                  <a:srgbClr val="0D3D2D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CA8EBB-2504-4AA6-BCA5-5FD2547A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431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1F"/>
                </a:solidFill>
              </a:defRPr>
            </a:pPr>
            <a:r>
              <a:rPr sz="1350" b="1">
                <a:solidFill>
                  <a:srgbClr val="18211F"/>
                </a:solidFill>
              </a:rPr>
              <a:t>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0E94E3-18D5-44A1-BF31-36EBA356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00250"/>
            <a:ext cx="16383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543A0B-6CBA-4720-9FA1-907F8C9E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907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D3D2D"/>
                </a:solidFill>
              </a:defRPr>
            </a:pPr>
            <a:r>
              <a:rPr sz="2250" b="1">
                <a:solidFill>
                  <a:srgbClr val="0D3D2D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1FEA20-C151-470C-B718-D8CEB334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431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1F"/>
                </a:solidFill>
              </a:defRPr>
            </a:pPr>
            <a:r>
              <a:rPr sz="1350" b="1">
                <a:solidFill>
                  <a:srgbClr val="18211F"/>
                </a:solidFill>
              </a:rPr>
              <a:t>Testing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B5D712-8F07-4581-8321-7F206126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4476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A152F4-8CAB-4497-A82E-282E9463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719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3D2D"/>
                </a:solidFill>
              </a:defRPr>
            </a:pPr>
            <a:r>
              <a:rPr sz="1725" b="1">
                <a:solidFill>
                  <a:srgbClr val="0D3D2D"/>
                </a:solidFill>
              </a:rPr>
              <a:t>Data collection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1295B4-C1D0-44E2-ABFC-D8CC0813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720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Interviews and observation were used for requirements and usability needs.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9213C8-3011-4A01-B016-88B1A89F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4476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1911EF-25EA-4EA9-A83F-D46CA8F6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719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94D43"/>
                </a:solidFill>
              </a:defRPr>
            </a:pPr>
            <a:r>
              <a:rPr sz="1725" b="1">
                <a:solidFill>
                  <a:srgbClr val="A94D43"/>
                </a:solidFill>
              </a:rPr>
              <a:t>Validation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5A9924-00F4-4E27-BB35-C4EE0687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720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Results focus on functional testing, live verification, and ASR evaluation evidence.</a:t>
            </a:r>
          </a:p>
        </p:txBody>
      </p:sp>
    </p:spTree>
    <p:extLst>
      <p:ext uri="{BB962C8B-B14F-4D97-AF65-F5344CB8AC3E}">
        <p14:creationId xmlns:p14="http://schemas.microsoft.com/office/powerpoint/2010/main" val="20022832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F57B7B-8A43-42BB-9CF2-FC0FACF0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A9D39-70E1-4016-87B4-AB3F9561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FAFA4-ECB9-4019-8395-DC1E5EDE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A44DA-DF75-47F8-B347-20EA8F6A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System Requirements and Tools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F6F97-8771-441B-958E-C3E2DD2E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af562c69f46de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8DFEB-703B-47D1-8FC3-EF7369FA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26860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14BF2-BB8B-4D9D-A5E4-DDB97DAD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24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3D2D"/>
                </a:solidFill>
              </a:defRPr>
            </a:pPr>
            <a:r>
              <a:rPr sz="1650" b="1">
                <a:solidFill>
                  <a:srgbClr val="0D3D2D"/>
                </a:solidFill>
              </a:rP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18E8E4-BCC1-4308-8BDF-46C65CFC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React.js, Vite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6721C-EDF0-4E1C-9D73-FAFD552B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695450"/>
            <a:ext cx="26860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60068-73D0-4003-90ED-8F76A013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924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3D2D"/>
                </a:solidFill>
              </a:defRPr>
            </a:pPr>
            <a:r>
              <a:rPr sz="1650" b="1">
                <a:solidFill>
                  <a:srgbClr val="0D3D2D"/>
                </a:solidFill>
              </a:rPr>
              <a:t>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10BC3-AD3E-46AE-B5AE-A55B219B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305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PHP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36CA2B-D0F4-447D-821D-23A17E18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95450"/>
            <a:ext cx="26860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0D3D2D"/>
          </a:solidFill>
          <a:ln xmlns:a="http://schemas.openxmlformats.org/drawingml/2006/main" w="9525">
            <a:solidFill>
              <a:srgbClr val="0D3D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83BE85-58EA-4E8F-93F0-13C6E531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924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7A044"/>
                </a:solidFill>
              </a:defRPr>
            </a:pPr>
            <a:r>
              <a:rPr sz="1650" b="1">
                <a:solidFill>
                  <a:srgbClr val="C7A044"/>
                </a:solidFill>
              </a:rPr>
              <a:t>Database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4F7FA2-FA39-4B17-927A-0A12F18A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05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MySQL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421245-4F2A-4287-A110-69A6F097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26860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8E0418-6F6E-4715-BA28-0652F8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3D2D"/>
                </a:solidFill>
              </a:defRPr>
            </a:pPr>
            <a:r>
              <a:rPr sz="1650" b="1">
                <a:solidFill>
                  <a:srgbClr val="0D3D2D"/>
                </a:solidFill>
              </a:rPr>
              <a:t>Speech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825193-38E9-4F96-9EE1-1AFD1AC3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52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Python, PyTorch, Transformers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7A6DFB-8D3D-4CCA-ABF8-B0242468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543300"/>
            <a:ext cx="26860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125096-852D-4B37-AAE0-B2F1894E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771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3D2D"/>
                </a:solidFill>
              </a:defRPr>
            </a:pPr>
            <a:r>
              <a:rPr sz="1650" b="1">
                <a:solidFill>
                  <a:srgbClr val="0D3D2D"/>
                </a:solidFill>
              </a:rPr>
              <a:t>Local server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BE5096-E73F-49B9-B295-73133918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152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XAMPP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9F8830-2C53-4AE4-AED3-D36AA060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43300"/>
            <a:ext cx="26860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565C24-9D75-4A1B-B06F-AC1F151B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71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3D2D"/>
                </a:solidFill>
              </a:defRPr>
            </a:pPr>
            <a:r>
              <a:rPr sz="1650" b="1">
                <a:solidFill>
                  <a:srgbClr val="0D3D2D"/>
                </a:solidFill>
              </a:rPr>
              <a:t>Security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E41C50-CAD6-436E-A789-34135D0B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52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Tokens and roles</a:t>
            </a:r>
          </a:p>
        </p:txBody>
      </p:sp>
    </p:spTree>
    <p:extLst>
      <p:ext uri="{BB962C8B-B14F-4D97-AF65-F5344CB8AC3E}">
        <p14:creationId xmlns:p14="http://schemas.microsoft.com/office/powerpoint/2010/main" val="815451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EA9F74-6325-40C3-999C-53127D8A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4B85F-F009-4FE4-9F27-44389394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C0F0A-9EF6-41D7-B8DF-C49A74FB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A1A70-D5F1-4516-93A4-089539D3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System Architecture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7052B-4A6B-4853-B41C-EDDB536C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ad4ca416d04c76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54A76-FB82-4B2E-A663-3D798E33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6192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4E55D-540A-478A-86DA-855E84CE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D3D2D"/>
                </a:solidFill>
              </a:defRPr>
            </a:pPr>
            <a:r>
              <a:rPr sz="1500" b="1">
                <a:solidFill>
                  <a:srgbClr val="0D3D2D"/>
                </a:solidFill>
              </a:rPr>
              <a:t>React/Vite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D7B99-B3CF-4573-9E74-E3166688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11F"/>
                </a:solidFill>
              </a:defRPr>
            </a:pPr>
            <a:r>
              <a:rPr sz="1200" b="0">
                <a:solidFill>
                  <a:srgbClr val="18211F"/>
                </a:solidFill>
              </a:rPr>
              <a:t>User interface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B1A42-26A0-4F21-B273-A5EFEB6B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575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A0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723608-E1EE-48A7-9314-35816550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09800"/>
            <a:ext cx="16192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D3D2D"/>
          </a:solidFill>
          <a:ln xmlns:a="http://schemas.openxmlformats.org/drawingml/2006/main" w="9525">
            <a:solidFill>
              <a:srgbClr val="0D3D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63E58-02C0-4255-A54B-EC30149D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574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7A044"/>
                </a:solidFill>
              </a:defRPr>
            </a:pPr>
            <a:r>
              <a:rPr sz="1500" b="1">
                <a:solidFill>
                  <a:srgbClr val="C7A044"/>
                </a:solidFill>
              </a:rPr>
              <a:t>PHP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100D8D-8297-42C2-B26D-6ABE44A4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95600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Logic and security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738D5B-7E7C-4133-BA36-4B58DF9D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575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A0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65745-F573-4ED3-990A-FB51321D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09800"/>
            <a:ext cx="16192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29F289-BBB6-44E2-92B1-0204877D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574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D3D2D"/>
                </a:solidFill>
              </a:defRPr>
            </a:pPr>
            <a:r>
              <a:rPr sz="1500" b="1">
                <a:solidFill>
                  <a:srgbClr val="0D3D2D"/>
                </a:solidFill>
              </a:rPr>
              <a:t>MySQL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E51C50-4E74-49DF-8E51-89D95DAE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95600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11F"/>
                </a:solidFill>
              </a:defRPr>
            </a:pPr>
            <a:r>
              <a:rPr sz="1200" b="0">
                <a:solidFill>
                  <a:srgbClr val="18211F"/>
                </a:solidFill>
              </a:rPr>
              <a:t>System records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DDDC37-1F28-491D-B98B-913CB2C7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A0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45A529-1A56-4A0C-9ED5-B856DE0E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16192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77134E-2AE3-45C8-B943-0E59629E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574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D3D2D"/>
                </a:solidFill>
              </a:defRPr>
            </a:pPr>
            <a:r>
              <a:rPr sz="1500" b="1">
                <a:solidFill>
                  <a:srgbClr val="0D3D2D"/>
                </a:solidFill>
              </a:rPr>
              <a:t>Python services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4FF6C4-8CCB-44AC-8ADA-015661B9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95600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11F"/>
                </a:solidFill>
              </a:defRPr>
            </a:pPr>
            <a:r>
              <a:rPr sz="1200" b="0">
                <a:solidFill>
                  <a:srgbClr val="18211F"/>
                </a:solidFill>
              </a:rPr>
              <a:t>STT and TTS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508EF3-CED3-41E0-9F1B-1638C2DF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575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A0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85537E-B264-498B-8A69-7EC6ED3E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16192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798698-CA3A-492B-8D9B-A821F7C6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574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D3D2D"/>
                </a:solidFill>
              </a:defRPr>
            </a:pPr>
            <a:r>
              <a:rPr sz="1500" b="1">
                <a:solidFill>
                  <a:srgbClr val="0D3D2D"/>
                </a:solidFill>
              </a:rPr>
              <a:t>Uploads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E82331-A50E-4C29-9044-78D92628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95600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11F"/>
                </a:solidFill>
              </a:defRPr>
            </a:pPr>
            <a:r>
              <a:rPr sz="1200" b="0">
                <a:solidFill>
                  <a:srgbClr val="18211F"/>
                </a:solidFill>
              </a:rPr>
              <a:t>Books and audio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4B5DAE-C923-40ED-A9AC-5B5CF007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The frontend does not connect directly to MySQL or speech models; requests pass through the PHP backend.</a:t>
            </a:r>
          </a:p>
        </p:txBody>
      </p:sp>
    </p:spTree>
    <p:extLst>
      <p:ext uri="{BB962C8B-B14F-4D97-AF65-F5344CB8AC3E}">
        <p14:creationId xmlns:p14="http://schemas.microsoft.com/office/powerpoint/2010/main" val="20940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22C423-2A74-4052-A88C-3DF037D6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B0EE0-0328-4F9C-9925-4AE3CB2E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559F9-A801-4560-83B8-00A5728A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9FBFC-87EB-4168-B1C1-D94B0AED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Frontend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C303F-B9C3-4FFD-9933-CE97BA14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63482c2b4f4694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B5E33-A8E7-45D6-82DC-8F149AF8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21E97-F92B-4D9D-87CF-719C017F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14500"/>
            <a:ext cx="7772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Role-based dashboards for students, lecturers, and librarian/admin.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1BD29-6A20-4F14-907E-CE51DE8D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7821A-9ABD-4B02-988C-0FC787BF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47900"/>
            <a:ext cx="7772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Protected routes show only permitted functions.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9526B-0044-4196-AC71-AC7D5CB4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A1DA4-ACAA-45DA-833B-1E7AF562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7772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Catalogue search, book reader, progress, favorites, and bookmarks.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C8DC9F-D0BA-4439-80F7-7F83FE38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04251D-D403-458B-A0E7-AEACB1A4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7772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Voice search and narration controls inside the user interface.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DC7E8F-A331-4A2E-BDF8-084A1188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2000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D3D2D"/>
          </a:solidFill>
          <a:ln xmlns:a="http://schemas.openxmlformats.org/drawingml/2006/main" w="9525">
            <a:solidFill>
              <a:srgbClr val="0D3D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EEC0C-DE12-449F-B344-3271337E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76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7A044"/>
                </a:solidFill>
              </a:defRPr>
            </a:pPr>
            <a:r>
              <a:rPr sz="1800" b="1">
                <a:solidFill>
                  <a:srgbClr val="C7A044"/>
                </a:solidFill>
              </a:rPr>
              <a:t>Demo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CE8FB2-DA61-44F8-B790-B89ABE90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52750"/>
            <a:ext cx="123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Login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Dashboard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Reader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Voice search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Play narration</a:t>
            </a:r>
          </a:p>
        </p:txBody>
      </p:sp>
    </p:spTree>
    <p:extLst>
      <p:ext uri="{BB962C8B-B14F-4D97-AF65-F5344CB8AC3E}">
        <p14:creationId xmlns:p14="http://schemas.microsoft.com/office/powerpoint/2010/main" val="6983770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AE1FDF-BD9C-47C7-A99B-C22E9876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1E224-E6A1-4DEA-9140-A1544A1B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2DDCF-2322-4C2C-9E8F-4CC33638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AE41F-91B8-4F22-8DBC-5E9626D5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Backend and Database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DB2D0-B8DD-42F9-B5A5-322435F2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66e8d0d1743b2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3B508-E6EC-45DF-AAB0-254D94C1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A303D-9454-42B3-A966-7747C55A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14500"/>
            <a:ext cx="7867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PHP backend exposes authenticated API routes.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304FA-EA4B-446E-8554-4AA08E86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37F6D-15E8-430B-BF1B-2757CA06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47900"/>
            <a:ext cx="7867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MySQL stores users, roles, books, files, borrowing, progress, and logs.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89C42-16E8-4E51-A3E9-51CC6276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30310-EE3F-4278-847F-54542955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7867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Prepared statements protect database interactions.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A87F2-E9BA-4D65-BE65-1AFDA311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5BC89D-BD22-45A1-8D82-B8F431CB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7867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PDFs, covers, extracted text, and generated audio use managed uploads.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18EEF-D281-451B-9C01-F09FEF2D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09800"/>
            <a:ext cx="20955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824B77-9C9A-427A-9462-5C542190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14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3D2D"/>
                </a:solidFill>
              </a:defRPr>
            </a:pPr>
            <a:r>
              <a:rPr sz="1650" b="1">
                <a:solidFill>
                  <a:srgbClr val="0D3D2D"/>
                </a:solidFill>
              </a:rPr>
              <a:t>Database scope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5A45FC-5A59-4933-9931-74F5F1E1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4800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1F"/>
                </a:solidFill>
              </a:defRPr>
            </a:pPr>
            <a:r>
              <a:rPr sz="1500" b="0">
                <a:solidFill>
                  <a:srgbClr val="18211F"/>
                </a:solidFill>
              </a:rPr>
              <a:t>35 principal application tables</a:t>
            </a:r>
          </a:p>
        </p:txBody>
      </p:sp>
    </p:spTree>
    <p:extLst>
      <p:ext uri="{BB962C8B-B14F-4D97-AF65-F5344CB8AC3E}">
        <p14:creationId xmlns:p14="http://schemas.microsoft.com/office/powerpoint/2010/main" val="7375749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E8AA58-9BCC-4DB5-809C-E0B385B5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CA80F-F2F0-49AA-BADB-B825C868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06440-22A0-49B0-BC19-A2E6E997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38B4D-C409-4BA2-BD19-670AA07D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Speech Processing Module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D562B-1E06-4E8E-9795-751633E2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38aa6955f848bf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B176E-5859-402A-8284-40ADFAE0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26860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3D2D"/>
          </a:solidFill>
          <a:ln xmlns:a="http://schemas.openxmlformats.org/drawingml/2006/main" w="9525">
            <a:solidFill>
              <a:srgbClr val="0D3D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BEFA1-1A57-49F6-BAF8-A3D8657A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24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7A044"/>
                </a:solidFill>
              </a:defRPr>
            </a:pPr>
            <a:r>
              <a:rPr sz="1725" b="1">
                <a:solidFill>
                  <a:srgbClr val="C7A044"/>
                </a:solidFill>
              </a:rPr>
              <a:t>Speech-to-text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B4D9F-004C-4D5B-ADDB-D9D77A44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384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Microphone audio to Wav2Vec2-CTC transcript for catalogue search.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43576-97E2-42A1-B4FB-BF316AC5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000250"/>
            <a:ext cx="26860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28CCEE-5F3B-41B6-B47E-666A0274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324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3D2D"/>
                </a:solidFill>
              </a:defRPr>
            </a:pPr>
            <a:r>
              <a:rPr sz="1725" b="1">
                <a:solidFill>
                  <a:srgbClr val="0D3D2D"/>
                </a:solidFill>
              </a:rPr>
              <a:t>Text-to-speech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33BB91-730C-4967-A621-A2666BB9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8384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Reader page text to SpeechT5 or gTTS narration audio.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480EA-9258-44B4-B12E-C6882FB3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00250"/>
            <a:ext cx="26860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8B91A1-E2AB-4B99-ACB7-8C76877C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24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3D2D"/>
                </a:solidFill>
              </a:defRPr>
            </a:pPr>
            <a:r>
              <a:rPr sz="1725" b="1">
                <a:solidFill>
                  <a:srgbClr val="0D3D2D"/>
                </a:solidFill>
              </a:rPr>
              <a:t>Reliability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1253D-B8BE-4807-A14E-874FA98D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384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1F"/>
                </a:solidFill>
              </a:defRPr>
            </a:pPr>
            <a:r>
              <a:rPr sz="1350" b="0">
                <a:solidFill>
                  <a:srgbClr val="18211F"/>
                </a:solidFill>
              </a:rPr>
              <a:t>Fallback and preload checks support live demonstration.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55D388-2DBF-43A0-8751-C593B4EC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11F"/>
                </a:solidFill>
              </a:defRPr>
            </a:pPr>
            <a:r>
              <a:rPr sz="1425" b="0">
                <a:solidFill>
                  <a:srgbClr val="18211F"/>
                </a:solidFill>
              </a:rPr>
              <a:t>Important: Wav2Vec2-CTC is the research fine-tuned STT component; SpeechT5/gTTS are integrated TTS services, not trained by the researcher.</a:t>
            </a:r>
          </a:p>
        </p:txBody>
      </p:sp>
    </p:spTree>
    <p:extLst>
      <p:ext uri="{BB962C8B-B14F-4D97-AF65-F5344CB8AC3E}">
        <p14:creationId xmlns:p14="http://schemas.microsoft.com/office/powerpoint/2010/main" val="19005513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97318A-F976-4142-BD86-8324623F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88AA9-A81F-4BFD-B41D-CF1EA1D5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A6C7B-D4A0-4855-B50E-F3DB31B1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4A959-14AE-4F8F-9F31-B9C79F13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STT Evaluation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A9085-3F43-48AA-BD0A-61C5D281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71fc55266f420c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B386C-BE40-4F3C-905C-C90164C0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000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D3D2D"/>
          </a:solidFill>
          <a:ln xmlns:a="http://schemas.openxmlformats.org/drawingml/2006/main" w="9525">
            <a:solidFill>
              <a:srgbClr val="0D3D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50EE59-B221-4336-A839-446C479C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7A044"/>
                </a:solidFill>
              </a:defRPr>
            </a:pPr>
            <a:r>
              <a:rPr sz="2850" b="1">
                <a:solidFill>
                  <a:srgbClr val="C7A044"/>
                </a:solidFill>
              </a:rPr>
              <a:t>90.88%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386AF-8788-470D-AA35-90959DB0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Mean word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1FB64-9FB6-4938-A049-8BDBE621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2000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0B1BAA-D707-4DE4-866F-FBE40C3E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955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D3D2D"/>
                </a:solidFill>
              </a:defRPr>
            </a:pPr>
            <a:r>
              <a:rPr sz="2850" b="1">
                <a:solidFill>
                  <a:srgbClr val="0D3D2D"/>
                </a:solidFill>
              </a:rPr>
              <a:t>9.12%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2196B-7CE0-491C-8CEC-CEC4BDBA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47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11F"/>
                </a:solidFill>
              </a:defRPr>
            </a:pPr>
            <a:r>
              <a:rPr sz="1200" b="0">
                <a:solidFill>
                  <a:srgbClr val="18211F"/>
                </a:solidFill>
              </a:rPr>
              <a:t>Mean 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12BD98-0669-4BBA-8D22-E3D7A489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09750"/>
            <a:ext cx="2000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2A37A5-9EEB-4CE7-A81E-48236020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955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D3D2D"/>
                </a:solidFill>
              </a:defRPr>
            </a:pPr>
            <a:r>
              <a:rPr sz="2850" b="1">
                <a:solidFill>
                  <a:srgbClr val="0D3D2D"/>
                </a:solidFill>
              </a:rPr>
              <a:t>58.33%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2B973-176F-4E02-B37C-1C4F59BE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47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11F"/>
                </a:solidFill>
              </a:defRPr>
            </a:pPr>
            <a:r>
              <a:rPr sz="1200" b="0">
                <a:solidFill>
                  <a:srgbClr val="18211F"/>
                </a:solidFill>
              </a:rPr>
              <a:t>Exact sentence accuracy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86F2A7-D442-4B00-B0EF-CF8B38F0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2000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5F4FDE-7B20-4335-9B43-7C8B5EFD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955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D3D2D"/>
                </a:solidFill>
              </a:defRPr>
            </a:pPr>
            <a:r>
              <a:rPr sz="2850" b="1">
                <a:solidFill>
                  <a:srgbClr val="0D3D2D"/>
                </a:solidFill>
              </a:rPr>
              <a:t>93.94%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6C61C3-D36A-421A-89B6-7E1E4979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47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11F"/>
                </a:solidFill>
              </a:defRPr>
            </a:pPr>
            <a:r>
              <a:rPr sz="1200" b="0">
                <a:solidFill>
                  <a:srgbClr val="18211F"/>
                </a:solidFill>
              </a:rPr>
              <a:t>Average F1 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2F71F3-6CFD-4E8D-ABA4-D053C9A5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C4A13C-E931-420C-BB52-5C345410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05250"/>
            <a:ext cx="796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11F"/>
                </a:solidFill>
              </a:defRPr>
            </a:pPr>
            <a:r>
              <a:rPr sz="1425" b="0">
                <a:solidFill>
                  <a:srgbClr val="18211F"/>
                </a:solidFill>
              </a:rPr>
              <a:t>WER and CER are the primary ASR metrics.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A389B8-7DB4-4702-ABB2-967F4E41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63A98D-3D9C-4F47-A427-5BCBEB2D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62450"/>
            <a:ext cx="796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11F"/>
                </a:solidFill>
              </a:defRPr>
            </a:pPr>
            <a:r>
              <a:rPr sz="1425" b="0">
                <a:solidFill>
                  <a:srgbClr val="18211F"/>
                </a:solidFill>
              </a:rPr>
              <a:t>ROC-AUC is secondary token-ranking evidence.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9CB6ED-D158-4C14-BD1D-F0B88DD0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2E1CBF-9031-4C06-84B6-69B5EB11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9650"/>
            <a:ext cx="796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11F"/>
                </a:solidFill>
              </a:defRPr>
            </a:pPr>
            <a:r>
              <a:rPr sz="1425" b="0">
                <a:solidFill>
                  <a:srgbClr val="18211F"/>
                </a:solidFill>
              </a:rPr>
              <a:t>The recorded run was limited CTC-head fine-tuning, not training from scratch.</a:t>
            </a:r>
          </a:p>
        </p:txBody>
      </p:sp>
    </p:spTree>
    <p:extLst>
      <p:ext uri="{BB962C8B-B14F-4D97-AF65-F5344CB8AC3E}">
        <p14:creationId xmlns:p14="http://schemas.microsoft.com/office/powerpoint/2010/main" val="1718273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E6AF0C-BD01-4EC2-957D-76D24FAF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9E6B0-1EDB-49C8-BD91-9E2DABB6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A2959-3EFA-41FB-9D38-E4C99210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C7F2D-9C44-4446-A834-DA1D94E8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Live Verification and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68475-7DFD-4402-B7CE-EAB1FEFC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06f537655e46e4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F7037-DD26-45F5-9215-3A53666E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9E8B9-29CB-4149-AAA9-F996D3C1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95450"/>
            <a:ext cx="8343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11F"/>
                </a:solidFill>
              </a:defRPr>
            </a:pPr>
            <a:r>
              <a:rPr sz="1425" b="0">
                <a:solidFill>
                  <a:srgbClr val="18211F"/>
                </a:solidFill>
              </a:rPr>
              <a:t>Production build completed without frontend errors.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915D4-68FD-4ACD-8CBA-71D6FF0C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3A95A-BCEF-4F6F-B556-AF886A5F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71700"/>
            <a:ext cx="8343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11F"/>
                </a:solidFill>
              </a:defRPr>
            </a:pPr>
            <a:r>
              <a:rPr sz="1425" b="0">
                <a:solidFill>
                  <a:srgbClr val="18211F"/>
                </a:solidFill>
              </a:rPr>
              <a:t>Backend health verified database and writable uploads.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AE1ABC-03C3-49A0-8F40-0AB61B1D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F0494-4115-47E6-8D5C-AF57F4CA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8343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11F"/>
                </a:solidFill>
              </a:defRPr>
            </a:pPr>
            <a:r>
              <a:rPr sz="1425" b="0">
                <a:solidFill>
                  <a:srgbClr val="18211F"/>
                </a:solidFill>
              </a:rPr>
              <a:t>Reader displayed real PDF pages with extracted text.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E051C-56C1-4863-BB9B-F8EA6C9C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154ADA-097D-4FD3-9907-BCA6F229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24200"/>
            <a:ext cx="8343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11F"/>
                </a:solidFill>
              </a:defRPr>
            </a:pPr>
            <a:r>
              <a:rPr sz="1425" b="0">
                <a:solidFill>
                  <a:srgbClr val="18211F"/>
                </a:solidFill>
              </a:rPr>
              <a:t>Security uses password hashing, tokens, protected routes, and roles.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0F2037-F911-4791-AD70-F0816710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9DDF9F-14F2-41A3-A073-A221265B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00450"/>
            <a:ext cx="8343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11F"/>
                </a:solidFill>
              </a:defRPr>
            </a:pPr>
            <a:r>
              <a:rPr sz="1425" b="0">
                <a:solidFill>
                  <a:srgbClr val="18211F"/>
                </a:solidFill>
              </a:rPr>
              <a:t>Speech services require local Python services to be running.</a:t>
            </a:r>
          </a:p>
        </p:txBody>
      </p:sp>
    </p:spTree>
    <p:extLst>
      <p:ext uri="{BB962C8B-B14F-4D97-AF65-F5344CB8AC3E}">
        <p14:creationId xmlns:p14="http://schemas.microsoft.com/office/powerpoint/2010/main" val="6873041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24199A-D6CA-4762-8E94-A29A9EA3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D2D"/>
          </a:solidFill>
          <a:ln xmlns:a="http://schemas.openxmlformats.org/drawingml/2006/main" w="0">
            <a:solidFill>
              <a:srgbClr val="0D3D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6B510-0AF4-4BB6-ADFE-8BCDCF0B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D4E57-5542-4532-BB32-FFC0A923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3D2D"/>
                </a:solidFill>
              </a:defRPr>
            </a:pPr>
            <a:r>
              <a:rPr sz="900" b="1">
                <a:solidFill>
                  <a:srgbClr val="0D3D2D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F3E84B-F000-4337-A7C2-3AB47AAE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11F"/>
                </a:solidFill>
              </a:defRPr>
            </a:pPr>
            <a:r>
              <a:rPr sz="2475" b="1">
                <a:solidFill>
                  <a:srgbClr val="18211F"/>
                </a:solidFill>
              </a:rPr>
              <a:t>Conclusions and Recommendations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D5BCA-02E9-43AC-BC6C-E2C63301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1431f2fb464cc7"/>
          <a:stretch xmlns:a="http://schemas.openxmlformats.org/drawingml/2006/main"/>
        </p:blipFill>
        <p:spPr>
          <a:xfrm xmlns:a="http://schemas.openxmlformats.org/drawingml/2006/main">
            <a:off x="10019163" y="419100"/>
            <a:ext cx="764275" cy="800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FEBF4-DB6F-481A-A6AB-08F92FF5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4476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80A18-6E7B-45A0-82B3-40022C08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19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3D2D"/>
                </a:solidFill>
              </a:defRPr>
            </a:pPr>
            <a:r>
              <a:rPr sz="2025" b="1">
                <a:solidFill>
                  <a:srgbClr val="0D3D2D"/>
                </a:solidFill>
              </a:rPr>
              <a:t>Conclusion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C7988-65D0-4BF9-BA79-125A8693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C353A-9202-4535-8488-613D0FB6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09850"/>
            <a:ext cx="3390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1F"/>
                </a:solidFill>
              </a:defRPr>
            </a:pPr>
            <a:r>
              <a:rPr sz="1275" b="0">
                <a:solidFill>
                  <a:srgbClr val="18211F"/>
                </a:solidFill>
              </a:rPr>
              <a:t>The prototype supports book retrieval and audio reading.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B3337C-E914-4CB9-9F33-69A4BA06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62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47B31-1AEF-4865-AD48-8C1EBB11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67050"/>
            <a:ext cx="3390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1F"/>
                </a:solidFill>
              </a:defRPr>
            </a:pPr>
            <a:r>
              <a:rPr sz="1275" b="0">
                <a:solidFill>
                  <a:srgbClr val="18211F"/>
                </a:solidFill>
              </a:rPr>
              <a:t>Voice interaction improves access options.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6ADB8-9E59-4946-A035-98CBD52D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1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80DD17-747F-4F13-81C4-09F3D403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24250"/>
            <a:ext cx="3390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1F"/>
                </a:solidFill>
              </a:defRPr>
            </a:pPr>
            <a:r>
              <a:rPr sz="1275" b="0">
                <a:solidFill>
                  <a:srgbClr val="18211F"/>
                </a:solidFill>
              </a:rPr>
              <a:t>Role-based management supports library workflows.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45C2E-A378-431B-B1FE-1EDBDC29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4476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9540F1-87F6-41DF-AEE6-B9E80CBF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19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3D2D"/>
                </a:solidFill>
              </a:defRPr>
            </a:pPr>
            <a:r>
              <a:rPr sz="2025" b="1">
                <a:solidFill>
                  <a:srgbClr val="0D3D2D"/>
                </a:solidFill>
              </a:rPr>
              <a:t>Future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1729D6-09CD-46DC-948C-81222314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05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34A94B-4861-42CB-9AA5-7FEF9BF9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09850"/>
            <a:ext cx="3390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1F"/>
                </a:solidFill>
              </a:defRPr>
            </a:pPr>
            <a:r>
              <a:rPr sz="1275" b="0">
                <a:solidFill>
                  <a:srgbClr val="18211F"/>
                </a:solidFill>
              </a:rPr>
              <a:t>Large-scale deployment and usability evaluation.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EA2B46-2C41-4F6D-AEC3-64A097C0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62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330938-E2D2-4C49-BE47-BAC3C94E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67050"/>
            <a:ext cx="3390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1F"/>
                </a:solidFill>
              </a:defRPr>
            </a:pPr>
            <a:r>
              <a:rPr sz="1275" b="0">
                <a:solidFill>
                  <a:srgbClr val="18211F"/>
                </a:solidFill>
              </a:rPr>
              <a:t>Local accents and multilingual support.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A18CC7-5FD5-4A75-B8C1-032E5762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6F7BDD-0834-4AEC-8B4C-97A21CA8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24250"/>
            <a:ext cx="3390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1F"/>
                </a:solidFill>
              </a:defRPr>
            </a:pPr>
            <a:r>
              <a:rPr sz="1275" b="0">
                <a:solidFill>
                  <a:srgbClr val="18211F"/>
                </a:solidFill>
              </a:rPr>
              <a:t>OCR for scanned PDFs and mobile access.</a:t>
            </a:r>
          </a:p>
        </p:txBody>
      </p:sp>
    </p:spTree>
    <p:extLst>
      <p:ext uri="{BB962C8B-B14F-4D97-AF65-F5344CB8AC3E}">
        <p14:creationId xmlns:p14="http://schemas.microsoft.com/office/powerpoint/2010/main" val="13165831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3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37AECF-8038-41D0-986C-9F91A89A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044"/>
          </a:solidFill>
          <a:ln xmlns:a="http://schemas.openxmlformats.org/drawingml/2006/main" w="0">
            <a:solidFill>
              <a:srgbClr val="C7A04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9e844f4e24281"/>
          <a:stretch xmlns:a="http://schemas.openxmlformats.org/drawingml/2006/main"/>
        </p:blipFill>
        <p:spPr>
          <a:xfrm xmlns:a="http://schemas.openxmlformats.org/drawingml/2006/main">
            <a:off x="838769" y="590550"/>
            <a:ext cx="837063" cy="876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47B6F-3C62-43FD-9AC6-9698D615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64A85-05E2-442A-9C9E-5BA7B10A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DEEE6"/>
                </a:solidFill>
              </a:defRPr>
            </a:pPr>
            <a:r>
              <a:rPr sz="1950" b="0">
                <a:solidFill>
                  <a:srgbClr val="DDEEE6"/>
                </a:solidFill>
              </a:rPr>
              <a:t>Questions and answers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EEB1F-AC46-4286-82A7-9927D904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76450"/>
            <a:ext cx="30480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74B39"/>
          </a:solidFill>
          <a:ln xmlns:a="http://schemas.openxmlformats.org/drawingml/2006/main" w="9525">
            <a:solidFill>
              <a:srgbClr val="2D715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E8744-FAC8-43E8-908C-9C352592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81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7A044"/>
                </a:solidFill>
              </a:defRPr>
            </a:pPr>
            <a:r>
              <a:rPr sz="1650" b="1">
                <a:solidFill>
                  <a:srgbClr val="C7A044"/>
                </a:solidFill>
              </a:rPr>
              <a:t>Defense reminder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2078F-B519-4A5F-8995-BF8CB73D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765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Keep answers aligned with the final dissertation and tested project evidence.</a:t>
            </a:r>
          </a:p>
        </p:txBody>
      </p:sp>
    </p:spTree>
    <p:extLst>
      <p:ext uri="{BB962C8B-B14F-4D97-AF65-F5344CB8AC3E}">
        <p14:creationId xmlns:p14="http://schemas.microsoft.com/office/powerpoint/2010/main" val="9284921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2026-06-18T17:29:57.1400000Z</dcterms:created>
  <dcterms:modified xsi:type="dcterms:W3CDTF">2026-06-18T17:29:57.1400000Z</dcterms:modified>
</coreProperties>
</file>