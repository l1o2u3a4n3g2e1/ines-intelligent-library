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61e64dc9f8b4adf" /><Relationship Type="http://schemas.openxmlformats.org/officeDocument/2006/relationships/extended-properties" Target="/docProps/app.xml" Id="R4b882cff663b46bb" /><Relationship Type="http://schemas.openxmlformats.org/officeDocument/2006/relationships/officeDocument" Target="/ppt/presentation.xml" Id="R91897e94b656495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09f35aaef5f45e2"/>
  </p:sldMasterIdLst>
  <p:notesMasterIdLst>
    <p:notesMasterId xmlns:r="http://schemas.openxmlformats.org/officeDocument/2006/relationships" r:id="R6f202ac0fe2444b7"/>
  </p:notesMasterIdLst>
  <p:sldIdLst>
    <p:sldId xmlns:r="http://schemas.openxmlformats.org/officeDocument/2006/relationships" id="256" r:id="Rd4276448cb354b7e"/>
    <p:sldId xmlns:r="http://schemas.openxmlformats.org/officeDocument/2006/relationships" id="257" r:id="Rd4d61c74ca174bd9"/>
    <p:sldId xmlns:r="http://schemas.openxmlformats.org/officeDocument/2006/relationships" id="258" r:id="R9e00ecca80b5441d"/>
    <p:sldId xmlns:r="http://schemas.openxmlformats.org/officeDocument/2006/relationships" id="259" r:id="Ra6e7887b4eb44e3c"/>
    <p:sldId xmlns:r="http://schemas.openxmlformats.org/officeDocument/2006/relationships" id="260" r:id="R4be829c35a95402f"/>
    <p:sldId xmlns:r="http://schemas.openxmlformats.org/officeDocument/2006/relationships" id="261" r:id="Rb3104d65d3dc4832"/>
    <p:sldId xmlns:r="http://schemas.openxmlformats.org/officeDocument/2006/relationships" id="262" r:id="R6ac9f360065d40f6"/>
    <p:sldId xmlns:r="http://schemas.openxmlformats.org/officeDocument/2006/relationships" id="263" r:id="R822b5d768d614654"/>
    <p:sldId xmlns:r="http://schemas.openxmlformats.org/officeDocument/2006/relationships" id="264" r:id="R248bcebb368c41f6"/>
    <p:sldId xmlns:r="http://schemas.openxmlformats.org/officeDocument/2006/relationships" id="265" r:id="Rbf52aceb3adb4703"/>
    <p:sldId xmlns:r="http://schemas.openxmlformats.org/officeDocument/2006/relationships" id="266" r:id="Rf5eb04356489438c"/>
    <p:sldId xmlns:r="http://schemas.openxmlformats.org/officeDocument/2006/relationships" id="267" r:id="Rd34c298d33104ab8"/>
    <p:sldId xmlns:r="http://schemas.openxmlformats.org/officeDocument/2006/relationships" id="268" r:id="R58d6fbb522fa4b27"/>
    <p:sldId xmlns:r="http://schemas.openxmlformats.org/officeDocument/2006/relationships" id="269" r:id="R372e5aec059e4a88"/>
    <p:sldId xmlns:r="http://schemas.openxmlformats.org/officeDocument/2006/relationships" id="270" r:id="Rd320f84ebfb34b6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94d030351874151" /><Relationship Type="http://schemas.openxmlformats.org/officeDocument/2006/relationships/slideMaster" Target="/ppt/slideMasters/slideMaster1.xml" Id="Rd09f35aaef5f45e2" /><Relationship Type="http://schemas.openxmlformats.org/officeDocument/2006/relationships/notesMaster" Target="/ppt/notesMasters/notesMaster1.xml" Id="R6f202ac0fe2444b7" /><Relationship Type="http://schemas.openxmlformats.org/officeDocument/2006/relationships/presProps" Target="/ppt/presProps.xml" Id="Ra25801cbcf8d4b68" /><Relationship Type="http://schemas.openxmlformats.org/officeDocument/2006/relationships/tableStyles" Target="/ppt/tableStyles.xml" Id="R75eca4945a854361" /><Relationship Type="http://schemas.openxmlformats.org/officeDocument/2006/relationships/slide" Target="/ppt/slides/slide1.xml" Id="Rd4276448cb354b7e" /><Relationship Type="http://schemas.openxmlformats.org/officeDocument/2006/relationships/slide" Target="/ppt/slides/slide2.xml" Id="Rd4d61c74ca174bd9" /><Relationship Type="http://schemas.openxmlformats.org/officeDocument/2006/relationships/slide" Target="/ppt/slides/slide3.xml" Id="R9e00ecca80b5441d" /><Relationship Type="http://schemas.openxmlformats.org/officeDocument/2006/relationships/slide" Target="/ppt/slides/slide4.xml" Id="Ra6e7887b4eb44e3c" /><Relationship Type="http://schemas.openxmlformats.org/officeDocument/2006/relationships/slide" Target="/ppt/slides/slide5.xml" Id="R4be829c35a95402f" /><Relationship Type="http://schemas.openxmlformats.org/officeDocument/2006/relationships/slide" Target="/ppt/slides/slide6.xml" Id="Rb3104d65d3dc4832" /><Relationship Type="http://schemas.openxmlformats.org/officeDocument/2006/relationships/slide" Target="/ppt/slides/slide7.xml" Id="R6ac9f360065d40f6" /><Relationship Type="http://schemas.openxmlformats.org/officeDocument/2006/relationships/slide" Target="/ppt/slides/slide8.xml" Id="R822b5d768d614654" /><Relationship Type="http://schemas.openxmlformats.org/officeDocument/2006/relationships/slide" Target="/ppt/slides/slide9.xml" Id="R248bcebb368c41f6" /><Relationship Type="http://schemas.openxmlformats.org/officeDocument/2006/relationships/slide" Target="/ppt/slides/slide10.xml" Id="Rbf52aceb3adb4703" /><Relationship Type="http://schemas.openxmlformats.org/officeDocument/2006/relationships/slide" Target="/ppt/slides/slide11.xml" Id="Rf5eb04356489438c" /><Relationship Type="http://schemas.openxmlformats.org/officeDocument/2006/relationships/slide" Target="/ppt/slides/slide12.xml" Id="Rd34c298d33104ab8" /><Relationship Type="http://schemas.openxmlformats.org/officeDocument/2006/relationships/slide" Target="/ppt/slides/slide13.xml" Id="R58d6fbb522fa4b27" /><Relationship Type="http://schemas.openxmlformats.org/officeDocument/2006/relationships/slide" Target="/ppt/slides/slide14.xml" Id="R372e5aec059e4a88" /><Relationship Type="http://schemas.openxmlformats.org/officeDocument/2006/relationships/slide" Target="/ppt/slides/slide15.xml" Id="Rd320f84ebfb34b6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01663eaec5c481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7985338724e4792" /><Relationship Type="http://schemas.openxmlformats.org/officeDocument/2006/relationships/notesMaster" Target="/ppt/notesMasters/notesMaster1.xml" Id="R29a9c901fa5f4cf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380a87f694444ca" /><Relationship Type="http://schemas.openxmlformats.org/officeDocument/2006/relationships/notesMaster" Target="/ppt/notesMasters/notesMaster1.xml" Id="Re557eb5b8710447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442bf4feec64f16" /><Relationship Type="http://schemas.openxmlformats.org/officeDocument/2006/relationships/notesMaster" Target="/ppt/notesMasters/notesMaster1.xml" Id="Rb2b02e72121c4f6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b17eea45e5e49e7" /><Relationship Type="http://schemas.openxmlformats.org/officeDocument/2006/relationships/notesMaster" Target="/ppt/notesMasters/notesMaster1.xml" Id="R74fa42898b7d44d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527c6d9f0c84309" /><Relationship Type="http://schemas.openxmlformats.org/officeDocument/2006/relationships/notesMaster" Target="/ppt/notesMasters/notesMaster1.xml" Id="R1fe0d1ac9f15445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cce216ac53d4c48" /><Relationship Type="http://schemas.openxmlformats.org/officeDocument/2006/relationships/notesMaster" Target="/ppt/notesMasters/notesMaster1.xml" Id="R286c1a8c6bfa4d3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597cc48fe4646a8" /><Relationship Type="http://schemas.openxmlformats.org/officeDocument/2006/relationships/notesMaster" Target="/ppt/notesMasters/notesMaster1.xml" Id="Ra68a1342fd9c4c5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ab98c225a57447a" /><Relationship Type="http://schemas.openxmlformats.org/officeDocument/2006/relationships/notesMaster" Target="/ppt/notesMasters/notesMaster1.xml" Id="R3f5c97947be5444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ebab2f863c04432" /><Relationship Type="http://schemas.openxmlformats.org/officeDocument/2006/relationships/notesMaster" Target="/ppt/notesMasters/notesMaster1.xml" Id="R738b55df36b6476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98abade497c466e" /><Relationship Type="http://schemas.openxmlformats.org/officeDocument/2006/relationships/notesMaster" Target="/ppt/notesMasters/notesMaster1.xml" Id="R46f62c7f0f0648a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ec362a74839477e" /><Relationship Type="http://schemas.openxmlformats.org/officeDocument/2006/relationships/notesMaster" Target="/ppt/notesMasters/notesMaster1.xml" Id="Ra4f07fa9cae74b2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a30f99f75d64365" /><Relationship Type="http://schemas.openxmlformats.org/officeDocument/2006/relationships/notesMaster" Target="/ppt/notesMasters/notesMaster1.xml" Id="Rf70d32dac8334a5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2b7c8fa3037435b" /><Relationship Type="http://schemas.openxmlformats.org/officeDocument/2006/relationships/notesMaster" Target="/ppt/notesMasters/notesMaster1.xml" Id="Rd6e14fb271764e7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9c627216eb54102" /><Relationship Type="http://schemas.openxmlformats.org/officeDocument/2006/relationships/notesMaster" Target="/ppt/notesMasters/notesMaster1.xml" Id="R6f1f7b2e5d71471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e4a79af2aa04180" /><Relationship Type="http://schemas.openxmlformats.org/officeDocument/2006/relationships/notesMaster" Target="/ppt/notesMasters/notesMaster1.xml" Id="R65028fe8aad845a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project name and explain that the system is a practical digital library plus voice features.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screenshot to explain the current/manual web catalogue experience and its limitations.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Problem statement: users can struggle to find, access, and consume books efficiently. Link each challenge to the proposed voice-interactive solution.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mirrors the reference deck section break. Use it to transition from problem to solution.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that the frontend never connects directly to MySQL or Python. It goes through the backend.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objectives match the final dissertation book wording in concise slide form.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that data collection is part of methodology for understanding the problem and requirements. Chapter 4 should show implementation and testing results, not invented survey results.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Mention the important files: AuthContext, api/client.js, api.php, auth.php, role.php.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answers where STT/TTS connects to backend and frontend.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prepared document for deeper dependency explanations.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Vite is the frontend build and dev server tool. PDO is PHP Data Objects, used for safe MySQL access.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as the exact demonstration path. Show login, dashboards, reader, backend health, phpMyAdmin tables, voice search, and narration.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Summarize achievements without overclaiming model training or survey validation.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Recommendations should sound practical and connected to known limitations.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Thank the panel and invite questions.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f5108a3ac974f6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11527c237194281" /><Relationship Type="http://schemas.openxmlformats.org/officeDocument/2006/relationships/slideLayout" Target="/ppt/slideLayouts/slideLayout1.xml" Id="R17c624a4638c4c2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7c624a4638c4c2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601a2bd24540c7" /><Relationship Type="http://schemas.openxmlformats.org/officeDocument/2006/relationships/image" Target="/ppt/media/image.png" Id="Rd78cd775aa784f69" /><Relationship Type="http://schemas.openxmlformats.org/officeDocument/2006/relationships/notesSlide" Target="/ppt/notesSlides/notesSlide1.xml" Id="R2fd147739e994b8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43eadf88a84f4a" /><Relationship Type="http://schemas.openxmlformats.org/officeDocument/2006/relationships/image" Target="/ppt/media/image2.png" Id="R8b90524fef7a4670" /><Relationship Type="http://schemas.openxmlformats.org/officeDocument/2006/relationships/image" Target="/ppt/media/image3.png" Id="R918ff24c604c4f03" /><Relationship Type="http://schemas.openxmlformats.org/officeDocument/2006/relationships/notesSlide" Target="/ppt/notesSlides/notesSlide2.xml" Id="R3a969b31db0a48f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2832eb7517456d" /><Relationship Type="http://schemas.openxmlformats.org/officeDocument/2006/relationships/image" Target="/ppt/media/image4.png" Id="R6e08747efe27467b" /><Relationship Type="http://schemas.openxmlformats.org/officeDocument/2006/relationships/image" Target="/ppt/media/image5.png" Id="Rf02af0151eae4eee" /><Relationship Type="http://schemas.openxmlformats.org/officeDocument/2006/relationships/notesSlide" Target="/ppt/notesSlides/notesSlide3.xml" Id="R9af127d60e9c461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4d5df158754815" /><Relationship Type="http://schemas.openxmlformats.org/officeDocument/2006/relationships/image" Target="/ppt/media/image6.png" Id="Ra3ec19bd24b14cba" /><Relationship Type="http://schemas.openxmlformats.org/officeDocument/2006/relationships/notesSlide" Target="/ppt/notesSlides/notesSlide4.xml" Id="R048b00ef9427461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4a1447a3234172" /><Relationship Type="http://schemas.openxmlformats.org/officeDocument/2006/relationships/image" Target="/ppt/media/image7.png" Id="R24357c0618f64855" /><Relationship Type="http://schemas.openxmlformats.org/officeDocument/2006/relationships/notesSlide" Target="/ppt/notesSlides/notesSlide5.xml" Id="R0ad20562ac50443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24df87ea8c4ae1" /><Relationship Type="http://schemas.openxmlformats.org/officeDocument/2006/relationships/image" Target="/ppt/media/image8.png" Id="R0388093d5b4a437d" /><Relationship Type="http://schemas.openxmlformats.org/officeDocument/2006/relationships/notesSlide" Target="/ppt/notesSlides/notesSlide6.xml" Id="R11d125735f3746e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a0da38301846f9" /><Relationship Type="http://schemas.openxmlformats.org/officeDocument/2006/relationships/image" Target="/ppt/media/image9.png" Id="R9827ed82ab574eb3" /><Relationship Type="http://schemas.openxmlformats.org/officeDocument/2006/relationships/notesSlide" Target="/ppt/notesSlides/notesSlide7.xml" Id="Rcea797baf35a4b5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9a85fbb67943b8" /><Relationship Type="http://schemas.openxmlformats.org/officeDocument/2006/relationships/image" Target="/ppt/media/image10.png" Id="R235dcfff634e4d0a" /><Relationship Type="http://schemas.openxmlformats.org/officeDocument/2006/relationships/notesSlide" Target="/ppt/notesSlides/notesSlide8.xml" Id="R90501aa1192e4f1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4b9cb120bc424a" /><Relationship Type="http://schemas.openxmlformats.org/officeDocument/2006/relationships/image" Target="/ppt/media/image11.png" Id="R5ac23d559ddc4e0d" /><Relationship Type="http://schemas.openxmlformats.org/officeDocument/2006/relationships/notesSlide" Target="/ppt/notesSlides/notesSlide9.xml" Id="R9d53e8ff9c264f2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e8d4079b6049d0" /><Relationship Type="http://schemas.openxmlformats.org/officeDocument/2006/relationships/image" Target="/ppt/media/image12.png" Id="Rb1577407d5074c8a" /><Relationship Type="http://schemas.openxmlformats.org/officeDocument/2006/relationships/notesSlide" Target="/ppt/notesSlides/notesSlide10.xml" Id="Re4781e332252429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44d41acbdb4206" /><Relationship Type="http://schemas.openxmlformats.org/officeDocument/2006/relationships/image" Target="/ppt/media/image13.png" Id="Rf3f9c49903314016" /><Relationship Type="http://schemas.openxmlformats.org/officeDocument/2006/relationships/notesSlide" Target="/ppt/notesSlides/notesSlide11.xml" Id="R8fd5616b1ce046a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738411d0a44a7e" /><Relationship Type="http://schemas.openxmlformats.org/officeDocument/2006/relationships/image" Target="/ppt/media/image14.png" Id="R9e43e3f8bedc4117" /><Relationship Type="http://schemas.openxmlformats.org/officeDocument/2006/relationships/notesSlide" Target="/ppt/notesSlides/notesSlide12.xml" Id="R91081beb99fc470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c141b2f83345f4" /><Relationship Type="http://schemas.openxmlformats.org/officeDocument/2006/relationships/image" Target="/ppt/media/image15.png" Id="Rad93c4de84e64720" /><Relationship Type="http://schemas.openxmlformats.org/officeDocument/2006/relationships/notesSlide" Target="/ppt/notesSlides/notesSlide13.xml" Id="R57ea1d0d9b894d0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9b8f85d35146d8" /><Relationship Type="http://schemas.openxmlformats.org/officeDocument/2006/relationships/image" Target="/ppt/media/image16.png" Id="R7bf172a512434459" /><Relationship Type="http://schemas.openxmlformats.org/officeDocument/2006/relationships/notesSlide" Target="/ppt/notesSlides/notesSlide14.xml" Id="R4128ee6a8e014d8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f55d6060804cde" /><Relationship Type="http://schemas.openxmlformats.org/officeDocument/2006/relationships/image" Target="/ppt/media/image17.png" Id="R98a55a1731e2442d" /><Relationship Type="http://schemas.openxmlformats.org/officeDocument/2006/relationships/notesSlide" Target="/ppt/notesSlides/notesSlide15.xml" Id="Rf7af1c43c2294d5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D3D2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AC94502-3265-4C45-A67D-C070D1323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619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8cd775aa784f69"/>
          <a:stretch xmlns:a="http://schemas.openxmlformats.org/drawingml/2006/main"/>
        </p:blipFill>
        <p:spPr>
          <a:xfrm xmlns:a="http://schemas.openxmlformats.org/drawingml/2006/main">
            <a:off x="801522" y="552450"/>
            <a:ext cx="873457" cy="9144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A0A8EA-9365-4E22-AF4C-2D9B5D036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95500"/>
            <a:ext cx="781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5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5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INES DIGITAL LIBRARY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6606E8-D6F3-41A4-98D0-150BDA0F5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38450"/>
            <a:ext cx="8096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DDEEE6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DEEE6"/>
                </a:solidFill>
                <a:latin typeface="Aptos"/>
                <a:ea typeface="Aptos"/>
                <a:cs typeface="Aptos"/>
              </a:rPr>
              <a:t>Transformer-Based Voice-Interactive System for Book Retrieval and Audio-Reading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185609-3399-49E5-BB13-4CE557B29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57625"/>
            <a:ext cx="53340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74B39"/>
          </a:solidFill>
          <a:ln xmlns:a="http://schemas.openxmlformats.org/drawingml/2006/main" w="9525">
            <a:solidFill>
              <a:srgbClr val="2D715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A93B62-EA8F-4A77-A748-1E277DF19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957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7A044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7A044"/>
                </a:solidFill>
                <a:latin typeface="Aptos"/>
                <a:ea typeface="Aptos"/>
                <a:cs typeface="Aptos"/>
              </a:rPr>
              <a:t>System focus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03EFDE-3AD5-4E99-9086-4F6240BD3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419600"/>
            <a:ext cx="457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 role-based digital library connected to MySQL, PHP APIs, React/Vite, and Python AI speech services.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058D07-EA55-48D4-BB9F-564B59523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000625"/>
            <a:ext cx="314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Presenter: Anne Louange</a:t>
            </a:r>
          </a:p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Institution: INES-Ruhengeri</a:t>
            </a:r>
          </a:p>
        </p:txBody>
      </p:sp>
    </p:spTree>
    <p:extLst>
      <p:ext uri="{BB962C8B-B14F-4D97-AF65-F5344CB8AC3E}">
        <p14:creationId xmlns:p14="http://schemas.microsoft.com/office/powerpoint/2010/main" val="62891160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141B280-E301-439C-BA48-6BF75BFD0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85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3D2D"/>
          </a:solidFill>
          <a:ln xmlns:a="http://schemas.openxmlformats.org/drawingml/2006/main" w="0">
            <a:solidFill>
              <a:srgbClr val="0D3D2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AFA4F2-72DC-44A0-ABBB-29E74B10E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901FCF-30BE-4A1F-AB56-118474E16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D3D2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D3D2D"/>
                </a:solidFill>
                <a:latin typeface="Aptos"/>
                <a:ea typeface="Aptos"/>
                <a:cs typeface="Aptos"/>
              </a:rPr>
              <a:t>INES DIGITAL LIBRARY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8BD847-699D-427C-9E05-0FF32696A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4295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8211F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8211F"/>
                </a:solidFill>
                <a:latin typeface="Aptos Display"/>
                <a:ea typeface="Aptos Display"/>
                <a:cs typeface="Aptos Display"/>
              </a:rPr>
              <a:t>Current System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541F19-9E75-482D-8994-CC52A5651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3350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90524fef7a4670"/>
          <a:stretch xmlns:a="http://schemas.openxmlformats.org/drawingml/2006/main"/>
        </p:blipFill>
        <p:spPr>
          <a:xfrm xmlns:a="http://schemas.openxmlformats.org/drawingml/2006/main">
            <a:off x="10019163" y="419100"/>
            <a:ext cx="764275" cy="8001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B72FB3-366E-4EC8-905A-EA529D435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69545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D3D2D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D3D2D"/>
                </a:solidFill>
                <a:latin typeface="Aptos"/>
                <a:ea typeface="Aptos"/>
                <a:cs typeface="Aptos"/>
              </a:rPr>
              <a:t>Existing access pattern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A3597F-5A11-44AC-A789-D76E9A361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622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7920F1-2174-4CF3-A8B8-8275C6A19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266950"/>
            <a:ext cx="38671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Typed catalogue search only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966468-D366-4E7E-9F52-5B336E1B5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194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126F15-C2EA-4513-B8F6-C49CAC300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24150"/>
            <a:ext cx="38671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Login separate from improved role dashboards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6BF235-4F5F-4C8B-BDB7-564A4CDEF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766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385126-88E3-4F15-AB36-B87A556BA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181350"/>
            <a:ext cx="38671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No voice search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29505B-5739-4C22-9AEF-050DF6A49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338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C4A0B5-874B-4FC4-906E-453247927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38671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No audio-reading support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0E757A-D6DA-499A-9DAF-609859AC6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910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00BF03-480B-4A29-9D58-2055603AF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95750"/>
            <a:ext cx="38671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Limited accessibility for reading challenges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40BDDC-A684-40BB-AA45-7DC45B623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57800"/>
            <a:ext cx="98679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0D3D2D"/>
          </a:solidFill>
          <a:ln xmlns:a="http://schemas.openxmlformats.org/drawingml/2006/main" w="9525">
            <a:solidFill>
              <a:srgbClr val="0D3D2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4A32F3-FA20-4ABC-8ABF-C26FA35F5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410200"/>
            <a:ext cx="828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Challenge: users still need easier retrieval and inclusive reading support.</a:t>
            </a:r>
          </a:p>
        </p:txBody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8ff24c604c4f03"/>
          <a:srcRect xmlns:a="http://schemas.openxmlformats.org/drawingml/2006/main" l="11215" t="0" r="1121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86450" y="1676400"/>
            <a:ext cx="4895850" cy="3143250"/>
          </a:xfrm>
          <a:prstGeom xmlns:a="http://schemas.openxmlformats.org/drawingml/2006/main" prst="roundRect">
            <a:avLst>
              <a:gd name="adj" fmla="val 1818"/>
            </a:avLst>
          </a:prstGeom>
        </p:spPr>
      </p:pic>
    </p:spTree>
    <p:extLst>
      <p:ext uri="{BB962C8B-B14F-4D97-AF65-F5344CB8AC3E}">
        <p14:creationId xmlns:p14="http://schemas.microsoft.com/office/powerpoint/2010/main" val="109793868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58C6C5F-B224-432F-8D29-ED59C5A72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85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3D2D"/>
          </a:solidFill>
          <a:ln xmlns:a="http://schemas.openxmlformats.org/drawingml/2006/main" w="0">
            <a:solidFill>
              <a:srgbClr val="0D3D2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651BFE-F93C-43A9-A1E7-E93A3D5FF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2BF741-A07F-407F-A1AE-9C7E84644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D3D2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D3D2D"/>
                </a:solidFill>
                <a:latin typeface="Aptos"/>
                <a:ea typeface="Aptos"/>
                <a:cs typeface="Aptos"/>
              </a:rPr>
              <a:t>INES DIGITAL LIBRARY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067385-F904-428D-BDF0-E4A07EFC6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4295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8211F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8211F"/>
                </a:solidFill>
                <a:latin typeface="Aptos Display"/>
                <a:ea typeface="Aptos Display"/>
                <a:cs typeface="Aptos Display"/>
              </a:rPr>
              <a:t>Problems Identified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A5C7CE-F526-4709-912C-99DA2FC3F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3350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08747efe27467b"/>
          <a:stretch xmlns:a="http://schemas.openxmlformats.org/drawingml/2006/main"/>
        </p:blipFill>
        <p:spPr>
          <a:xfrm xmlns:a="http://schemas.openxmlformats.org/drawingml/2006/main">
            <a:off x="10019163" y="419100"/>
            <a:ext cx="764275" cy="8001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E754E1-699E-453A-A209-53E4E3D78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6192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D3D2D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D3D2D"/>
                </a:solidFill>
                <a:latin typeface="Aptos"/>
                <a:ea typeface="Aptos"/>
                <a:cs typeface="Aptos"/>
              </a:rPr>
              <a:t>Challenges in the INES library environment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F1F856-6F69-43A5-BC80-9AE378663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288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6A2C00-B187-492A-833B-647A40B4A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133600"/>
            <a:ext cx="4229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Time-consuming manual search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C7B037-E70B-4C16-8173-515E3F6CB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574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5D98D6-7A1C-4DE7-82F0-0A5B99CDE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562225"/>
            <a:ext cx="4229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Library schedule limitations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DE44C6-1E60-4456-9079-6B82F6689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861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BD68CE-39F8-44A7-8A59-F576DF6CC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990850"/>
            <a:ext cx="4229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Extra time and effort required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5A3565-0084-4C0C-97E3-49F7A6A40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514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7CB836-50AF-48FD-A1D1-8E6830960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419475"/>
            <a:ext cx="4229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Difficult for learners with reading challenges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A5EFE7F-CEA9-4546-B688-1D07A2317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433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7EB704-4CD3-4D47-9ED5-F4B0D27DC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48100"/>
            <a:ext cx="4229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Reading fatigue and low motivation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FA9C697-3CB2-45E5-BE70-560026983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71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2F8D91-2F0D-4E25-9D43-4E2F52F35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76725"/>
            <a:ext cx="4229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Lack of voice-based search and audio-reading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A829A3-AB27-4292-8CC0-F664F20BB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57800"/>
            <a:ext cx="96012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D3D2D"/>
          </a:solidFill>
          <a:ln xmlns:a="http://schemas.openxmlformats.org/drawingml/2006/main" w="9525">
            <a:solidFill>
              <a:srgbClr val="0D3D2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5334EA3-F81B-4529-90FD-4573F0339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4102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Result: reduced accessibility, convenience, and efficiency of educational resource use.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2af0151eae4eee"/>
          <a:srcRect xmlns:a="http://schemas.openxmlformats.org/drawingml/2006/main" l="6929" t="0" r="692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15050" y="1600200"/>
            <a:ext cx="4381500" cy="3390900"/>
          </a:xfrm>
          <a:prstGeom xmlns:a="http://schemas.openxmlformats.org/drawingml/2006/main" prst="roundRect">
            <a:avLst>
              <a:gd name="adj" fmla="val 1685"/>
            </a:avLst>
          </a:prstGeom>
        </p:spPr>
      </p:pic>
    </p:spTree>
    <p:extLst>
      <p:ext uri="{BB962C8B-B14F-4D97-AF65-F5344CB8AC3E}">
        <p14:creationId xmlns:p14="http://schemas.microsoft.com/office/powerpoint/2010/main" val="170864665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D3D2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A2870DA-557E-4651-B67B-777C5706B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619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ec19bd24b14cba"/>
          <a:stretch xmlns:a="http://schemas.openxmlformats.org/drawingml/2006/main"/>
        </p:blipFill>
        <p:spPr>
          <a:xfrm xmlns:a="http://schemas.openxmlformats.org/drawingml/2006/main">
            <a:off x="838769" y="590550"/>
            <a:ext cx="837063" cy="8763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0BB8AC-479B-4DEB-9B73-1C48EB1D4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66950"/>
            <a:ext cx="838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TRANSFORMER-BASED DIGITAL LIBRARY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CFDE58-F485-4056-B8BD-04F319FB8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4325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DDEEE6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DEEE6"/>
                </a:solidFill>
                <a:latin typeface="Aptos"/>
                <a:ea typeface="Aptos"/>
                <a:cs typeface="Aptos"/>
              </a:rPr>
              <a:t>New system with speech-to-text and text-to-speech support</a:t>
            </a:r>
          </a:p>
        </p:txBody>
      </p:sp>
    </p:spTree>
    <p:extLst>
      <p:ext uri="{BB962C8B-B14F-4D97-AF65-F5344CB8AC3E}">
        <p14:creationId xmlns:p14="http://schemas.microsoft.com/office/powerpoint/2010/main" val="24415470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3164C29-0D06-4EFC-9024-EC0A9AE99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85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3D2D"/>
          </a:solidFill>
          <a:ln xmlns:a="http://schemas.openxmlformats.org/drawingml/2006/main" w="0">
            <a:solidFill>
              <a:srgbClr val="0D3D2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BA2442-6B38-46DC-A9DF-2199CC092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B4389B-4088-4332-BB50-F7E9BBC31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D3D2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D3D2D"/>
                </a:solidFill>
                <a:latin typeface="Aptos"/>
                <a:ea typeface="Aptos"/>
                <a:cs typeface="Aptos"/>
              </a:rPr>
              <a:t>INES DIGITAL LIBRARY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D24FB8-64C1-479D-9EF8-1CD9820CA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4295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8211F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8211F"/>
                </a:solidFill>
                <a:latin typeface="Aptos Display"/>
                <a:ea typeface="Aptos Display"/>
                <a:cs typeface="Aptos Display"/>
              </a:rPr>
              <a:t>New System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9ABA83-EA9D-4C26-89A7-A1310D3D2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3350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357c0618f64855"/>
          <a:stretch xmlns:a="http://schemas.openxmlformats.org/drawingml/2006/main"/>
        </p:blipFill>
        <p:spPr>
          <a:xfrm xmlns:a="http://schemas.openxmlformats.org/drawingml/2006/main">
            <a:off x="10019163" y="419100"/>
            <a:ext cx="764275" cy="8001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D07EAF-4E23-40F8-B42D-DAFF611DB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95450"/>
            <a:ext cx="2714625" cy="131445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32FC4C-B6F6-4C48-8AA7-C8472C172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9240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D3D2D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D3D2D"/>
                </a:solidFill>
                <a:latin typeface="Aptos"/>
                <a:ea typeface="Aptos"/>
                <a:cs typeface="Aptos"/>
              </a:rPr>
              <a:t>Frontend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70A847-00B6-4D18-9223-AE286E29A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431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React + Vite user interface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EFC1F2-4C67-46F9-BA73-A8EF72F23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1695450"/>
            <a:ext cx="2714625" cy="131445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1B13F7-DFC3-47CF-A544-DEE6D9BDD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19240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D3D2D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D3D2D"/>
                </a:solidFill>
                <a:latin typeface="Aptos"/>
                <a:ea typeface="Aptos"/>
                <a:cs typeface="Aptos"/>
              </a:rPr>
              <a:t>Backend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F82366-3D8F-4A31-8439-8812EDD4C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23431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PHP API controls business logic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BE59B9-7F41-4C96-B455-28C6CC119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695450"/>
            <a:ext cx="2714625" cy="131445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50F595-0774-4F8A-A988-421514213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9240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D3D2D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D3D2D"/>
                </a:solidFill>
                <a:latin typeface="Aptos"/>
                <a:ea typeface="Aptos"/>
                <a:cs typeface="Aptos"/>
              </a:rPr>
              <a:t>Database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075D4E-2471-4367-BCF2-AC24D0D48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3431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MySQL stores users, books, records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E4C008-7F38-4D86-B604-30779CCD9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38550"/>
            <a:ext cx="2714625" cy="131445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0D3D2D"/>
          </a:solidFill>
          <a:ln xmlns:a="http://schemas.openxmlformats.org/drawingml/2006/main" w="9525">
            <a:solidFill>
              <a:srgbClr val="0D3D2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ADA7DC-D6A6-4896-8E80-58ADB135A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8671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C7A044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C7A044"/>
                </a:solidFill>
                <a:latin typeface="Aptos"/>
                <a:ea typeface="Aptos"/>
                <a:cs typeface="Aptos"/>
              </a:rPr>
              <a:t>AI services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2EF7E9-BAB2-4852-BC3F-13CF07EBD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862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FastAPI + PyTorch speech services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E3A11B-A0CC-4BF3-80D0-573067246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3638550"/>
            <a:ext cx="2714625" cy="131445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024B20-55A5-440A-B152-DEB061253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38671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D3D2D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D3D2D"/>
                </a:solidFill>
                <a:latin typeface="Aptos"/>
                <a:ea typeface="Aptos"/>
                <a:cs typeface="Aptos"/>
              </a:rPr>
              <a:t>Security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13A378-6DE7-40C1-94FE-A67D13CFD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2862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Token authentication and role access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09E4E37-71CC-49A3-9C88-40DD5396C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638550"/>
            <a:ext cx="2714625" cy="131445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B3F61DB-8946-49DC-A61F-0F1AA041E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8671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D3D2D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D3D2D"/>
                </a:solidFill>
                <a:latin typeface="Aptos"/>
                <a:ea typeface="Aptos"/>
                <a:cs typeface="Aptos"/>
              </a:rPr>
              <a:t>Demo safety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F724E99-5C64-4ED3-AC2C-FBD71F495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2862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Health checks and model preload</a:t>
            </a:r>
          </a:p>
        </p:txBody>
      </p:sp>
    </p:spTree>
    <p:extLst>
      <p:ext uri="{BB962C8B-B14F-4D97-AF65-F5344CB8AC3E}">
        <p14:creationId xmlns:p14="http://schemas.microsoft.com/office/powerpoint/2010/main" val="138941016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25CEDC5-FD16-4C4D-8D24-1897C84A8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85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3D2D"/>
          </a:solidFill>
          <a:ln xmlns:a="http://schemas.openxmlformats.org/drawingml/2006/main" w="0">
            <a:solidFill>
              <a:srgbClr val="0D3D2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ABA93D-88BF-4C6C-8CF6-A3A653EE3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C03383-71A9-48DB-ADA7-CC1A52A86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D3D2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D3D2D"/>
                </a:solidFill>
                <a:latin typeface="Aptos"/>
                <a:ea typeface="Aptos"/>
                <a:cs typeface="Aptos"/>
              </a:rPr>
              <a:t>INES DIGITAL LIBRARY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102721-C6DB-401C-8186-EFC13945B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4295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8211F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8211F"/>
                </a:solidFill>
                <a:latin typeface="Aptos Display"/>
                <a:ea typeface="Aptos Display"/>
                <a:cs typeface="Aptos Display"/>
              </a:rPr>
              <a:t>Research Objectives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13B746-0C2B-4C0B-BBE2-F366C33D7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3350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88093d5b4a437d"/>
          <a:stretch xmlns:a="http://schemas.openxmlformats.org/drawingml/2006/main"/>
        </p:blipFill>
        <p:spPr>
          <a:xfrm xmlns:a="http://schemas.openxmlformats.org/drawingml/2006/main">
            <a:off x="10019163" y="419100"/>
            <a:ext cx="764275" cy="8001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0D12E9-2FEA-4945-A97D-5349E7FCF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58115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3D2D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D3D2D"/>
                </a:solidFill>
                <a:latin typeface="Aptos"/>
                <a:ea typeface="Aptos"/>
                <a:cs typeface="Aptos"/>
              </a:rPr>
              <a:t>General objective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D9D4AF-3D85-4867-B482-54DAD5611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981200"/>
            <a:ext cx="857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To design and develop a Transformer-Based Voice-Interactive System for Book Retrieval and Audio-Reading that enhances accessibility and inclusive learning within INES Ruhengeri Library.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AE395C-1779-4531-A381-85DDB78FF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6705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3D2D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D3D2D"/>
                </a:solidFill>
                <a:latin typeface="Aptos"/>
                <a:ea typeface="Aptos"/>
                <a:cs typeface="Aptos"/>
              </a:rPr>
              <a:t>Specific objectives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A3F3E5-2C18-4653-A9E1-7604836BA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385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9547CD-EBA5-4BAD-9DC9-39605D5E7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43300"/>
            <a:ext cx="83439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Collect and analyze accessibility and digital-library requirements.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335674-1EE2-49D3-BADE-2293BD657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148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9EA887-46A8-40E5-8FF6-3C4FFA3E8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19550"/>
            <a:ext cx="83439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Design and implement Transformer-based speech-to-text and text-to-speech support.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98A611-0F5E-46A9-B8A6-1121688EB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910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733C12-CE8C-4907-802A-FEE4D19BC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495800"/>
            <a:ext cx="83439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Develop authentication and role-based access control integrated with library resources.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F9CB37-514E-491E-B9A1-7EB8B2C87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0673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799C61-A260-4D8F-9A16-A37160BD6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972050"/>
            <a:ext cx="83439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Evaluate performance, usability, and effectiveness in improving resource accessibility.</a:t>
            </a:r>
          </a:p>
        </p:txBody>
      </p:sp>
    </p:spTree>
    <p:extLst>
      <p:ext uri="{BB962C8B-B14F-4D97-AF65-F5344CB8AC3E}">
        <p14:creationId xmlns:p14="http://schemas.microsoft.com/office/powerpoint/2010/main" val="101360838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ACB803D-AEC8-4D95-84A8-1E8DA061B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85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3D2D"/>
          </a:solidFill>
          <a:ln xmlns:a="http://schemas.openxmlformats.org/drawingml/2006/main" w="0">
            <a:solidFill>
              <a:srgbClr val="0D3D2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8913C2-043B-4FAB-9B2C-6F69928F0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BA7DFB-FB40-48AB-B129-9892F7CBD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D3D2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D3D2D"/>
                </a:solidFill>
                <a:latin typeface="Aptos"/>
                <a:ea typeface="Aptos"/>
                <a:cs typeface="Aptos"/>
              </a:rPr>
              <a:t>INES DIGITAL LIBRARY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4D03F9-0458-4817-9740-B10C845A3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4295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8211F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8211F"/>
                </a:solidFill>
                <a:latin typeface="Aptos Display"/>
                <a:ea typeface="Aptos Display"/>
                <a:cs typeface="Aptos Display"/>
              </a:rPr>
              <a:t>Methodology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8313B9-58BF-45A2-9650-F135A294C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3350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27ed82ab574eb3"/>
          <a:stretch xmlns:a="http://schemas.openxmlformats.org/drawingml/2006/main"/>
        </p:blipFill>
        <p:spPr>
          <a:xfrm xmlns:a="http://schemas.openxmlformats.org/drawingml/2006/main">
            <a:off x="10019163" y="419100"/>
            <a:ext cx="764275" cy="8001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797DF8-F819-429A-8D31-EF4C73B71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60020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3D2D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D3D2D"/>
                </a:solidFill>
                <a:latin typeface="Aptos"/>
                <a:ea typeface="Aptos"/>
                <a:cs typeface="Aptos"/>
              </a:rPr>
              <a:t>Agile development flow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BBD831-7ABC-4392-B361-8865F530E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52650"/>
            <a:ext cx="14287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0D3D2D"/>
          </a:solidFill>
          <a:ln xmlns:a="http://schemas.openxmlformats.org/drawingml/2006/main" w="9525">
            <a:solidFill>
              <a:srgbClr val="0D3D2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3D0545-3599-4CCB-858C-E72D765D0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4315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C7A044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C7A044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944BA4-FFBF-401C-85F4-FEC22CF43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781300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Collect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87B2F4-D15A-4B81-AF89-F277574E1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2647950"/>
            <a:ext cx="438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7A04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A53932-42D2-4DBF-ACD6-C14FF05E7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152650"/>
            <a:ext cx="14287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F1D3C6-392C-43DE-88F4-F85B2C0AD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34315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D3D2D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0D3D2D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A4DE4A-815F-43FB-B02E-C80464E51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781300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Plan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A40FEC-12AE-4A10-8EDD-0B4131B96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647950"/>
            <a:ext cx="438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7A04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2A8DD3-EA83-4472-A5F7-628CA8B6F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152650"/>
            <a:ext cx="14287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DFE378-FF92-43A0-A626-07188326B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34315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D3D2D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0D3D2D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B98801-72FE-47A5-93E5-CC9A8CE35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781300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Design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85C231-F67C-4493-9860-16DD11C18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647950"/>
            <a:ext cx="438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7A04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BD163E-2BD0-45ED-AD64-873630103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2152650"/>
            <a:ext cx="14287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A716CB1-A8E2-486A-BA1F-ED440D5CA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234315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D3D2D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0D3D2D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AEACF82-FFE5-4352-AB0D-A92007C68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2781300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Develop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2F07E0-B93D-427F-BF4E-01FBA8A42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647950"/>
            <a:ext cx="438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7A04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7A6ADDA-092B-4FE9-A410-655355359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152650"/>
            <a:ext cx="14287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E8863CA-197B-4643-94B4-0CC92BF69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34315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D3D2D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0D3D2D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9402A47-3186-4C35-85CC-1E305B919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781300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Test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BBEA0F3-6962-48AB-A5DC-93C66E2EF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4767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D35743E-0E5A-4F20-A588-8A669E2A8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814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D3D2D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D3D2D"/>
                </a:solidFill>
                <a:latin typeface="Aptos"/>
                <a:ea typeface="Aptos"/>
                <a:cs typeface="Aptos"/>
              </a:rPr>
              <a:t>Data collection in Chapter 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F0A84E5-A355-4FBB-8B99-67C289C78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400550"/>
            <a:ext cx="3695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Used for requirements gathering: observation, document review, and user needs. Results belong in Chapter 4 only if real responses were collected.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E591CF5-C051-4DDF-96EC-5BA89284F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695700"/>
            <a:ext cx="44767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CFC2AD1-2D86-45BE-BE40-D300C0AD0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98145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A94D43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A94D43"/>
                </a:solidFill>
                <a:latin typeface="Aptos"/>
                <a:ea typeface="Aptos"/>
                <a:cs typeface="Aptos"/>
              </a:rPr>
              <a:t>Validation scope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9B3DB33-A330-49DE-9C4A-9CF6E2187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400550"/>
            <a:ext cx="3714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System testing and live acceptance testing are the verified results. Do not claim survey results without questionnaire/interview evidence.</a:t>
            </a:r>
          </a:p>
        </p:txBody>
      </p:sp>
    </p:spTree>
    <p:extLst>
      <p:ext uri="{BB962C8B-B14F-4D97-AF65-F5344CB8AC3E}">
        <p14:creationId xmlns:p14="http://schemas.microsoft.com/office/powerpoint/2010/main" val="180002381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C13F981-972E-426A-8643-74AADFA83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85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3D2D"/>
          </a:solidFill>
          <a:ln xmlns:a="http://schemas.openxmlformats.org/drawingml/2006/main" w="0">
            <a:solidFill>
              <a:srgbClr val="0D3D2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CB03BE-4957-48F4-BCC3-98D84B936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AC25AD-39E2-46E7-BCD9-989403572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D3D2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D3D2D"/>
                </a:solidFill>
                <a:latin typeface="Aptos"/>
                <a:ea typeface="Aptos"/>
                <a:cs typeface="Aptos"/>
              </a:rPr>
              <a:t>INES DIGITAL LIBRARY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0714A8-D437-4F08-8AD5-EC3B7D598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4295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8211F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8211F"/>
                </a:solidFill>
                <a:latin typeface="Aptos Display"/>
                <a:ea typeface="Aptos Display"/>
                <a:cs typeface="Aptos Display"/>
              </a:rPr>
              <a:t>Authentication and User Access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73B55B-05CA-46CE-8EF9-9B9B1B6E2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3350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5dcfff634e4d0a"/>
          <a:stretch xmlns:a="http://schemas.openxmlformats.org/drawingml/2006/main"/>
        </p:blipFill>
        <p:spPr>
          <a:xfrm xmlns:a="http://schemas.openxmlformats.org/drawingml/2006/main">
            <a:off x="10019163" y="419100"/>
            <a:ext cx="764275" cy="8001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185122-A592-431B-9882-9A3C26D85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716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D0D6DF-E945-4F9C-874A-2DD64DB46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676400"/>
            <a:ext cx="7772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Login is submitted from React through frontend/src/api/auth.js.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5220AA-86EE-43CD-9BF4-D64442C19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288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ACF1A8-000F-4FC4-B01E-2863E5AEE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133600"/>
            <a:ext cx="7772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The PHP backend verifies the password using password_verify().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B38A8F-6259-4C3E-B381-0892CA9E9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860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5A695C-AEDD-4B78-AE02-862F49207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590800"/>
            <a:ext cx="7772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A random token is generated, hashed, and stored in users.api_token_hash.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9BA028-683D-453E-BBB2-20C97DF39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43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208E18-1441-46BA-BEF1-AC9ED9046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48000"/>
            <a:ext cx="7772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React stores the raw token as ines_token and sends it as a Bearer token.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004BD0-5D86-4A07-9447-D455E2972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004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8F2FBC-A965-402F-9281-B353A84D8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05200"/>
            <a:ext cx="7772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ProtectedRoute and PHP role middleware restrict student, lecturer, and admin pages.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0A2851-8C03-4107-8343-08E8AAC90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981200"/>
            <a:ext cx="2000250" cy="2333625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0D3D2D"/>
          </a:solidFill>
          <a:ln xmlns:a="http://schemas.openxmlformats.org/drawingml/2006/main" w="9525">
            <a:solidFill>
              <a:srgbClr val="0D3D2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791A69-D8BF-4D82-ABDC-B4F8BB24E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3050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C7A044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C7A044"/>
                </a:solidFill>
                <a:latin typeface="Aptos"/>
                <a:ea typeface="Aptos"/>
                <a:cs typeface="Aptos"/>
              </a:rPr>
              <a:t>Key point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FD65B9-529E-4400-897A-66966E9E4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819400"/>
            <a:ext cx="1428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database stores the hashed token, not the raw session token.</a:t>
            </a:r>
          </a:p>
        </p:txBody>
      </p:sp>
    </p:spTree>
    <p:extLst>
      <p:ext uri="{BB962C8B-B14F-4D97-AF65-F5344CB8AC3E}">
        <p14:creationId xmlns:p14="http://schemas.microsoft.com/office/powerpoint/2010/main" val="83596334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27ED18F-AD9A-4045-A0CB-A3A0BF92C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85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3D2D"/>
          </a:solidFill>
          <a:ln xmlns:a="http://schemas.openxmlformats.org/drawingml/2006/main" w="0">
            <a:solidFill>
              <a:srgbClr val="0D3D2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D40775-EF0D-466A-85EE-61C08D58E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2FD247-A2D4-4B99-A9A4-1E9C5337D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D3D2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D3D2D"/>
                </a:solidFill>
                <a:latin typeface="Aptos"/>
                <a:ea typeface="Aptos"/>
                <a:cs typeface="Aptos"/>
              </a:rPr>
              <a:t>INES DIGITAL LIBRARY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B779FD-A176-40AF-8E84-52E2363C1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4295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8211F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8211F"/>
                </a:solidFill>
                <a:latin typeface="Aptos Display"/>
                <a:ea typeface="Aptos Display"/>
                <a:cs typeface="Aptos Display"/>
              </a:rPr>
              <a:t>Speech Connection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9D87E3-88D5-4DB9-B8CF-054E68827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3350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c23d559ddc4e0d"/>
          <a:stretch xmlns:a="http://schemas.openxmlformats.org/drawingml/2006/main"/>
        </p:blipFill>
        <p:spPr>
          <a:xfrm xmlns:a="http://schemas.openxmlformats.org/drawingml/2006/main">
            <a:off x="10019163" y="419100"/>
            <a:ext cx="764275" cy="8001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A4E74C-E5FF-43BC-8057-324A5CEE5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43125"/>
            <a:ext cx="1619250" cy="1381125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EFE7BF-3B00-4CED-ACA4-52F94908E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381250"/>
            <a:ext cx="125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D3D2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D3D2D"/>
                </a:solidFill>
                <a:latin typeface="Aptos"/>
                <a:ea typeface="Aptos"/>
                <a:cs typeface="Aptos"/>
              </a:rPr>
              <a:t>Frontend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222DCA-6500-445F-8ECC-C08CC52E9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38450"/>
            <a:ext cx="1219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Microphone or play button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81C747-526E-4E44-B4E3-DD2C9673E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8384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7A04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CF954C-3A03-41F2-8144-3A3445960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143125"/>
            <a:ext cx="1619250" cy="1381125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377E63-7C72-48C3-9630-EC95EDDA9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381250"/>
            <a:ext cx="125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D3D2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D3D2D"/>
                </a:solidFill>
                <a:latin typeface="Aptos"/>
                <a:ea typeface="Aptos"/>
                <a:cs typeface="Aptos"/>
              </a:rPr>
              <a:t>PHP backend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00A104-6C88-4946-9FC1-FAC6861D1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838450"/>
            <a:ext cx="1219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Validates request and calls speech service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95C5F5-30FB-44F9-A7D0-6816A767C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8384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7A04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50E78C-8FC5-4BF6-BF1B-00A07B64C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143125"/>
            <a:ext cx="1619250" cy="1381125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186DDD-83AD-4552-B120-D9476D85D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381250"/>
            <a:ext cx="125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D3D2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D3D2D"/>
                </a:solidFill>
                <a:latin typeface="Aptos"/>
                <a:ea typeface="Aptos"/>
                <a:cs typeface="Aptos"/>
              </a:rPr>
              <a:t>FastAPI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82B95D-3F2A-4E13-9916-7D74C378C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838450"/>
            <a:ext cx="1219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Receives audio/text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4D15A9-8363-4960-8215-D120A7B53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8384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7A04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88C41A-7C96-445C-8401-B316E382F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143125"/>
            <a:ext cx="1619250" cy="1381125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0D3D2D"/>
          </a:solidFill>
          <a:ln xmlns:a="http://schemas.openxmlformats.org/drawingml/2006/main" w="9525">
            <a:solidFill>
              <a:srgbClr val="0D3D2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81DC99-FE3E-46C3-8BA5-E6156097A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381250"/>
            <a:ext cx="125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C7A044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C7A044"/>
                </a:solidFill>
                <a:latin typeface="Aptos"/>
                <a:ea typeface="Aptos"/>
                <a:cs typeface="Aptos"/>
              </a:rPr>
              <a:t>PyTorch model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AA1BD2-52F2-44DA-AD27-DB88B05B6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838450"/>
            <a:ext cx="1219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Runs Wav2Vec2, SpeechT5, or gTTS fallback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53E67B2-3B13-4CCC-8F9E-374BF30EC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8384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7A04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882E07-C26C-478E-8C7B-D891479B7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143125"/>
            <a:ext cx="1619250" cy="1381125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0B818F1-E7FC-46DA-B3CB-EF9433F03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381250"/>
            <a:ext cx="125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D3D2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D3D2D"/>
                </a:solidFill>
                <a:latin typeface="Aptos"/>
                <a:ea typeface="Aptos"/>
                <a:cs typeface="Aptos"/>
              </a:rPr>
              <a:t>Frontend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823AAAA-E27A-4826-839F-2E2A16329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838450"/>
            <a:ext cx="1219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Shows text or plays audio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FAC40ED-98C6-4DA4-A7BF-EAA7D4C60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14850"/>
            <a:ext cx="857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Why it can delay: first model load, CPU speed, long page text, audio conversion, network for gTTS, or Python service not already warm.</a:t>
            </a:r>
          </a:p>
        </p:txBody>
      </p:sp>
    </p:spTree>
    <p:extLst>
      <p:ext uri="{BB962C8B-B14F-4D97-AF65-F5344CB8AC3E}">
        <p14:creationId xmlns:p14="http://schemas.microsoft.com/office/powerpoint/2010/main" val="169125925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079D827-1566-47DC-8EF2-9F6963BE9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85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3D2D"/>
          </a:solidFill>
          <a:ln xmlns:a="http://schemas.openxmlformats.org/drawingml/2006/main" w="0">
            <a:solidFill>
              <a:srgbClr val="0D3D2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ECCEAA-D980-4253-919B-759435D79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70843D-9563-4AD4-BD79-1AB91A76D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D3D2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D3D2D"/>
                </a:solidFill>
                <a:latin typeface="Aptos"/>
                <a:ea typeface="Aptos"/>
                <a:cs typeface="Aptos"/>
              </a:rPr>
              <a:t>INES DIGITAL LIBRARY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39D67C-341D-487C-9182-53FD27BDE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4295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8211F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8211F"/>
                </a:solidFill>
                <a:latin typeface="Aptos Display"/>
                <a:ea typeface="Aptos Display"/>
                <a:cs typeface="Aptos Display"/>
              </a:rPr>
              <a:t>Python Libraries and PyTorch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1A0D4F-A1C6-47DC-B2D1-BBE0EAEAC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3350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577407d5074c8a"/>
          <a:stretch xmlns:a="http://schemas.openxmlformats.org/drawingml/2006/main"/>
        </p:blipFill>
        <p:spPr>
          <a:xfrm xmlns:a="http://schemas.openxmlformats.org/drawingml/2006/main">
            <a:off x="10019163" y="419100"/>
            <a:ext cx="764275" cy="8001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1F98B3-DF2A-4BAB-B4B6-9DE0E7163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62100"/>
            <a:ext cx="98107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706178-ECB8-4042-A107-2C91AD042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6954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D3D2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D3D2D"/>
                </a:solidFill>
                <a:latin typeface="Aptos"/>
                <a:ea typeface="Aptos"/>
                <a:cs typeface="Aptos"/>
              </a:rPr>
              <a:t>PyTorch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5C87EE-7143-44F0-A34E-98173106E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695450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Runs transformer neural networks for STT/TTS inference and testing.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CAA5F3-A709-40A3-AA71-9191F09C3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86000"/>
            <a:ext cx="98107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3964CD-4BCA-4C00-BC42-BB720EDEF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193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D3D2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D3D2D"/>
                </a:solidFill>
                <a:latin typeface="Aptos"/>
                <a:ea typeface="Aptos"/>
                <a:cs typeface="Aptos"/>
              </a:rPr>
              <a:t>Transformers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E17E12-1E9C-4679-BA9C-D9411E7D0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419350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Loads Wav2Vec2, SpeechT5, processors, and vocoder models.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5B80A9-627C-44BD-A8A1-F37526365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09900"/>
            <a:ext cx="98107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E1F4D1-C6F6-426C-85F5-8B9E98D74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432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D3D2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D3D2D"/>
                </a:solidFill>
                <a:latin typeface="Aptos"/>
                <a:ea typeface="Aptos"/>
                <a:cs typeface="Aptos"/>
              </a:rPr>
              <a:t>FastAPI + Uvicorn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60957A-82F8-46D9-844D-ACB2ED110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143250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Expose Python speech models as HTTP services.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76A5D9-250F-4222-984E-FCE40E70D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33800"/>
            <a:ext cx="98107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3ACBA9-6813-4DF7-BC43-408264471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671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D3D2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D3D2D"/>
                </a:solidFill>
                <a:latin typeface="Aptos"/>
                <a:ea typeface="Aptos"/>
                <a:cs typeface="Aptos"/>
              </a:rPr>
              <a:t>Librosa, NumPy, SoundFile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E339B8-5683-49D3-8E4C-A7C00C1C0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867150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Prepare audio: load, resample, normalize, and save waveforms.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0ECA14-B2AB-42D4-BA41-3C7F8BC9E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57700"/>
            <a:ext cx="98107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27D3C4-CBC8-4696-9358-D7ACD7421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5910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D3D2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D3D2D"/>
                </a:solidFill>
                <a:latin typeface="Aptos"/>
                <a:ea typeface="Aptos"/>
                <a:cs typeface="Aptos"/>
              </a:rPr>
              <a:t>gTTS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F24D30-0F24-47DA-AD6A-9B8769BDE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591050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Provides clearer Google text-to-speech fallback when internet is available.</a:t>
            </a:r>
          </a:p>
        </p:txBody>
      </p:sp>
    </p:spTree>
    <p:extLst>
      <p:ext uri="{BB962C8B-B14F-4D97-AF65-F5344CB8AC3E}">
        <p14:creationId xmlns:p14="http://schemas.microsoft.com/office/powerpoint/2010/main" val="84763899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9CEBD69-93F0-4E54-BF28-316BDDB82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85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3D2D"/>
          </a:solidFill>
          <a:ln xmlns:a="http://schemas.openxmlformats.org/drawingml/2006/main" w="0">
            <a:solidFill>
              <a:srgbClr val="0D3D2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E99AF0-E01B-4514-A4A1-FF3A8BDBE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90FB37-1917-4347-A14B-18B9AE955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D3D2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D3D2D"/>
                </a:solidFill>
                <a:latin typeface="Aptos"/>
                <a:ea typeface="Aptos"/>
                <a:cs typeface="Aptos"/>
              </a:rPr>
              <a:t>INES DIGITAL LIBRARY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C0A1DD-77CA-4362-9F00-83E827B24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4295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8211F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8211F"/>
                </a:solidFill>
                <a:latin typeface="Aptos Display"/>
                <a:ea typeface="Aptos Display"/>
                <a:cs typeface="Aptos Display"/>
              </a:rPr>
              <a:t>Technologies Used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EC8F94-6059-4921-B4E9-66D3CED0C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3350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f9c49903314016"/>
          <a:stretch xmlns:a="http://schemas.openxmlformats.org/drawingml/2006/main"/>
        </p:blipFill>
        <p:spPr>
          <a:xfrm xmlns:a="http://schemas.openxmlformats.org/drawingml/2006/main">
            <a:off x="10019163" y="419100"/>
            <a:ext cx="764275" cy="8001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9BAC03-F752-4FC5-8715-D32FB758F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95450"/>
            <a:ext cx="26860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A85E8D-5BCD-41EF-A008-B9F5E5BE6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9240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D3D2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D3D2D"/>
                </a:solidFill>
                <a:latin typeface="Aptos"/>
                <a:ea typeface="Aptos"/>
                <a:cs typeface="Aptos"/>
              </a:rPr>
              <a:t>Frontend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FECF9B-AC5D-4C6A-9A48-FB6CE1E56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050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React, Vite, CSS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AF3688-8CB9-4925-AA85-2A086F27C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1695450"/>
            <a:ext cx="26860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0D3D2D"/>
          </a:solidFill>
          <a:ln xmlns:a="http://schemas.openxmlformats.org/drawingml/2006/main" w="9525">
            <a:solidFill>
              <a:srgbClr val="0D3D2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50757E-A528-40D2-BB52-E4FC4D433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19240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C7A044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C7A044"/>
                </a:solidFill>
                <a:latin typeface="Aptos"/>
                <a:ea typeface="Aptos"/>
                <a:cs typeface="Aptos"/>
              </a:rPr>
              <a:t>Backend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D3DE21-79D9-4E0A-9047-8F8A4F718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23050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PHP API, PDO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92E211-2025-410B-A458-CE950BACE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695450"/>
            <a:ext cx="26860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8648CF-CFCC-4BB1-9208-9CD43CECD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9240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D3D2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D3D2D"/>
                </a:solidFill>
                <a:latin typeface="Aptos"/>
                <a:ea typeface="Aptos"/>
                <a:cs typeface="Aptos"/>
              </a:rPr>
              <a:t>Database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20017A-A98E-4B1A-B52F-5B1E44F87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3050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MySQL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59526F-CB89-4B43-A83D-1E99DDEAE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43300"/>
            <a:ext cx="26860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19D942-9CB7-49E8-934C-2A2C0686A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7719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D3D2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D3D2D"/>
                </a:solidFill>
                <a:latin typeface="Aptos"/>
                <a:ea typeface="Aptos"/>
                <a:cs typeface="Aptos"/>
              </a:rPr>
              <a:t>AI services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8CC7267-0CE7-496A-998C-870BEB2E8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529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Python, FastAPI, PyTorch, Transformers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A990668-DF53-4B67-8E6D-B84E333C4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3543300"/>
            <a:ext cx="26860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EA27458-D6A7-4D42-90C6-AE17AC2B6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37719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D3D2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D3D2D"/>
                </a:solidFill>
                <a:latin typeface="Aptos"/>
                <a:ea typeface="Aptos"/>
                <a:cs typeface="Aptos"/>
              </a:rPr>
              <a:t>Speech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084FDCE-79A6-4F8C-BD5B-FFFE37C6B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1529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Wav2Vec2, SpeechT5, gTTS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6DDE8C-C869-41E4-BE34-89137F51B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43300"/>
            <a:ext cx="26860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A18C6A-07B9-4C84-86D1-75ED6025C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7719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D3D2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D3D2D"/>
                </a:solidFill>
                <a:latin typeface="Aptos"/>
                <a:ea typeface="Aptos"/>
                <a:cs typeface="Aptos"/>
              </a:rPr>
              <a:t>Local server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7B82E7-0E53-4A3C-A56B-24D409833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1529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XAMPP</a:t>
            </a:r>
          </a:p>
        </p:txBody>
      </p:sp>
    </p:spTree>
    <p:extLst>
      <p:ext uri="{BB962C8B-B14F-4D97-AF65-F5344CB8AC3E}">
        <p14:creationId xmlns:p14="http://schemas.microsoft.com/office/powerpoint/2010/main" val="156763189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D709C2C-C066-430A-9EBB-D140F9C45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85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3D2D"/>
          </a:solidFill>
          <a:ln xmlns:a="http://schemas.openxmlformats.org/drawingml/2006/main" w="0">
            <a:solidFill>
              <a:srgbClr val="0D3D2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FAA04B-05BA-484D-BADD-0586B8AA0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0D1DC7-9F81-4DA4-B221-FA3AF3080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D3D2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D3D2D"/>
                </a:solidFill>
                <a:latin typeface="Aptos"/>
                <a:ea typeface="Aptos"/>
                <a:cs typeface="Aptos"/>
              </a:rPr>
              <a:t>INES DIGITAL LIBRARY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DFC60A-8D2A-4C7C-9E4C-7FB5BA501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4295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8211F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8211F"/>
                </a:solidFill>
                <a:latin typeface="Aptos Display"/>
                <a:ea typeface="Aptos Display"/>
                <a:cs typeface="Aptos Display"/>
              </a:rPr>
              <a:t>Live Demo Flow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054713-0158-48E2-8BCB-7C66E3170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3350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43e3f8bedc4117"/>
          <a:stretch xmlns:a="http://schemas.openxmlformats.org/drawingml/2006/main"/>
        </p:blipFill>
        <p:spPr>
          <a:xfrm xmlns:a="http://schemas.openxmlformats.org/drawingml/2006/main">
            <a:off x="10019163" y="419100"/>
            <a:ext cx="764275" cy="8001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7A17A7-B30D-436A-8584-3F024391D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90700"/>
            <a:ext cx="26479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BF7E25-2D8C-4C16-82A3-D3F6D8C2F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3835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D3D2D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D3D2D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F4931B-16B1-40FB-B283-88CBF9FB9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1145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Login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73D6B0-E433-4626-9164-63721A382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1790700"/>
            <a:ext cx="26479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D2D"/>
          </a:solidFill>
          <a:ln xmlns:a="http://schemas.openxmlformats.org/drawingml/2006/main" w="9525">
            <a:solidFill>
              <a:srgbClr val="0D3D2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091A26-3882-460A-8362-448D7D140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203835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C7A044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C7A044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D37034-1912-4EDA-BEF7-4B487E818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21145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Frontend pages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5587D8-A350-4336-8357-343BF2E3A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790700"/>
            <a:ext cx="26479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6296B4-EAFE-4564-880C-8120BB308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03835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D3D2D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D3D2D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92501F-E78A-4484-B96C-5619236D8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1145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Backend health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D3FA94-0FE3-4AD3-8E27-DA8584BD3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33800"/>
            <a:ext cx="26479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11C5AD-AA30-4910-B430-B968037BD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8145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D3D2D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D3D2D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61928B-0E97-47FB-995D-9F776D294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0576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Database tables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A4EC08-6E8C-4D0E-8F03-0B3B390E0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3733800"/>
            <a:ext cx="26479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88BB18-33EA-431F-8CC1-0B0968587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398145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D3D2D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D3D2D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8D48214-2CE7-4D34-9EFE-6C2369F0B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40576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Voice search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578FC0F-32FE-476E-A847-E724BD4E1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733800"/>
            <a:ext cx="26479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AF4EE"/>
          </a:solidFill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52ABEA-BCE4-4F13-9A70-D9F81A421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98145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D3D2D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D3D2D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BAE0821-4554-411B-B3D5-B110CF3DA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0576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8211F"/>
                </a:solidFill>
                <a:latin typeface="Aptos"/>
                <a:ea typeface="Aptos"/>
                <a:cs typeface="Aptos"/>
              </a:rPr>
              <a:t>Play narration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89A7807-18F1-41F9-A734-198514CDC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95900"/>
            <a:ext cx="885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Show frontend as the visible React/Vite pages, backend as the PHP health/API behavior, and database as MySQL tables in phpMyAdmin.</a:t>
            </a:r>
          </a:p>
        </p:txBody>
      </p:sp>
    </p:spTree>
    <p:extLst>
      <p:ext uri="{BB962C8B-B14F-4D97-AF65-F5344CB8AC3E}">
        <p14:creationId xmlns:p14="http://schemas.microsoft.com/office/powerpoint/2010/main" val="207730435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CDEC776-FFBA-4CD1-8FF5-A1A52C272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85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3D2D"/>
          </a:solidFill>
          <a:ln xmlns:a="http://schemas.openxmlformats.org/drawingml/2006/main" w="0">
            <a:solidFill>
              <a:srgbClr val="0D3D2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D7B662-D576-452D-ABC4-9D292A202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37E796-B914-414A-92A5-AA0B5BA6A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D3D2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D3D2D"/>
                </a:solidFill>
                <a:latin typeface="Aptos"/>
                <a:ea typeface="Aptos"/>
                <a:cs typeface="Aptos"/>
              </a:rPr>
              <a:t>INES DIGITAL LIBRARY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98EDB2-28AD-43A9-8406-1BFB73D7E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4295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8211F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8211F"/>
                </a:solidFill>
                <a:latin typeface="Aptos Display"/>
                <a:ea typeface="Aptos Display"/>
                <a:cs typeface="Aptos Display"/>
              </a:rPr>
              <a:t>Conclusion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F08D26-E8E7-4F95-B890-F5A1F221C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3350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93c4de84e64720"/>
          <a:stretch xmlns:a="http://schemas.openxmlformats.org/drawingml/2006/main"/>
        </p:blipFill>
        <p:spPr>
          <a:xfrm xmlns:a="http://schemas.openxmlformats.org/drawingml/2006/main">
            <a:off x="10019163" y="419100"/>
            <a:ext cx="764275" cy="8001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60603B-542C-4885-94A1-B9824FDA1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90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92B916-8F3A-4871-9368-B611DF549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695450"/>
            <a:ext cx="8153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The project implements a working digital library for academic resource access.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64C30B-65B7-4AFE-AD25-4F651D360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14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72127A-10B1-4B4F-8890-3E6993583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19325"/>
            <a:ext cx="8153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Authentication connects frontend users to backend permissions and database records.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9CF1BE-7A55-4B7D-BA52-59B2F89A8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384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7CBC3C-1DD2-401D-BECB-942791127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743200"/>
            <a:ext cx="8153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STT and TTS are connected through backend-controlled Python AI services.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54F641-8FB3-4A40-85C2-0620D0158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623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0EFB2F-96AD-4705-AADC-C4EEA18DE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267075"/>
            <a:ext cx="8153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Testing must cover login, database, search, reader, STT, TTS, and health checks.</a:t>
            </a:r>
          </a:p>
        </p:txBody>
      </p:sp>
    </p:spTree>
    <p:extLst>
      <p:ext uri="{BB962C8B-B14F-4D97-AF65-F5344CB8AC3E}">
        <p14:creationId xmlns:p14="http://schemas.microsoft.com/office/powerpoint/2010/main" val="101867832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BFC05E3-4A47-4DFA-B2BF-2D5E2A16C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85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3D2D"/>
          </a:solidFill>
          <a:ln xmlns:a="http://schemas.openxmlformats.org/drawingml/2006/main" w="0">
            <a:solidFill>
              <a:srgbClr val="0D3D2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488CDB-A6FC-474F-B1F0-4C5C2FB87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889DC9-4672-48B9-9113-8736DC0D2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D3D2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D3D2D"/>
                </a:solidFill>
                <a:latin typeface="Aptos"/>
                <a:ea typeface="Aptos"/>
                <a:cs typeface="Aptos"/>
              </a:rPr>
              <a:t>INES DIGITAL LIBRARY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1A0140-6421-4233-8FB7-53C198E69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4295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8211F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8211F"/>
                </a:solidFill>
                <a:latin typeface="Aptos Display"/>
                <a:ea typeface="Aptos Display"/>
                <a:cs typeface="Aptos Display"/>
              </a:rPr>
              <a:t>Recommendations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C70C7D-180C-443A-9AE2-0356F69C6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33500"/>
            <a:ext cx="9810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5E2DC"/>
            </a:solidFill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f172a512434459"/>
          <a:stretch xmlns:a="http://schemas.openxmlformats.org/drawingml/2006/main"/>
        </p:blipFill>
        <p:spPr>
          <a:xfrm xmlns:a="http://schemas.openxmlformats.org/drawingml/2006/main">
            <a:off x="10019163" y="419100"/>
            <a:ext cx="764275" cy="8001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8D4294-1329-49E3-BBF7-B4EC3DBB5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90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FAAF39-3483-408A-A4B7-523A0FBA7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695450"/>
            <a:ext cx="83439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Deploy on a server that supports PHP, MySQL, and persistent Python FastAPI services.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48DA20-930F-46E4-8B1F-424FCE4DE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241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073B5E-3F06-40E7-AF37-66F857A3A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28850"/>
            <a:ext cx="83439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Improve TTS quality with better text cleaning, chunking, and a stronger production voice.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A89DED-F961-46B3-AF94-3C7E2B100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575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797ADE-B30D-416B-BDC4-F8DECDE36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762250"/>
            <a:ext cx="83439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Add full questionnaire/interview appendices if user validation is claimed.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DF7579-B5A6-458E-9BB5-672D4055C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99B60B-C29C-43E9-B5C0-113BCACCD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295650"/>
            <a:ext cx="83439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8211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11F"/>
                </a:solidFill>
                <a:latin typeface="Aptos"/>
                <a:ea typeface="Aptos"/>
                <a:cs typeface="Aptos"/>
              </a:rPr>
              <a:t>Add mobile support and multilingual speech support in future work.</a:t>
            </a:r>
          </a:p>
        </p:txBody>
      </p:sp>
    </p:spTree>
    <p:extLst>
      <p:ext uri="{BB962C8B-B14F-4D97-AF65-F5344CB8AC3E}">
        <p14:creationId xmlns:p14="http://schemas.microsoft.com/office/powerpoint/2010/main" val="211327422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D3D2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6324D33-FE37-4632-B34F-68833FD5C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619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A044"/>
          </a:solidFill>
          <a:ln xmlns:a="http://schemas.openxmlformats.org/drawingml/2006/main" w="0">
            <a:solidFill>
              <a:srgbClr val="C7A044"/>
            </a:solidFill>
            <a:prstDash val="solid"/>
          </a:ln>
        </p:spPr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a55a1731e2442d"/>
          <a:stretch xmlns:a="http://schemas.openxmlformats.org/drawingml/2006/main"/>
        </p:blipFill>
        <p:spPr>
          <a:xfrm xmlns:a="http://schemas.openxmlformats.org/drawingml/2006/main">
            <a:off x="838769" y="590550"/>
            <a:ext cx="837063" cy="8763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F3DB68-4A96-450D-8D45-95A50A0E6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81250"/>
            <a:ext cx="590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THANK YOU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FD5608-D525-4737-B723-23D0FA1EF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1945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DEEE6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DDEEE6"/>
                </a:solidFill>
                <a:latin typeface="Aptos"/>
                <a:ea typeface="Aptos"/>
                <a:cs typeface="Aptos"/>
              </a:rPr>
              <a:t>Questions and answers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B5368C-D95A-47D3-891C-3935A0B9C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76450"/>
            <a:ext cx="2857500" cy="1695450"/>
          </a:xfrm>
          <a:prstGeom xmlns:a="http://schemas.openxmlformats.org/drawingml/2006/main" prst="roundRect">
            <a:avLst>
              <a:gd name="adj" fmla="val 4494"/>
            </a:avLst>
          </a:prstGeom>
          <a:solidFill xmlns:a="http://schemas.openxmlformats.org/drawingml/2006/main">
            <a:srgbClr val="174B39"/>
          </a:solidFill>
          <a:ln xmlns:a="http://schemas.openxmlformats.org/drawingml/2006/main" w="9525">
            <a:solidFill>
              <a:srgbClr val="2D715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6E7C43-E142-49DD-BAF9-07F46B7D9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23812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C7A044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C7A044"/>
                </a:solidFill>
                <a:latin typeface="Aptos"/>
                <a:ea typeface="Aptos"/>
                <a:cs typeface="Aptos"/>
              </a:rPr>
              <a:t>Defense reminder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BFC4EE-FCC2-4B28-AFFD-29EF305CE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28765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Answer using real project files, real services, and tested behavior.</a:t>
            </a:r>
          </a:p>
        </p:txBody>
      </p:sp>
    </p:spTree>
    <p:extLst>
      <p:ext uri="{BB962C8B-B14F-4D97-AF65-F5344CB8AC3E}">
        <p14:creationId xmlns:p14="http://schemas.microsoft.com/office/powerpoint/2010/main" val="82283977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2026-06-19T07:30:11.1600000Z</dcterms:created>
  <dcterms:modified xsi:type="dcterms:W3CDTF">2026-06-19T07:30:11.1610000Z</dcterms:modified>
</coreProperties>
</file>